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57" r:id="rId2"/>
    <p:sldId id="266" r:id="rId3"/>
    <p:sldId id="270" r:id="rId4"/>
    <p:sldId id="268" r:id="rId5"/>
    <p:sldId id="263" r:id="rId6"/>
    <p:sldId id="269" r:id="rId7"/>
    <p:sldId id="267" r:id="rId8"/>
    <p:sldId id="264" r:id="rId9"/>
    <p:sldId id="265"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wala Narasimha Rao Unnam" initials="JNRU" lastIdx="1" clrIdx="0">
    <p:extLst>
      <p:ext uri="{19B8F6BF-5375-455C-9EA6-DF929625EA0E}">
        <p15:presenceInfo xmlns:p15="http://schemas.microsoft.com/office/powerpoint/2012/main" userId="S::jwalanarasimharao.u@ad.infosys.com::95283063-cfdd-44fd-b477-2cf14cd97f2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A2F66F-3E9D-4543-BFDD-DDCFB52BBD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E051B3B0-F3A5-4743-9F2E-18BACA1D23D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A49CC5-D254-4C7B-A9BF-78536A9815E2}" type="datetimeFigureOut">
              <a:rPr lang="en-IN" smtClean="0"/>
              <a:t>30-06-2021</a:t>
            </a:fld>
            <a:endParaRPr lang="en-IN"/>
          </a:p>
        </p:txBody>
      </p:sp>
      <p:sp>
        <p:nvSpPr>
          <p:cNvPr id="4" name="Footer Placeholder 3">
            <a:extLst>
              <a:ext uri="{FF2B5EF4-FFF2-40B4-BE49-F238E27FC236}">
                <a16:creationId xmlns:a16="http://schemas.microsoft.com/office/drawing/2014/main" id="{3D9B1EED-646A-48BC-AFD7-0D8D707183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D24587F-00CD-47A0-A6C6-5C65DC4856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ABE364-8F67-4EEA-A0EB-98FCD0F85AC2}" type="slidenum">
              <a:rPr lang="en-IN" smtClean="0"/>
              <a:t>‹#›</a:t>
            </a:fld>
            <a:endParaRPr lang="en-IN"/>
          </a:p>
        </p:txBody>
      </p:sp>
    </p:spTree>
    <p:extLst>
      <p:ext uri="{BB962C8B-B14F-4D97-AF65-F5344CB8AC3E}">
        <p14:creationId xmlns:p14="http://schemas.microsoft.com/office/powerpoint/2010/main" val="19067246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D50A83-44E8-419F-885A-1D083DB7C9DB}" type="datetimeFigureOut">
              <a:rPr lang="en-US" smtClean="0"/>
              <a:t>6/30/2021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30DA49-440A-48CA-A170-831D49C9FC37}" type="slidenum">
              <a:rPr lang="en-US" smtClean="0"/>
              <a:t>‹#›</a:t>
            </a:fld>
            <a:endParaRPr lang="en-US"/>
          </a:p>
        </p:txBody>
      </p:sp>
    </p:spTree>
    <p:extLst>
      <p:ext uri="{BB962C8B-B14F-4D97-AF65-F5344CB8AC3E}">
        <p14:creationId xmlns:p14="http://schemas.microsoft.com/office/powerpoint/2010/main" val="1040608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Shape 378"/>
          <p:cNvSpPr>
            <a:spLocks noGrp="1" noRot="1" noChangeAspect="1"/>
          </p:cNvSpPr>
          <p:nvPr>
            <p:ph type="sldImg"/>
          </p:nvPr>
        </p:nvSpPr>
        <p:spPr>
          <a:xfrm>
            <a:off x="381000" y="685800"/>
            <a:ext cx="6096000" cy="3429000"/>
          </a:xfrm>
          <a:prstGeom prst="rect">
            <a:avLst/>
          </a:prstGeom>
        </p:spPr>
        <p:txBody>
          <a:bodyPr/>
          <a:lstStyle/>
          <a:p>
            <a:endParaRPr/>
          </a:p>
        </p:txBody>
      </p:sp>
      <p:sp>
        <p:nvSpPr>
          <p:cNvPr id="379" name="Shape 379"/>
          <p:cNvSpPr>
            <a:spLocks noGrp="1"/>
          </p:cNvSpPr>
          <p:nvPr>
            <p:ph type="body" sz="quarter" idx="1"/>
          </p:nvPr>
        </p:nvSpPr>
        <p:spPr>
          <a:prstGeom prst="rect">
            <a:avLst/>
          </a:prstGeom>
        </p:spPr>
        <p:txBody>
          <a:bodyPr/>
          <a:lstStyle/>
          <a:p>
            <a:endParaRPr lang="en-US" sz="1200" dirty="0">
              <a:effectLst/>
              <a:latin typeface="+mn-lt"/>
              <a:ea typeface="+mn-ea"/>
              <a:cs typeface="+mn-cs"/>
              <a:sym typeface="Calibri"/>
            </a:endParaRPr>
          </a:p>
        </p:txBody>
      </p:sp>
    </p:spTree>
    <p:extLst>
      <p:ext uri="{BB962C8B-B14F-4D97-AF65-F5344CB8AC3E}">
        <p14:creationId xmlns:p14="http://schemas.microsoft.com/office/powerpoint/2010/main" val="8992645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4D72C7-05F5-44DC-BD10-60D7E8894B42}" type="datetimeFigureOut">
              <a:rPr lang="en-US" smtClean="0"/>
              <a:t>6/30/2021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C215F-B4D4-4C9A-AD26-CA4A9A2C27A4}" type="slidenum">
              <a:rPr lang="en-US" smtClean="0"/>
              <a:t>‹#›</a:t>
            </a:fld>
            <a:endParaRPr lang="en-US"/>
          </a:p>
        </p:txBody>
      </p:sp>
      <p:pic>
        <p:nvPicPr>
          <p:cNvPr id="8" name="Picture 7">
            <a:extLst>
              <a:ext uri="{FF2B5EF4-FFF2-40B4-BE49-F238E27FC236}">
                <a16:creationId xmlns:a16="http://schemas.microsoft.com/office/drawing/2014/main" id="{AA4D51D5-CE9A-4D2B-A53F-586EE1C3D3C9}"/>
              </a:ext>
            </a:extLst>
          </p:cNvPr>
          <p:cNvPicPr>
            <a:picLocks noChangeAspect="1"/>
          </p:cNvPicPr>
          <p:nvPr userDrawn="1"/>
        </p:nvPicPr>
        <p:blipFill>
          <a:blip r:embed="rId2"/>
          <a:stretch>
            <a:fillRect/>
          </a:stretch>
        </p:blipFill>
        <p:spPr>
          <a:xfrm>
            <a:off x="10747195" y="6099629"/>
            <a:ext cx="1213209" cy="621846"/>
          </a:xfrm>
          <a:prstGeom prst="rect">
            <a:avLst/>
          </a:prstGeom>
        </p:spPr>
      </p:pic>
    </p:spTree>
    <p:extLst>
      <p:ext uri="{BB962C8B-B14F-4D97-AF65-F5344CB8AC3E}">
        <p14:creationId xmlns:p14="http://schemas.microsoft.com/office/powerpoint/2010/main" val="1288459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grpSp>
        <p:nvGrpSpPr>
          <p:cNvPr id="2" name="Group 1"/>
          <p:cNvGrpSpPr/>
          <p:nvPr userDrawn="1"/>
        </p:nvGrpSpPr>
        <p:grpSpPr>
          <a:xfrm>
            <a:off x="-11894" y="2872208"/>
            <a:ext cx="12215771" cy="1153909"/>
            <a:chOff x="-8920" y="2154156"/>
            <a:chExt cx="9161828" cy="865432"/>
          </a:xfrm>
          <a:solidFill>
            <a:srgbClr val="007DC3"/>
          </a:solidFill>
        </p:grpSpPr>
        <p:sp>
          <p:nvSpPr>
            <p:cNvPr id="5" name="object 3"/>
            <p:cNvSpPr/>
            <p:nvPr/>
          </p:nvSpPr>
          <p:spPr>
            <a:xfrm>
              <a:off x="3114541"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6" name="object 4"/>
            <p:cNvSpPr/>
            <p:nvPr/>
          </p:nvSpPr>
          <p:spPr>
            <a:xfrm>
              <a:off x="259395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7" name="object 5"/>
            <p:cNvSpPr/>
            <p:nvPr/>
          </p:nvSpPr>
          <p:spPr>
            <a:xfrm>
              <a:off x="2073387"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8" name="object 6"/>
            <p:cNvSpPr/>
            <p:nvPr/>
          </p:nvSpPr>
          <p:spPr>
            <a:xfrm>
              <a:off x="155281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9" name="object 7"/>
            <p:cNvSpPr/>
            <p:nvPr/>
          </p:nvSpPr>
          <p:spPr>
            <a:xfrm>
              <a:off x="103224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0" name="object 8"/>
            <p:cNvSpPr/>
            <p:nvPr/>
          </p:nvSpPr>
          <p:spPr>
            <a:xfrm>
              <a:off x="51166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1" name="object 9"/>
            <p:cNvSpPr/>
            <p:nvPr/>
          </p:nvSpPr>
          <p:spPr>
            <a:xfrm>
              <a:off x="-8920" y="2154156"/>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2" name="object 20"/>
            <p:cNvSpPr/>
            <p:nvPr/>
          </p:nvSpPr>
          <p:spPr>
            <a:xfrm>
              <a:off x="904870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3" name="object 21"/>
            <p:cNvSpPr/>
            <p:nvPr/>
          </p:nvSpPr>
          <p:spPr>
            <a:xfrm>
              <a:off x="852813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4" name="object 22"/>
            <p:cNvSpPr/>
            <p:nvPr/>
          </p:nvSpPr>
          <p:spPr>
            <a:xfrm>
              <a:off x="8007566"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5" name="object 23"/>
            <p:cNvSpPr/>
            <p:nvPr/>
          </p:nvSpPr>
          <p:spPr>
            <a:xfrm>
              <a:off x="748699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6" name="object 24"/>
            <p:cNvSpPr/>
            <p:nvPr/>
          </p:nvSpPr>
          <p:spPr>
            <a:xfrm>
              <a:off x="6966413"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7" name="object 25"/>
            <p:cNvSpPr/>
            <p:nvPr/>
          </p:nvSpPr>
          <p:spPr>
            <a:xfrm>
              <a:off x="644584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8" name="object 26"/>
            <p:cNvSpPr/>
            <p:nvPr/>
          </p:nvSpPr>
          <p:spPr>
            <a:xfrm>
              <a:off x="592527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9" name="object 27"/>
            <p:cNvSpPr/>
            <p:nvPr/>
          </p:nvSpPr>
          <p:spPr>
            <a:xfrm>
              <a:off x="540467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20" name="object 28"/>
            <p:cNvSpPr/>
            <p:nvPr/>
          </p:nvSpPr>
          <p:spPr>
            <a:xfrm>
              <a:off x="363512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grpSp>
      <p:sp>
        <p:nvSpPr>
          <p:cNvPr id="22" name="Title 21"/>
          <p:cNvSpPr>
            <a:spLocks noGrp="1"/>
          </p:cNvSpPr>
          <p:nvPr>
            <p:ph type="title" hasCustomPrompt="1"/>
          </p:nvPr>
        </p:nvSpPr>
        <p:spPr>
          <a:xfrm>
            <a:off x="509273" y="4345490"/>
            <a:ext cx="4957031" cy="1562941"/>
          </a:xfrm>
          <a:prstGeom prst="rect">
            <a:avLst/>
          </a:prstGeom>
        </p:spPr>
        <p:txBody>
          <a:bodyPr vert="horz"/>
          <a:lstStyle>
            <a:lvl1pPr algn="l">
              <a:defRPr>
                <a:solidFill>
                  <a:srgbClr val="007DC3"/>
                </a:solidFill>
              </a:defRPr>
            </a:lvl1pPr>
          </a:lstStyle>
          <a:p>
            <a:r>
              <a:rPr lang="en-US" dirty="0"/>
              <a:t>CLICK TO EDIT MASTER TITLE STYLE</a:t>
            </a:r>
          </a:p>
        </p:txBody>
      </p:sp>
      <p:pic>
        <p:nvPicPr>
          <p:cNvPr id="21" name="Picture 20"/>
          <p:cNvPicPr>
            <a:picLocks noChangeAspect="1"/>
          </p:cNvPicPr>
          <p:nvPr userDrawn="1"/>
        </p:nvPicPr>
        <p:blipFill>
          <a:blip r:embed="rId2"/>
          <a:stretch>
            <a:fillRect/>
          </a:stretch>
        </p:blipFill>
        <p:spPr>
          <a:xfrm>
            <a:off x="10713113" y="6015481"/>
            <a:ext cx="1212887" cy="620353"/>
          </a:xfrm>
          <a:prstGeom prst="rect">
            <a:avLst/>
          </a:prstGeom>
        </p:spPr>
      </p:pic>
      <p:grpSp>
        <p:nvGrpSpPr>
          <p:cNvPr id="27" name="Group 26"/>
          <p:cNvGrpSpPr/>
          <p:nvPr userDrawn="1"/>
        </p:nvGrpSpPr>
        <p:grpSpPr>
          <a:xfrm>
            <a:off x="4338317" y="389892"/>
            <a:ext cx="3505808" cy="5365547"/>
            <a:chOff x="3253738" y="292419"/>
            <a:chExt cx="2629356" cy="4024160"/>
          </a:xfrm>
        </p:grpSpPr>
        <p:pic>
          <p:nvPicPr>
            <p:cNvPr id="26" name="Picture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53738" y="292419"/>
              <a:ext cx="2629356" cy="344239"/>
            </a:xfrm>
            <a:prstGeom prst="rect">
              <a:avLst/>
            </a:prstGeom>
          </p:spPr>
        </p:pic>
        <p:grpSp>
          <p:nvGrpSpPr>
            <p:cNvPr id="25" name="Group 24"/>
            <p:cNvGrpSpPr/>
            <p:nvPr userDrawn="1"/>
          </p:nvGrpSpPr>
          <p:grpSpPr>
            <a:xfrm>
              <a:off x="4152174" y="856717"/>
              <a:ext cx="836532" cy="3459862"/>
              <a:chOff x="4152174" y="856717"/>
              <a:chExt cx="836532" cy="3459862"/>
            </a:xfrm>
          </p:grpSpPr>
          <p:sp>
            <p:nvSpPr>
              <p:cNvPr id="4" name="object 2"/>
              <p:cNvSpPr/>
              <p:nvPr/>
            </p:nvSpPr>
            <p:spPr>
              <a:xfrm>
                <a:off x="4155718" y="856717"/>
                <a:ext cx="832988" cy="345986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DC3"/>
              </a:solidFill>
            </p:spPr>
            <p:txBody>
              <a:bodyPr wrap="square" lIns="0" tIns="0" rIns="0" bIns="0" rtlCol="0"/>
              <a:lstStyle/>
              <a:p>
                <a:endParaRPr sz="2400"/>
              </a:p>
            </p:txBody>
          </p:sp>
          <p:pic>
            <p:nvPicPr>
              <p:cNvPr id="24" name="Picture 2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152174" y="856717"/>
                <a:ext cx="832484" cy="3459862"/>
              </a:xfrm>
              <a:prstGeom prst="rect">
                <a:avLst/>
              </a:prstGeom>
            </p:spPr>
          </p:pic>
        </p:grpSp>
      </p:grpSp>
    </p:spTree>
    <p:extLst>
      <p:ext uri="{BB962C8B-B14F-4D97-AF65-F5344CB8AC3E}">
        <p14:creationId xmlns:p14="http://schemas.microsoft.com/office/powerpoint/2010/main" val="120582171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261347" y="200352"/>
            <a:ext cx="11630733" cy="603981"/>
          </a:xfrm>
          <a:prstGeom prst="rect">
            <a:avLst/>
          </a:prstGeom>
        </p:spPr>
        <p:txBody>
          <a:bodyPr anchor="t">
            <a:noAutofit/>
          </a:bodyPr>
          <a:lstStyle>
            <a:lvl1pPr>
              <a:defRPr sz="2400" b="0">
                <a:solidFill>
                  <a:schemeClr val="accent1">
                    <a:lumMod val="75000"/>
                  </a:schemeClr>
                </a:solidFill>
                <a:latin typeface="+mn-lt"/>
              </a:defRPr>
            </a:lvl1pPr>
          </a:lstStyle>
          <a:p>
            <a:r>
              <a:rPr lang="en-US" dirty="0"/>
              <a:t>Title text</a:t>
            </a:r>
          </a:p>
        </p:txBody>
      </p:sp>
      <p:sp>
        <p:nvSpPr>
          <p:cNvPr id="8" name="Shape 42"/>
          <p:cNvSpPr>
            <a:spLocks noGrp="1"/>
          </p:cNvSpPr>
          <p:nvPr>
            <p:ph type="sldNum" sz="quarter" idx="2"/>
          </p:nvPr>
        </p:nvSpPr>
        <p:spPr>
          <a:xfrm>
            <a:off x="308518" y="6340177"/>
            <a:ext cx="624383" cy="372535"/>
          </a:xfrm>
          <a:prstGeom prst="rect">
            <a:avLst/>
          </a:prstGeom>
        </p:spPr>
        <p:txBody>
          <a:bodyPr/>
          <a:lstStyle>
            <a:lvl1pPr algn="l">
              <a:defRPr sz="1333">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9" name="object 20"/>
          <p:cNvSpPr/>
          <p:nvPr userDrawn="1"/>
        </p:nvSpPr>
        <p:spPr>
          <a:xfrm>
            <a:off x="1206494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400" dirty="0"/>
          </a:p>
        </p:txBody>
      </p:sp>
      <p:sp>
        <p:nvSpPr>
          <p:cNvPr id="20" name="object 9"/>
          <p:cNvSpPr/>
          <p:nvPr userDrawn="1"/>
        </p:nvSpPr>
        <p:spPr>
          <a:xfrm>
            <a:off x="-11893" y="2832016"/>
            <a:ext cx="138935" cy="1153909"/>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400" dirty="0"/>
          </a:p>
        </p:txBody>
      </p:sp>
      <p:pic>
        <p:nvPicPr>
          <p:cNvPr id="9" name="Picture 8"/>
          <p:cNvPicPr>
            <a:picLocks noChangeAspect="1"/>
          </p:cNvPicPr>
          <p:nvPr userDrawn="1"/>
        </p:nvPicPr>
        <p:blipFill>
          <a:blip r:embed="rId2"/>
          <a:stretch>
            <a:fillRect/>
          </a:stretch>
        </p:blipFill>
        <p:spPr>
          <a:xfrm>
            <a:off x="10713113" y="6015481"/>
            <a:ext cx="1212887" cy="620353"/>
          </a:xfrm>
          <a:prstGeom prst="rect">
            <a:avLst/>
          </a:prstGeom>
        </p:spPr>
      </p:pic>
    </p:spTree>
    <p:extLst>
      <p:ext uri="{BB962C8B-B14F-4D97-AF65-F5344CB8AC3E}">
        <p14:creationId xmlns:p14="http://schemas.microsoft.com/office/powerpoint/2010/main" val="148746103"/>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8_Custom Layout">
    <p:spTree>
      <p:nvGrpSpPr>
        <p:cNvPr id="1" name=""/>
        <p:cNvGrpSpPr/>
        <p:nvPr/>
      </p:nvGrpSpPr>
      <p:grpSpPr>
        <a:xfrm>
          <a:off x="0" y="0"/>
          <a:ext cx="0" cy="0"/>
          <a:chOff x="0" y="0"/>
          <a:chExt cx="0" cy="0"/>
        </a:xfrm>
      </p:grpSpPr>
      <p:sp>
        <p:nvSpPr>
          <p:cNvPr id="24" name="Shape 40"/>
          <p:cNvSpPr>
            <a:spLocks noGrp="1"/>
          </p:cNvSpPr>
          <p:nvPr>
            <p:ph type="title" hasCustomPrompt="1"/>
          </p:nvPr>
        </p:nvSpPr>
        <p:spPr>
          <a:xfrm>
            <a:off x="1405723" y="1716478"/>
            <a:ext cx="4233863" cy="908189"/>
          </a:xfrm>
          <a:prstGeom prst="rect">
            <a:avLst/>
          </a:prstGeom>
        </p:spPr>
        <p:txBody>
          <a:bodyPr anchor="ctr">
            <a:noAutofit/>
          </a:bodyPr>
          <a:lstStyle>
            <a:lvl1pPr algn="l">
              <a:defRPr sz="2667">
                <a:solidFill>
                  <a:srgbClr val="007CC3"/>
                </a:solidFill>
              </a:defRPr>
            </a:lvl1pPr>
          </a:lstStyle>
          <a:p>
            <a:r>
              <a:rPr lang="en-US"/>
              <a:t>TITLE TEXT</a:t>
            </a:r>
          </a:p>
        </p:txBody>
      </p:sp>
      <p:sp>
        <p:nvSpPr>
          <p:cNvPr id="25" name="Text Placeholder 2"/>
          <p:cNvSpPr txBox="1">
            <a:spLocks/>
          </p:cNvSpPr>
          <p:nvPr userDrawn="1"/>
        </p:nvSpPr>
        <p:spPr>
          <a:xfrm>
            <a:off x="519600" y="6147181"/>
            <a:ext cx="8033033" cy="507664"/>
          </a:xfrm>
          <a:prstGeom prst="rect">
            <a:avLst/>
          </a:prstGeom>
        </p:spPr>
        <p:txBody>
          <a:bodyPr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667">
                <a:solidFill>
                  <a:schemeClr val="tx2">
                    <a:lumMod val="50000"/>
                  </a:schemeClr>
                </a:solidFill>
              </a:rPr>
              <a:t>© 2019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pic>
        <p:nvPicPr>
          <p:cNvPr id="26" name="Picture 25"/>
          <p:cNvPicPr>
            <a:picLocks noChangeAspect="1"/>
          </p:cNvPicPr>
          <p:nvPr userDrawn="1"/>
        </p:nvPicPr>
        <p:blipFill>
          <a:blip r:embed="rId2"/>
          <a:stretch>
            <a:fillRect/>
          </a:stretch>
        </p:blipFill>
        <p:spPr>
          <a:xfrm>
            <a:off x="10713113" y="6015481"/>
            <a:ext cx="1212887" cy="620353"/>
          </a:xfrm>
          <a:prstGeom prst="rect">
            <a:avLst/>
          </a:prstGeom>
        </p:spPr>
      </p:pic>
      <p:grpSp>
        <p:nvGrpSpPr>
          <p:cNvPr id="37" name="Group 36"/>
          <p:cNvGrpSpPr/>
          <p:nvPr userDrawn="1"/>
        </p:nvGrpSpPr>
        <p:grpSpPr>
          <a:xfrm>
            <a:off x="-11894" y="2832016"/>
            <a:ext cx="12215771" cy="1153909"/>
            <a:chOff x="-8920" y="2124012"/>
            <a:chExt cx="9161828" cy="865432"/>
          </a:xfrm>
        </p:grpSpPr>
        <p:sp>
          <p:nvSpPr>
            <p:cNvPr id="38"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39"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42"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43"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4"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45"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6"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7"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48"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49"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0"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sz="2400"/>
            </a:p>
          </p:txBody>
        </p:sp>
        <p:sp>
          <p:nvSpPr>
            <p:cNvPr id="51"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2"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3"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4"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5"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sp>
          <p:nvSpPr>
            <p:cNvPr id="56"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sz="2400"/>
            </a:p>
          </p:txBody>
        </p:sp>
      </p:grpSp>
    </p:spTree>
    <p:extLst>
      <p:ext uri="{BB962C8B-B14F-4D97-AF65-F5344CB8AC3E}">
        <p14:creationId xmlns:p14="http://schemas.microsoft.com/office/powerpoint/2010/main" val="3478654386"/>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4D72C7-05F5-44DC-BD10-60D7E8894B42}" type="datetimeFigureOut">
              <a:rPr lang="en-US" smtClean="0"/>
              <a:t>6/30/2021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C215F-B4D4-4C9A-AD26-CA4A9A2C27A4}" type="slidenum">
              <a:rPr lang="en-US" smtClean="0"/>
              <a:t>‹#›</a:t>
            </a:fld>
            <a:endParaRPr lang="en-US"/>
          </a:p>
        </p:txBody>
      </p:sp>
    </p:spTree>
    <p:extLst>
      <p:ext uri="{BB962C8B-B14F-4D97-AF65-F5344CB8AC3E}">
        <p14:creationId xmlns:p14="http://schemas.microsoft.com/office/powerpoint/2010/main" val="461158177"/>
      </p:ext>
    </p:extLst>
  </p:cSld>
  <p:clrMap bg1="lt1" tx1="dk1" bg2="lt2" tx2="dk2" accent1="accent1" accent2="accent2" accent3="accent3" accent4="accent4" accent5="accent5" accent6="accent6" hlink="hlink" folHlink="folHlink"/>
  <p:sldLayoutIdLst>
    <p:sldLayoutId id="2147483650" r:id="rId1"/>
    <p:sldLayoutId id="2147483660" r:id="rId2"/>
    <p:sldLayoutId id="2147483661" r:id="rId3"/>
    <p:sldLayoutId id="214748366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hyperlink" Target="https://github.com/procter-gamble/SpecAnywhere.git" TargetMode="External"/><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397793" y="6018411"/>
            <a:ext cx="1191945" cy="612960"/>
          </a:xfrm>
          <a:prstGeom prst="rect">
            <a:avLst/>
          </a:prstGeom>
        </p:spPr>
      </p:pic>
      <p:sp>
        <p:nvSpPr>
          <p:cNvPr id="2" name="Title 1"/>
          <p:cNvSpPr>
            <a:spLocks noGrp="1"/>
          </p:cNvSpPr>
          <p:nvPr>
            <p:ph type="title"/>
          </p:nvPr>
        </p:nvSpPr>
        <p:spPr>
          <a:xfrm>
            <a:off x="509273" y="4345489"/>
            <a:ext cx="4957031" cy="1212163"/>
          </a:xfrm>
        </p:spPr>
        <p:txBody>
          <a:bodyPr>
            <a:normAutofit fontScale="90000"/>
          </a:bodyPr>
          <a:lstStyle/>
          <a:p>
            <a:r>
              <a:rPr lang="en-US" dirty="0"/>
              <a:t>Spec Reader GIT Commit Process</a:t>
            </a:r>
          </a:p>
        </p:txBody>
      </p:sp>
      <p:sp>
        <p:nvSpPr>
          <p:cNvPr id="4" name="Title 1">
            <a:extLst>
              <a:ext uri="{FF2B5EF4-FFF2-40B4-BE49-F238E27FC236}">
                <a16:creationId xmlns:a16="http://schemas.microsoft.com/office/drawing/2014/main" id="{3A64A241-C025-4241-B5AA-7EC932DE2200}"/>
              </a:ext>
            </a:extLst>
          </p:cNvPr>
          <p:cNvSpPr txBox="1">
            <a:spLocks/>
          </p:cNvSpPr>
          <p:nvPr/>
        </p:nvSpPr>
        <p:spPr>
          <a:xfrm>
            <a:off x="509272" y="5645838"/>
            <a:ext cx="4957031" cy="37257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rgbClr val="007DC3"/>
                </a:solidFill>
                <a:latin typeface="+mj-lt"/>
                <a:ea typeface="+mj-ea"/>
                <a:cs typeface="+mj-cs"/>
              </a:defRPr>
            </a:lvl1pPr>
          </a:lstStyle>
          <a:p>
            <a:r>
              <a:rPr lang="en-US" sz="1800" dirty="0"/>
              <a:t>For Enovia Developers</a:t>
            </a:r>
          </a:p>
        </p:txBody>
      </p:sp>
    </p:spTree>
    <p:extLst>
      <p:ext uri="{BB962C8B-B14F-4D97-AF65-F5344CB8AC3E}">
        <p14:creationId xmlns:p14="http://schemas.microsoft.com/office/powerpoint/2010/main" val="378803707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E3D7E6E-892B-4AB4-91F7-2159420D3934}"/>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Before we being.. </a:t>
            </a:r>
          </a:p>
        </p:txBody>
      </p:sp>
      <p:graphicFrame>
        <p:nvGraphicFramePr>
          <p:cNvPr id="5" name="Table 4">
            <a:extLst>
              <a:ext uri="{FF2B5EF4-FFF2-40B4-BE49-F238E27FC236}">
                <a16:creationId xmlns:a16="http://schemas.microsoft.com/office/drawing/2014/main" id="{925AD3EE-E98E-4D72-8C0C-91452C95E975}"/>
              </a:ext>
            </a:extLst>
          </p:cNvPr>
          <p:cNvGraphicFramePr>
            <a:graphicFrameLocks noGrp="1"/>
          </p:cNvGraphicFramePr>
          <p:nvPr>
            <p:extLst>
              <p:ext uri="{D42A27DB-BD31-4B8C-83A1-F6EECF244321}">
                <p14:modId xmlns:p14="http://schemas.microsoft.com/office/powerpoint/2010/main" val="1726073092"/>
              </p:ext>
            </p:extLst>
          </p:nvPr>
        </p:nvGraphicFramePr>
        <p:xfrm>
          <a:off x="4238984" y="1327203"/>
          <a:ext cx="7752635" cy="4393056"/>
        </p:xfrm>
        <a:graphic>
          <a:graphicData uri="http://schemas.openxmlformats.org/drawingml/2006/table">
            <a:tbl>
              <a:tblPr firstRow="1" bandRow="1">
                <a:tableStyleId>{7DF18680-E054-41AD-8BC1-D1AEF772440D}</a:tableStyleId>
              </a:tblPr>
              <a:tblGrid>
                <a:gridCol w="395370">
                  <a:extLst>
                    <a:ext uri="{9D8B030D-6E8A-4147-A177-3AD203B41FA5}">
                      <a16:colId xmlns:a16="http://schemas.microsoft.com/office/drawing/2014/main" val="3415925933"/>
                    </a:ext>
                  </a:extLst>
                </a:gridCol>
                <a:gridCol w="2815472">
                  <a:extLst>
                    <a:ext uri="{9D8B030D-6E8A-4147-A177-3AD203B41FA5}">
                      <a16:colId xmlns:a16="http://schemas.microsoft.com/office/drawing/2014/main" val="1264569921"/>
                    </a:ext>
                  </a:extLst>
                </a:gridCol>
                <a:gridCol w="4541793">
                  <a:extLst>
                    <a:ext uri="{9D8B030D-6E8A-4147-A177-3AD203B41FA5}">
                      <a16:colId xmlns:a16="http://schemas.microsoft.com/office/drawing/2014/main" val="3445483027"/>
                    </a:ext>
                  </a:extLst>
                </a:gridCol>
              </a:tblGrid>
              <a:tr h="333829">
                <a:tc>
                  <a:txBody>
                    <a:bodyPr/>
                    <a:lstStyle/>
                    <a:p>
                      <a:pPr marL="0" marR="0" algn="ctr">
                        <a:lnSpc>
                          <a:spcPct val="100000"/>
                        </a:lnSpc>
                        <a:spcBef>
                          <a:spcPts val="0"/>
                        </a:spcBef>
                        <a:spcAft>
                          <a:spcPts val="0"/>
                        </a:spcAft>
                      </a:pPr>
                      <a:r>
                        <a:rPr lang="en-US" sz="1050" u="sng" kern="1200" cap="all" spc="60"/>
                        <a:t>#</a:t>
                      </a:r>
                      <a:endParaRPr lang="en-US" sz="1050" b="1" u="sng" kern="1200" cap="all" spc="60">
                        <a:solidFill>
                          <a:schemeClr val="tx1"/>
                        </a:solidFill>
                        <a:latin typeface="+mn-lt"/>
                        <a:ea typeface="+mj-ea"/>
                        <a:cs typeface="+mj-cs"/>
                      </a:endParaRPr>
                    </a:p>
                  </a:txBody>
                  <a:tcPr marL="54567" marR="54567" marT="85370" marB="85370" anchor="b"/>
                </a:tc>
                <a:tc>
                  <a:txBody>
                    <a:bodyPr/>
                    <a:lstStyle/>
                    <a:p>
                      <a:pPr marL="0" marR="0" algn="ctr">
                        <a:lnSpc>
                          <a:spcPct val="100000"/>
                        </a:lnSpc>
                        <a:spcBef>
                          <a:spcPts val="0"/>
                        </a:spcBef>
                        <a:spcAft>
                          <a:spcPts val="0"/>
                        </a:spcAft>
                      </a:pPr>
                      <a:r>
                        <a:rPr lang="en-US" sz="1050" u="sng" kern="1200" cap="all" spc="60"/>
                        <a:t>Prerequisite</a:t>
                      </a:r>
                      <a:endParaRPr lang="en-US" sz="1050" b="1" u="sng" kern="1200" cap="all" spc="60">
                        <a:solidFill>
                          <a:schemeClr val="tx1"/>
                        </a:solidFill>
                        <a:latin typeface="+mn-lt"/>
                        <a:ea typeface="+mj-ea"/>
                        <a:cs typeface="+mj-cs"/>
                      </a:endParaRPr>
                    </a:p>
                  </a:txBody>
                  <a:tcPr marL="54567" marR="54567" marT="85370" marB="85370" anchor="b"/>
                </a:tc>
                <a:tc>
                  <a:txBody>
                    <a:bodyPr/>
                    <a:lstStyle/>
                    <a:p>
                      <a:pPr marL="0" marR="0" algn="ctr">
                        <a:lnSpc>
                          <a:spcPct val="100000"/>
                        </a:lnSpc>
                        <a:spcBef>
                          <a:spcPts val="0"/>
                        </a:spcBef>
                        <a:spcAft>
                          <a:spcPts val="0"/>
                        </a:spcAft>
                      </a:pPr>
                      <a:r>
                        <a:rPr lang="en-US" sz="1050" u="sng" kern="1200" cap="all" spc="60">
                          <a:effectLst/>
                        </a:rPr>
                        <a:t>Action if no access</a:t>
                      </a:r>
                      <a:endParaRPr lang="en-US" sz="1050" b="1" cap="all" spc="60">
                        <a:solidFill>
                          <a:schemeClr val="tx1"/>
                        </a:solidFill>
                        <a:effectLst/>
                        <a:latin typeface="+mn-lt"/>
                        <a:ea typeface="Calibri" panose="020F0502020204030204" pitchFamily="34" charset="0"/>
                        <a:cs typeface="Times New Roman" panose="02020603050405020304" pitchFamily="18" charset="0"/>
                      </a:endParaRPr>
                    </a:p>
                  </a:txBody>
                  <a:tcPr marL="54567" marR="54567" marT="85370" marB="85370" anchor="b"/>
                </a:tc>
                <a:extLst>
                  <a:ext uri="{0D108BD9-81ED-4DB2-BD59-A6C34878D82A}">
                    <a16:rowId xmlns:a16="http://schemas.microsoft.com/office/drawing/2014/main" val="1634061024"/>
                  </a:ext>
                </a:extLst>
              </a:tr>
              <a:tr h="908768">
                <a:tc>
                  <a:txBody>
                    <a:bodyPr/>
                    <a:lstStyle/>
                    <a:p>
                      <a:pPr marL="0" marR="0" indent="0" algn="ctr" defTabSz="914400" rtl="0" eaLnBrk="1" latinLnBrk="0" hangingPunct="1">
                        <a:lnSpc>
                          <a:spcPct val="100000"/>
                        </a:lnSpc>
                        <a:spcBef>
                          <a:spcPts val="0"/>
                        </a:spcBef>
                        <a:spcAft>
                          <a:spcPts val="0"/>
                        </a:spcAft>
                        <a:buFont typeface="Arial" panose="020B0604020202020204" pitchFamily="34" charset="0"/>
                        <a:buNone/>
                      </a:pPr>
                      <a:r>
                        <a:rPr lang="en-US" sz="1400" kern="1200" cap="none" spc="0"/>
                        <a:t>1</a:t>
                      </a:r>
                      <a:endParaRPr lang="en-US" sz="1400" b="0" kern="1200" cap="none" spc="0">
                        <a:solidFill>
                          <a:schemeClr val="tx1"/>
                        </a:solidFill>
                        <a:latin typeface="+mn-lt"/>
                        <a:ea typeface="+mj-ea"/>
                        <a:cs typeface="+mj-cs"/>
                      </a:endParaRPr>
                    </a:p>
                  </a:txBody>
                  <a:tcPr marL="54567" marR="54567" marT="0" marB="85370" anchor="ctr"/>
                </a:tc>
                <a:tc>
                  <a:txBody>
                    <a:bodyPr/>
                    <a:lstStyle/>
                    <a:p>
                      <a:pPr marL="0" marR="0" indent="0" algn="l" defTabSz="914400" rtl="0" eaLnBrk="1" latinLnBrk="0" hangingPunct="1">
                        <a:lnSpc>
                          <a:spcPct val="100000"/>
                        </a:lnSpc>
                        <a:spcBef>
                          <a:spcPts val="0"/>
                        </a:spcBef>
                        <a:spcAft>
                          <a:spcPts val="0"/>
                        </a:spcAft>
                        <a:buFont typeface="Arial" panose="020B0604020202020204" pitchFamily="34" charset="0"/>
                        <a:buNone/>
                      </a:pPr>
                      <a:r>
                        <a:rPr lang="en-US" sz="1400" kern="1200" cap="none" spc="0" dirty="0"/>
                        <a:t>Secure Windows VM Access(28/52) </a:t>
                      </a:r>
                      <a:endParaRPr lang="en-US" sz="1400" b="0" kern="1200" cap="none" spc="0" dirty="0">
                        <a:solidFill>
                          <a:schemeClr val="tx1"/>
                        </a:solidFill>
                        <a:latin typeface="+mn-lt"/>
                        <a:ea typeface="+mj-ea"/>
                        <a:cs typeface="+mj-cs"/>
                      </a:endParaRPr>
                    </a:p>
                  </a:txBody>
                  <a:tcPr marL="54567" marR="54567" marT="0" marB="85370" anchor="ctr"/>
                </a:tc>
                <a:tc>
                  <a:txBody>
                    <a:bodyPr/>
                    <a:lstStyle/>
                    <a:p>
                      <a:pPr marL="400050" marR="0" indent="-400050" algn="l">
                        <a:lnSpc>
                          <a:spcPct val="100000"/>
                        </a:lnSpc>
                        <a:spcBef>
                          <a:spcPts val="0"/>
                        </a:spcBef>
                        <a:spcAft>
                          <a:spcPts val="0"/>
                        </a:spcAft>
                        <a:buFont typeface="+mj-lt"/>
                        <a:buAutoNum type="romanLcPeriod"/>
                      </a:pPr>
                      <a:r>
                        <a:rPr lang="en-US" sz="1400" kern="1200" cap="none" spc="0"/>
                        <a:t>Share your P&amp;G id to Parshant/Amit to add into SR VM group.</a:t>
                      </a:r>
                    </a:p>
                    <a:p>
                      <a:pPr marL="400050" marR="0" indent="-400050" algn="l">
                        <a:lnSpc>
                          <a:spcPct val="100000"/>
                        </a:lnSpc>
                        <a:spcBef>
                          <a:spcPts val="0"/>
                        </a:spcBef>
                        <a:spcAft>
                          <a:spcPts val="0"/>
                        </a:spcAft>
                        <a:buFont typeface="+mj-lt"/>
                        <a:buAutoNum type="romanLcPeriod"/>
                      </a:pPr>
                      <a:r>
                        <a:rPr lang="en-US" sz="1400" kern="1200" cap="none" spc="0"/>
                        <a:t>For temporary VM access contact your lead </a:t>
                      </a:r>
                      <a:endParaRPr lang="en-US" sz="1400" b="0" kern="1200" cap="none" spc="0">
                        <a:solidFill>
                          <a:schemeClr val="tx1"/>
                        </a:solidFill>
                        <a:latin typeface="+mn-lt"/>
                        <a:ea typeface="+mj-ea"/>
                        <a:cs typeface="+mj-cs"/>
                      </a:endParaRPr>
                    </a:p>
                  </a:txBody>
                  <a:tcPr marL="54567" marR="54567" marT="0" marB="85370"/>
                </a:tc>
                <a:extLst>
                  <a:ext uri="{0D108BD9-81ED-4DB2-BD59-A6C34878D82A}">
                    <a16:rowId xmlns:a16="http://schemas.microsoft.com/office/drawing/2014/main" val="1440983268"/>
                  </a:ext>
                </a:extLst>
              </a:tr>
              <a:tr h="763792">
                <a:tc>
                  <a:txBody>
                    <a:bodyPr/>
                    <a:lstStyle/>
                    <a:p>
                      <a:pPr marL="0" marR="0" indent="0" algn="ctr">
                        <a:lnSpc>
                          <a:spcPct val="100000"/>
                        </a:lnSpc>
                        <a:spcBef>
                          <a:spcPts val="0"/>
                        </a:spcBef>
                        <a:spcAft>
                          <a:spcPts val="0"/>
                        </a:spcAft>
                        <a:buFont typeface="Arial" panose="020B0604020202020204" pitchFamily="34" charset="0"/>
                        <a:buNone/>
                      </a:pPr>
                      <a:r>
                        <a:rPr lang="en-US" sz="1400" kern="1200" cap="none" spc="0"/>
                        <a:t>2</a:t>
                      </a:r>
                      <a:endParaRPr lang="en-US" sz="1400" b="0" kern="1200" cap="none" spc="0">
                        <a:solidFill>
                          <a:schemeClr val="tx1"/>
                        </a:solidFill>
                        <a:latin typeface="+mn-lt"/>
                        <a:ea typeface="+mj-ea"/>
                        <a:cs typeface="+mj-cs"/>
                      </a:endParaRPr>
                    </a:p>
                  </a:txBody>
                  <a:tcPr marL="54567" marR="54567" marT="0" marB="85370" anchor="ctr"/>
                </a:tc>
                <a:tc>
                  <a:txBody>
                    <a:bodyPr/>
                    <a:lstStyle/>
                    <a:p>
                      <a:pPr marL="0" marR="0" indent="0" algn="l">
                        <a:lnSpc>
                          <a:spcPct val="100000"/>
                        </a:lnSpc>
                        <a:spcBef>
                          <a:spcPts val="0"/>
                        </a:spcBef>
                        <a:spcAft>
                          <a:spcPts val="0"/>
                        </a:spcAft>
                        <a:buFont typeface="Arial" panose="020B0604020202020204" pitchFamily="34" charset="0"/>
                        <a:buNone/>
                      </a:pPr>
                      <a:r>
                        <a:rPr lang="en-US" sz="1400" kern="1200" cap="none" spc="0" dirty="0"/>
                        <a:t>Secure P&amp;G GIT access (github.pg.com) </a:t>
                      </a:r>
                      <a:endParaRPr lang="en-US" sz="1400" b="0" kern="1200" cap="none" spc="0" dirty="0">
                        <a:solidFill>
                          <a:schemeClr val="tx1"/>
                        </a:solidFill>
                        <a:latin typeface="+mn-lt"/>
                        <a:ea typeface="+mj-ea"/>
                        <a:cs typeface="+mj-cs"/>
                      </a:endParaRPr>
                    </a:p>
                  </a:txBody>
                  <a:tcPr marL="54567" marR="54567" marT="0" marB="85370" anchor="ct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kern="1200" cap="none" spc="0"/>
                        <a:t>Share your P&amp;G id to Parshant/Amit to request  P&amp;G  to provide access. P&amp;G POC (normand.b@pg.com) </a:t>
                      </a:r>
                      <a:endParaRPr lang="en-US" sz="1400" b="0" kern="1200" cap="none" spc="0">
                        <a:solidFill>
                          <a:schemeClr val="tx1"/>
                        </a:solidFill>
                        <a:latin typeface="+mn-lt"/>
                        <a:ea typeface="+mj-ea"/>
                        <a:cs typeface="+mj-cs"/>
                      </a:endParaRPr>
                    </a:p>
                  </a:txBody>
                  <a:tcPr marL="54567" marR="54567" marT="0" marB="85370"/>
                </a:tc>
                <a:extLst>
                  <a:ext uri="{0D108BD9-81ED-4DB2-BD59-A6C34878D82A}">
                    <a16:rowId xmlns:a16="http://schemas.microsoft.com/office/drawing/2014/main" val="4212810198"/>
                  </a:ext>
                </a:extLst>
              </a:tr>
              <a:tr h="619869">
                <a:tc>
                  <a:txBody>
                    <a:bodyPr/>
                    <a:lstStyle/>
                    <a:p>
                      <a:pPr marL="0" marR="0" indent="0" algn="ctr">
                        <a:lnSpc>
                          <a:spcPct val="100000"/>
                        </a:lnSpc>
                        <a:spcBef>
                          <a:spcPts val="0"/>
                        </a:spcBef>
                        <a:spcAft>
                          <a:spcPts val="0"/>
                        </a:spcAft>
                        <a:buFont typeface="Arial" panose="020B0604020202020204" pitchFamily="34" charset="0"/>
                        <a:buNone/>
                      </a:pPr>
                      <a:r>
                        <a:rPr lang="en-US" sz="1400" kern="1200" cap="none" spc="0"/>
                        <a:t>3</a:t>
                      </a:r>
                      <a:endParaRPr lang="en-US" sz="1400" b="0" kern="1200" cap="none" spc="0">
                        <a:solidFill>
                          <a:schemeClr val="tx1"/>
                        </a:solidFill>
                        <a:latin typeface="+mn-lt"/>
                        <a:ea typeface="+mj-ea"/>
                        <a:cs typeface="+mj-cs"/>
                      </a:endParaRPr>
                    </a:p>
                  </a:txBody>
                  <a:tcPr marL="54567" marR="54567" marT="0" marB="85370" anchor="ctr"/>
                </a:tc>
                <a:tc>
                  <a:txBody>
                    <a:bodyPr/>
                    <a:lstStyle/>
                    <a:p>
                      <a:pPr marL="0" marR="0" indent="0" algn="l">
                        <a:lnSpc>
                          <a:spcPct val="100000"/>
                        </a:lnSpc>
                        <a:spcBef>
                          <a:spcPts val="0"/>
                        </a:spcBef>
                        <a:spcAft>
                          <a:spcPts val="0"/>
                        </a:spcAft>
                        <a:buFont typeface="Arial" panose="020B0604020202020204" pitchFamily="34" charset="0"/>
                        <a:buNone/>
                      </a:pPr>
                      <a:r>
                        <a:rPr lang="en-US" sz="1400" kern="1200" cap="none" spc="0"/>
                        <a:t>GitHub Desktop (&gt;=V2.8.1)installed on VM</a:t>
                      </a:r>
                      <a:endParaRPr lang="en-US" sz="1400" b="0" kern="1200" cap="none" spc="0">
                        <a:solidFill>
                          <a:schemeClr val="tx1"/>
                        </a:solidFill>
                        <a:latin typeface="+mn-lt"/>
                        <a:ea typeface="+mj-ea"/>
                        <a:cs typeface="+mj-cs"/>
                      </a:endParaRPr>
                    </a:p>
                  </a:txBody>
                  <a:tcPr marL="54567" marR="54567" marT="0" marB="85370" anchor="ctr"/>
                </a:tc>
                <a:tc>
                  <a:txBody>
                    <a:bodyPr/>
                    <a:lstStyle/>
                    <a:p>
                      <a:pPr marL="0" marR="0" indent="0" algn="l">
                        <a:lnSpc>
                          <a:spcPct val="100000"/>
                        </a:lnSpc>
                        <a:spcBef>
                          <a:spcPts val="0"/>
                        </a:spcBef>
                        <a:spcAft>
                          <a:spcPts val="0"/>
                        </a:spcAft>
                        <a:buFont typeface="+mj-lt"/>
                        <a:buNone/>
                      </a:pPr>
                      <a:r>
                        <a:rPr lang="en-US" sz="1400" kern="1200" cap="none" spc="0"/>
                        <a:t>Open source and can be downloaded and installed on VM. </a:t>
                      </a:r>
                      <a:endParaRPr lang="en-US" sz="1400" b="0" kern="1200" cap="none" spc="0">
                        <a:solidFill>
                          <a:schemeClr val="tx1"/>
                        </a:solidFill>
                        <a:latin typeface="+mn-lt"/>
                        <a:ea typeface="+mj-ea"/>
                        <a:cs typeface="+mj-cs"/>
                      </a:endParaRPr>
                    </a:p>
                  </a:txBody>
                  <a:tcPr marL="54567" marR="54567" marT="0" marB="85370"/>
                </a:tc>
                <a:extLst>
                  <a:ext uri="{0D108BD9-81ED-4DB2-BD59-A6C34878D82A}">
                    <a16:rowId xmlns:a16="http://schemas.microsoft.com/office/drawing/2014/main" val="2374731965"/>
                  </a:ext>
                </a:extLst>
              </a:tr>
              <a:tr h="619869">
                <a:tc>
                  <a:txBody>
                    <a:bodyPr/>
                    <a:lstStyle/>
                    <a:p>
                      <a:pPr marL="0" marR="0" indent="0" algn="ctr">
                        <a:lnSpc>
                          <a:spcPct val="100000"/>
                        </a:lnSpc>
                        <a:spcBef>
                          <a:spcPts val="0"/>
                        </a:spcBef>
                        <a:spcAft>
                          <a:spcPts val="0"/>
                        </a:spcAft>
                        <a:buFont typeface="Arial" panose="020B0604020202020204" pitchFamily="34" charset="0"/>
                        <a:buNone/>
                      </a:pPr>
                      <a:r>
                        <a:rPr lang="en-US" sz="1400" kern="1200" cap="none" spc="0"/>
                        <a:t>4</a:t>
                      </a:r>
                      <a:endParaRPr lang="en-US" sz="1400" b="0" kern="1200" cap="none" spc="0">
                        <a:solidFill>
                          <a:schemeClr val="tx1"/>
                        </a:solidFill>
                        <a:latin typeface="+mn-lt"/>
                        <a:ea typeface="+mj-ea"/>
                        <a:cs typeface="+mj-cs"/>
                      </a:endParaRPr>
                    </a:p>
                  </a:txBody>
                  <a:tcPr marL="54567" marR="54567" marT="0" marB="85370" anchor="ctr"/>
                </a:tc>
                <a:tc>
                  <a:txBody>
                    <a:bodyPr/>
                    <a:lstStyle/>
                    <a:p>
                      <a:pPr marL="0" marR="0" indent="0" algn="l">
                        <a:lnSpc>
                          <a:spcPct val="100000"/>
                        </a:lnSpc>
                        <a:spcBef>
                          <a:spcPts val="0"/>
                        </a:spcBef>
                        <a:spcAft>
                          <a:spcPts val="0"/>
                        </a:spcAft>
                        <a:buFont typeface="Arial" panose="020B0604020202020204" pitchFamily="34" charset="0"/>
                        <a:buNone/>
                      </a:pPr>
                      <a:r>
                        <a:rPr lang="en-US" sz="1400" kern="1200" cap="none" spc="0" dirty="0"/>
                        <a:t>Beyond Compare Installed in VM </a:t>
                      </a:r>
                      <a:endParaRPr lang="en-US" sz="1400" b="0" kern="1200" cap="none" spc="0" dirty="0">
                        <a:solidFill>
                          <a:schemeClr val="tx1"/>
                        </a:solidFill>
                        <a:latin typeface="+mn-lt"/>
                        <a:ea typeface="+mj-ea"/>
                        <a:cs typeface="+mj-cs"/>
                      </a:endParaRPr>
                    </a:p>
                  </a:txBody>
                  <a:tcPr marL="54567" marR="54567" marT="0" marB="85370" anchor="ctr"/>
                </a:tc>
                <a:tc>
                  <a:txBody>
                    <a:bodyPr/>
                    <a:lstStyle/>
                    <a:p>
                      <a:pPr marL="0" marR="0" indent="0" algn="l">
                        <a:lnSpc>
                          <a:spcPct val="100000"/>
                        </a:lnSpc>
                        <a:spcBef>
                          <a:spcPts val="0"/>
                        </a:spcBef>
                        <a:spcAft>
                          <a:spcPts val="0"/>
                        </a:spcAft>
                        <a:buFont typeface="+mj-lt"/>
                        <a:buNone/>
                      </a:pPr>
                      <a:r>
                        <a:rPr lang="en-US" sz="1400" kern="1200" cap="none" spc="0"/>
                        <a:t>Open source and can be downloaded and installed on VM. </a:t>
                      </a:r>
                      <a:endParaRPr lang="en-US" sz="1400" b="0" kern="1200" cap="none" spc="0">
                        <a:solidFill>
                          <a:schemeClr val="tx1"/>
                        </a:solidFill>
                        <a:latin typeface="+mn-lt"/>
                        <a:ea typeface="+mn-ea"/>
                        <a:cs typeface="+mn-cs"/>
                      </a:endParaRPr>
                    </a:p>
                  </a:txBody>
                  <a:tcPr marL="54567" marR="54567" marT="0" marB="85370"/>
                </a:tc>
                <a:extLst>
                  <a:ext uri="{0D108BD9-81ED-4DB2-BD59-A6C34878D82A}">
                    <a16:rowId xmlns:a16="http://schemas.microsoft.com/office/drawing/2014/main" val="3916740487"/>
                  </a:ext>
                </a:extLst>
              </a:tr>
              <a:tr h="527060">
                <a:tc>
                  <a:txBody>
                    <a:bodyPr/>
                    <a:lstStyle/>
                    <a:p>
                      <a:pPr marL="0" marR="0" indent="0" algn="ctr">
                        <a:lnSpc>
                          <a:spcPct val="100000"/>
                        </a:lnSpc>
                        <a:spcBef>
                          <a:spcPts val="0"/>
                        </a:spcBef>
                        <a:spcAft>
                          <a:spcPts val="0"/>
                        </a:spcAft>
                        <a:buFont typeface="Arial" panose="020B0604020202020204" pitchFamily="34" charset="0"/>
                        <a:buNone/>
                      </a:pPr>
                      <a:r>
                        <a:rPr lang="en-US" sz="1400" kern="1200" cap="none" spc="0"/>
                        <a:t>5</a:t>
                      </a:r>
                      <a:endParaRPr lang="en-US" sz="1400" b="0" kern="1200" cap="none" spc="0">
                        <a:solidFill>
                          <a:schemeClr val="tx1"/>
                        </a:solidFill>
                        <a:latin typeface="+mn-lt"/>
                        <a:ea typeface="+mj-ea"/>
                        <a:cs typeface="+mj-cs"/>
                      </a:endParaRPr>
                    </a:p>
                  </a:txBody>
                  <a:tcPr marL="54567" marR="54567" marT="0" marB="85370" anchor="ctr"/>
                </a:tc>
                <a:tc>
                  <a:txBody>
                    <a:bodyPr/>
                    <a:lstStyle/>
                    <a:p>
                      <a:pPr marL="0" marR="0" indent="0" algn="l">
                        <a:lnSpc>
                          <a:spcPct val="100000"/>
                        </a:lnSpc>
                        <a:spcBef>
                          <a:spcPts val="0"/>
                        </a:spcBef>
                        <a:spcAft>
                          <a:spcPts val="0"/>
                        </a:spcAft>
                        <a:buFont typeface="Arial" panose="020B0604020202020204" pitchFamily="34" charset="0"/>
                        <a:buNone/>
                      </a:pPr>
                      <a:r>
                        <a:rPr lang="en-US" sz="1400" kern="1200" cap="none" spc="0" dirty="0"/>
                        <a:t>Complete Development Workspace setup</a:t>
                      </a:r>
                      <a:endParaRPr lang="en-US" sz="1400" b="0" kern="1200" cap="none" spc="0" dirty="0">
                        <a:solidFill>
                          <a:schemeClr val="tx1"/>
                        </a:solidFill>
                        <a:latin typeface="+mn-lt"/>
                        <a:ea typeface="+mj-ea"/>
                        <a:cs typeface="+mj-cs"/>
                      </a:endParaRPr>
                    </a:p>
                  </a:txBody>
                  <a:tcPr marL="54567" marR="54567" marT="0" marB="85370" anchor="ctr"/>
                </a:tc>
                <a:tc>
                  <a:txBody>
                    <a:bodyPr/>
                    <a:lstStyle/>
                    <a:p>
                      <a:pPr marL="0" marR="0" indent="0" algn="l">
                        <a:lnSpc>
                          <a:spcPct val="100000"/>
                        </a:lnSpc>
                        <a:spcBef>
                          <a:spcPts val="0"/>
                        </a:spcBef>
                        <a:spcAft>
                          <a:spcPts val="0"/>
                        </a:spcAft>
                        <a:buFont typeface="+mj-lt"/>
                        <a:buNone/>
                      </a:pPr>
                      <a:r>
                        <a:rPr lang="en-US" sz="1400" kern="1200" cap="none" spc="0"/>
                        <a:t>Contact your lead to help to get workspace setup</a:t>
                      </a:r>
                      <a:endParaRPr lang="en-US" sz="1400" b="0" kern="1200" cap="none" spc="0">
                        <a:solidFill>
                          <a:schemeClr val="tx1"/>
                        </a:solidFill>
                        <a:latin typeface="+mn-lt"/>
                        <a:ea typeface="+mj-ea"/>
                        <a:cs typeface="+mj-cs"/>
                      </a:endParaRPr>
                    </a:p>
                  </a:txBody>
                  <a:tcPr marL="54567" marR="54567" marT="0" marB="85370"/>
                </a:tc>
                <a:extLst>
                  <a:ext uri="{0D108BD9-81ED-4DB2-BD59-A6C34878D82A}">
                    <a16:rowId xmlns:a16="http://schemas.microsoft.com/office/drawing/2014/main" val="3174967204"/>
                  </a:ext>
                </a:extLst>
              </a:tr>
              <a:tr h="619869">
                <a:tc>
                  <a:txBody>
                    <a:bodyPr/>
                    <a:lstStyle/>
                    <a:p>
                      <a:pPr marL="0" marR="0" indent="0" algn="ctr">
                        <a:lnSpc>
                          <a:spcPct val="100000"/>
                        </a:lnSpc>
                        <a:spcBef>
                          <a:spcPts val="0"/>
                        </a:spcBef>
                        <a:spcAft>
                          <a:spcPts val="0"/>
                        </a:spcAft>
                        <a:buFont typeface="Arial" panose="020B0604020202020204" pitchFamily="34" charset="0"/>
                        <a:buNone/>
                      </a:pPr>
                      <a:r>
                        <a:rPr lang="en-US" sz="1400" kern="1200" cap="none" spc="0"/>
                        <a:t>6</a:t>
                      </a:r>
                      <a:endParaRPr lang="en-US" sz="1400" b="0" kern="1200" cap="none" spc="0">
                        <a:solidFill>
                          <a:schemeClr val="tx1"/>
                        </a:solidFill>
                        <a:latin typeface="+mn-lt"/>
                        <a:ea typeface="+mj-ea"/>
                        <a:cs typeface="+mj-cs"/>
                      </a:endParaRPr>
                    </a:p>
                  </a:txBody>
                  <a:tcPr marL="54567" marR="54567" marT="0" marB="85370" anchor="ctr"/>
                </a:tc>
                <a:tc>
                  <a:txBody>
                    <a:bodyPr/>
                    <a:lstStyle/>
                    <a:p>
                      <a:pPr marL="0" marR="0" indent="0" algn="l">
                        <a:lnSpc>
                          <a:spcPct val="100000"/>
                        </a:lnSpc>
                        <a:spcBef>
                          <a:spcPts val="0"/>
                        </a:spcBef>
                        <a:spcAft>
                          <a:spcPts val="0"/>
                        </a:spcAft>
                        <a:buFont typeface="Arial" panose="020B0604020202020204" pitchFamily="34" charset="0"/>
                        <a:buNone/>
                      </a:pPr>
                      <a:r>
                        <a:rPr lang="en-US" sz="1400" kern="1200" cap="none" spc="0"/>
                        <a:t>Deployment/Pipeline access for DEVS environment</a:t>
                      </a:r>
                      <a:endParaRPr lang="en-US" sz="1400" b="0" kern="1200" cap="none" spc="0">
                        <a:solidFill>
                          <a:schemeClr val="tx1"/>
                        </a:solidFill>
                        <a:latin typeface="+mn-lt"/>
                        <a:ea typeface="+mj-ea"/>
                        <a:cs typeface="+mj-cs"/>
                      </a:endParaRPr>
                    </a:p>
                  </a:txBody>
                  <a:tcPr marL="54567" marR="54567" marT="0" marB="85370" anchor="ctr"/>
                </a:tc>
                <a:tc>
                  <a:txBody>
                    <a:bodyPr/>
                    <a:lstStyle/>
                    <a:p>
                      <a:pPr marL="0" marR="0" indent="0" algn="l">
                        <a:lnSpc>
                          <a:spcPct val="100000"/>
                        </a:lnSpc>
                        <a:spcBef>
                          <a:spcPts val="0"/>
                        </a:spcBef>
                        <a:spcAft>
                          <a:spcPts val="0"/>
                        </a:spcAft>
                        <a:buFont typeface="+mj-lt"/>
                        <a:buNone/>
                      </a:pPr>
                      <a:r>
                        <a:rPr lang="en-US" sz="1400" kern="1200" cap="none" spc="0" dirty="0"/>
                        <a:t>Contact DevOps engineer Sushil (sushil.kumar23128 or kumar.sk.16@pg.com)</a:t>
                      </a:r>
                      <a:endParaRPr lang="en-US" sz="1400" b="0" kern="1200" cap="none" spc="0" dirty="0">
                        <a:solidFill>
                          <a:schemeClr val="tx1"/>
                        </a:solidFill>
                        <a:latin typeface="+mn-lt"/>
                        <a:ea typeface="+mj-ea"/>
                        <a:cs typeface="+mj-cs"/>
                      </a:endParaRPr>
                    </a:p>
                  </a:txBody>
                  <a:tcPr marL="54567" marR="54567" marT="0" marB="85370"/>
                </a:tc>
                <a:extLst>
                  <a:ext uri="{0D108BD9-81ED-4DB2-BD59-A6C34878D82A}">
                    <a16:rowId xmlns:a16="http://schemas.microsoft.com/office/drawing/2014/main" val="2961043185"/>
                  </a:ext>
                </a:extLst>
              </a:tr>
            </a:tbl>
          </a:graphicData>
        </a:graphic>
      </p:graphicFrame>
    </p:spTree>
    <p:extLst>
      <p:ext uri="{BB962C8B-B14F-4D97-AF65-F5344CB8AC3E}">
        <p14:creationId xmlns:p14="http://schemas.microsoft.com/office/powerpoint/2010/main" val="3312715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Rectangle 101">
            <a:extLst>
              <a:ext uri="{FF2B5EF4-FFF2-40B4-BE49-F238E27FC236}">
                <a16:creationId xmlns:a16="http://schemas.microsoft.com/office/drawing/2014/main" id="{D5813D4F-C69F-4FC1-B7CB-DA99B9FF322D}"/>
              </a:ext>
            </a:extLst>
          </p:cNvPr>
          <p:cNvSpPr/>
          <p:nvPr/>
        </p:nvSpPr>
        <p:spPr>
          <a:xfrm>
            <a:off x="11145918" y="910973"/>
            <a:ext cx="822960" cy="21234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Developer</a:t>
            </a:r>
          </a:p>
        </p:txBody>
      </p:sp>
      <p:sp>
        <p:nvSpPr>
          <p:cNvPr id="105" name="Rectangle 104">
            <a:extLst>
              <a:ext uri="{FF2B5EF4-FFF2-40B4-BE49-F238E27FC236}">
                <a16:creationId xmlns:a16="http://schemas.microsoft.com/office/drawing/2014/main" id="{530CBC49-0F66-4430-BE48-86F28183414D}"/>
              </a:ext>
            </a:extLst>
          </p:cNvPr>
          <p:cNvSpPr/>
          <p:nvPr/>
        </p:nvSpPr>
        <p:spPr>
          <a:xfrm>
            <a:off x="11154330" y="1156010"/>
            <a:ext cx="822960" cy="1997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No Action</a:t>
            </a:r>
          </a:p>
        </p:txBody>
      </p:sp>
      <p:sp>
        <p:nvSpPr>
          <p:cNvPr id="106" name="Rectangle 105">
            <a:extLst>
              <a:ext uri="{FF2B5EF4-FFF2-40B4-BE49-F238E27FC236}">
                <a16:creationId xmlns:a16="http://schemas.microsoft.com/office/drawing/2014/main" id="{24E5D83D-EA56-4A5C-AE7F-E35AFCFD2DD1}"/>
              </a:ext>
            </a:extLst>
          </p:cNvPr>
          <p:cNvSpPr/>
          <p:nvPr/>
        </p:nvSpPr>
        <p:spPr>
          <a:xfrm>
            <a:off x="11154330" y="1388430"/>
            <a:ext cx="822960" cy="206617"/>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Dev &amp;Lead </a:t>
            </a:r>
          </a:p>
        </p:txBody>
      </p:sp>
      <p:sp>
        <p:nvSpPr>
          <p:cNvPr id="107" name="Rectangle 106">
            <a:extLst>
              <a:ext uri="{FF2B5EF4-FFF2-40B4-BE49-F238E27FC236}">
                <a16:creationId xmlns:a16="http://schemas.microsoft.com/office/drawing/2014/main" id="{F8D3AFC6-373D-40AD-9B41-239C778F14C4}"/>
              </a:ext>
            </a:extLst>
          </p:cNvPr>
          <p:cNvSpPr/>
          <p:nvPr/>
        </p:nvSpPr>
        <p:spPr>
          <a:xfrm>
            <a:off x="11145920" y="1627738"/>
            <a:ext cx="822960" cy="21165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Lead</a:t>
            </a:r>
          </a:p>
        </p:txBody>
      </p:sp>
      <p:sp>
        <p:nvSpPr>
          <p:cNvPr id="108" name="Rectangle 107">
            <a:extLst>
              <a:ext uri="{FF2B5EF4-FFF2-40B4-BE49-F238E27FC236}">
                <a16:creationId xmlns:a16="http://schemas.microsoft.com/office/drawing/2014/main" id="{6198394E-8E90-4F63-B7B2-6B8827B59519}"/>
              </a:ext>
            </a:extLst>
          </p:cNvPr>
          <p:cNvSpPr/>
          <p:nvPr/>
        </p:nvSpPr>
        <p:spPr>
          <a:xfrm>
            <a:off x="11143782" y="1872085"/>
            <a:ext cx="822960" cy="169656"/>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DevOps </a:t>
            </a:r>
            <a:r>
              <a:rPr lang="en-US" sz="900" dirty="0" err="1">
                <a:solidFill>
                  <a:schemeClr val="tx1"/>
                </a:solidFill>
              </a:rPr>
              <a:t>Eng</a:t>
            </a:r>
            <a:endParaRPr lang="en-US" sz="900" dirty="0">
              <a:solidFill>
                <a:schemeClr val="tx1"/>
              </a:solidFill>
            </a:endParaRPr>
          </a:p>
        </p:txBody>
      </p:sp>
      <p:sp>
        <p:nvSpPr>
          <p:cNvPr id="51" name="Title 1">
            <a:extLst>
              <a:ext uri="{FF2B5EF4-FFF2-40B4-BE49-F238E27FC236}">
                <a16:creationId xmlns:a16="http://schemas.microsoft.com/office/drawing/2014/main" id="{D2A91FB6-39A0-4151-8941-5E65259DBBD5}"/>
              </a:ext>
            </a:extLst>
          </p:cNvPr>
          <p:cNvSpPr>
            <a:spLocks noGrp="1"/>
          </p:cNvSpPr>
          <p:nvPr>
            <p:ph type="title"/>
          </p:nvPr>
        </p:nvSpPr>
        <p:spPr>
          <a:xfrm>
            <a:off x="204376" y="586662"/>
            <a:ext cx="5446629" cy="5312491"/>
          </a:xfrm>
          <a:ln>
            <a:solidFill>
              <a:schemeClr val="bg1">
                <a:lumMod val="65000"/>
              </a:schemeClr>
            </a:solidFill>
          </a:ln>
        </p:spPr>
        <p:txBody>
          <a:bodyPr/>
          <a:lstStyle/>
          <a:p>
            <a:r>
              <a:rPr lang="en-US" sz="1200" dirty="0">
                <a:solidFill>
                  <a:srgbClr val="FF0000"/>
                </a:solidFill>
                <a:highlight>
                  <a:srgbClr val="00FF00"/>
                </a:highlight>
              </a:rPr>
              <a:t>1</a:t>
            </a:r>
            <a:r>
              <a:rPr lang="en-US" sz="1200" dirty="0"/>
              <a:t>. Developer updates his local git repo by </a:t>
            </a:r>
            <a:r>
              <a:rPr lang="en-US" sz="1200" b="1" dirty="0"/>
              <a:t>“Fetch origin” </a:t>
            </a:r>
            <a:r>
              <a:rPr lang="en-US" sz="1200" dirty="0"/>
              <a:t>from GitHub desktop  and update his workspace on </a:t>
            </a:r>
            <a:r>
              <a:rPr lang="en-US" sz="1200" u="sng" dirty="0"/>
              <a:t>daily</a:t>
            </a:r>
            <a:r>
              <a:rPr lang="en-US" sz="1200" dirty="0"/>
              <a:t> basis.</a:t>
            </a:r>
            <a:br>
              <a:rPr lang="en-US" sz="1200" dirty="0"/>
            </a:br>
            <a:br>
              <a:rPr lang="en-US" sz="1200" dirty="0"/>
            </a:br>
            <a:r>
              <a:rPr lang="en-US" sz="1200" dirty="0">
                <a:solidFill>
                  <a:srgbClr val="FF0000"/>
                </a:solidFill>
                <a:highlight>
                  <a:srgbClr val="00FF00"/>
                </a:highlight>
              </a:rPr>
              <a:t>2</a:t>
            </a:r>
            <a:r>
              <a:rPr lang="en-US" sz="1200" dirty="0"/>
              <a:t>. Developer will create his own </a:t>
            </a:r>
            <a:r>
              <a:rPr lang="en-US" sz="1200" b="1" dirty="0"/>
              <a:t>feature</a:t>
            </a:r>
            <a:r>
              <a:rPr lang="en-US" sz="1200" dirty="0"/>
              <a:t> branch by updating development branch from GitHub desktop</a:t>
            </a:r>
            <a:br>
              <a:rPr lang="en-US" sz="1200" dirty="0"/>
            </a:br>
            <a:br>
              <a:rPr lang="en-US" sz="1200" dirty="0"/>
            </a:br>
            <a:r>
              <a:rPr lang="en-US" sz="1200" dirty="0">
                <a:solidFill>
                  <a:srgbClr val="FF0000"/>
                </a:solidFill>
                <a:highlight>
                  <a:srgbClr val="00FF00"/>
                </a:highlight>
              </a:rPr>
              <a:t>3</a:t>
            </a:r>
            <a:r>
              <a:rPr lang="en-US" sz="1200" dirty="0"/>
              <a:t>. Developer will merge his code into development  branch by comparing from Beyond compare.</a:t>
            </a:r>
            <a:br>
              <a:rPr lang="en-US" sz="1200" dirty="0"/>
            </a:br>
            <a:br>
              <a:rPr lang="en-US" sz="1200" dirty="0"/>
            </a:br>
            <a:r>
              <a:rPr lang="en-US" sz="1200" b="1" dirty="0"/>
              <a:t>a. </a:t>
            </a:r>
            <a:r>
              <a:rPr lang="en-US" sz="1200" dirty="0"/>
              <a:t>execute </a:t>
            </a:r>
            <a:r>
              <a:rPr lang="en-US" sz="1200" b="1" dirty="0"/>
              <a:t>“Fetch origin”</a:t>
            </a:r>
            <a:r>
              <a:rPr lang="en-US" sz="1200" dirty="0"/>
              <a:t> (Before any merge its mandatory to update branch by git pull)</a:t>
            </a:r>
            <a:br>
              <a:rPr lang="en-US" sz="1200" dirty="0"/>
            </a:br>
            <a:br>
              <a:rPr lang="en-US" sz="1200" dirty="0"/>
            </a:br>
            <a:r>
              <a:rPr lang="en-US" sz="1200" b="1" dirty="0"/>
              <a:t>b.</a:t>
            </a:r>
            <a:r>
              <a:rPr lang="en-US" sz="1200" dirty="0"/>
              <a:t> Compare your code using beyond compare and merge only your changes into your </a:t>
            </a:r>
            <a:r>
              <a:rPr lang="en-US" sz="1200" b="1" dirty="0"/>
              <a:t>“feature”</a:t>
            </a:r>
            <a:r>
              <a:rPr lang="en-US" sz="1200" dirty="0"/>
              <a:t>.</a:t>
            </a:r>
            <a:br>
              <a:rPr lang="en-US" sz="1200" dirty="0"/>
            </a:br>
            <a:br>
              <a:rPr lang="en-US" sz="1200" dirty="0"/>
            </a:br>
            <a:r>
              <a:rPr lang="en-US" sz="1200" b="1" dirty="0"/>
              <a:t>c.</a:t>
            </a:r>
            <a:r>
              <a:rPr lang="en-US" sz="1200" dirty="0"/>
              <a:t> Add proper comments before you commit your code (Ex: Defect/req: &lt;Description&gt;)</a:t>
            </a:r>
            <a:br>
              <a:rPr lang="en-US" sz="1200" dirty="0"/>
            </a:br>
            <a:br>
              <a:rPr lang="en-US" sz="1200" dirty="0"/>
            </a:br>
            <a:r>
              <a:rPr lang="en-US" sz="1200" b="1" dirty="0"/>
              <a:t>d.</a:t>
            </a:r>
            <a:r>
              <a:rPr lang="en-US" sz="1200" dirty="0"/>
              <a:t> Execute git push command to push your code to “</a:t>
            </a:r>
            <a:r>
              <a:rPr lang="en-US" sz="1200" b="1" dirty="0"/>
              <a:t>feature</a:t>
            </a:r>
            <a:r>
              <a:rPr lang="en-US" sz="1200" dirty="0"/>
              <a:t>” branch</a:t>
            </a:r>
            <a:br>
              <a:rPr lang="en-US" sz="1200" dirty="0"/>
            </a:br>
            <a:br>
              <a:rPr lang="en-US" sz="1200" dirty="0"/>
            </a:br>
            <a:r>
              <a:rPr lang="en-US" sz="1200" dirty="0">
                <a:solidFill>
                  <a:srgbClr val="FF0000"/>
                </a:solidFill>
                <a:highlight>
                  <a:srgbClr val="00FF00"/>
                </a:highlight>
              </a:rPr>
              <a:t>4</a:t>
            </a:r>
            <a:r>
              <a:rPr lang="en-US" sz="1200" dirty="0"/>
              <a:t>. click on “Create Pull request” or Navigate to github.pg.com and </a:t>
            </a:r>
            <a:r>
              <a:rPr lang="en-US" sz="1200" b="1" dirty="0"/>
              <a:t>“compare &amp; pull request”</a:t>
            </a:r>
            <a:r>
              <a:rPr lang="en-US" sz="1200" dirty="0"/>
              <a:t>. One reviewer is mandatory to merge/commit the </a:t>
            </a:r>
            <a:r>
              <a:rPr lang="en-US" sz="1200" b="1" dirty="0"/>
              <a:t>feature</a:t>
            </a:r>
            <a:r>
              <a:rPr lang="en-US" sz="1200" dirty="0"/>
              <a:t>. Before creating pull request always please validate source and destination branches. Developer will communicate to Lead to review/approve the pull request</a:t>
            </a:r>
            <a:br>
              <a:rPr lang="en-US" sz="1200" dirty="0"/>
            </a:br>
            <a:br>
              <a:rPr lang="en-US" sz="1200" dirty="0"/>
            </a:br>
            <a:r>
              <a:rPr lang="en-US" sz="1200" dirty="0">
                <a:solidFill>
                  <a:srgbClr val="FF0000"/>
                </a:solidFill>
                <a:highlight>
                  <a:srgbClr val="00FF00"/>
                </a:highlight>
              </a:rPr>
              <a:t>5</a:t>
            </a:r>
            <a:r>
              <a:rPr lang="en-US" sz="1200" dirty="0"/>
              <a:t>. Using azure pipeline Development branch will deploy into DEV2 environment.</a:t>
            </a:r>
            <a:br>
              <a:rPr lang="en-US" sz="1200" dirty="0"/>
            </a:br>
            <a:br>
              <a:rPr lang="en-US" sz="1200" dirty="0"/>
            </a:br>
            <a:r>
              <a:rPr lang="en-US" sz="1200" dirty="0">
                <a:solidFill>
                  <a:srgbClr val="FF0000"/>
                </a:solidFill>
                <a:highlight>
                  <a:srgbClr val="00FF00"/>
                </a:highlight>
              </a:rPr>
              <a:t>6</a:t>
            </a:r>
            <a:r>
              <a:rPr lang="en-US" sz="1200" dirty="0"/>
              <a:t>. Developer will perform the Unit Testing/Internal Testing                                     </a:t>
            </a:r>
            <a:br>
              <a:rPr lang="en-US" sz="1200" dirty="0"/>
            </a:br>
            <a:br>
              <a:rPr lang="en-US" sz="1200" dirty="0"/>
            </a:br>
            <a:r>
              <a:rPr lang="en-US" sz="1200" dirty="0">
                <a:solidFill>
                  <a:srgbClr val="FF0000"/>
                </a:solidFill>
                <a:highlight>
                  <a:srgbClr val="00FF00"/>
                </a:highlight>
              </a:rPr>
              <a:t>7</a:t>
            </a:r>
            <a:r>
              <a:rPr lang="en-US" sz="1200" dirty="0"/>
              <a:t>. SIT/QA/PROD Deployment by DevOps Engineer</a:t>
            </a:r>
            <a:br>
              <a:rPr lang="en-US" sz="1200" dirty="0"/>
            </a:br>
            <a:br>
              <a:rPr lang="en-US" sz="1200" dirty="0"/>
            </a:br>
            <a:br>
              <a:rPr lang="en-US" sz="1400" dirty="0"/>
            </a:br>
            <a:endParaRPr lang="en-US" sz="1400" dirty="0"/>
          </a:p>
        </p:txBody>
      </p:sp>
      <p:grpSp>
        <p:nvGrpSpPr>
          <p:cNvPr id="40" name="Group 39">
            <a:extLst>
              <a:ext uri="{FF2B5EF4-FFF2-40B4-BE49-F238E27FC236}">
                <a16:creationId xmlns:a16="http://schemas.microsoft.com/office/drawing/2014/main" id="{472EF7EA-D702-43EA-9545-94BAD189024F}"/>
              </a:ext>
            </a:extLst>
          </p:cNvPr>
          <p:cNvGrpSpPr/>
          <p:nvPr/>
        </p:nvGrpSpPr>
        <p:grpSpPr>
          <a:xfrm>
            <a:off x="5941802" y="630088"/>
            <a:ext cx="6250198" cy="4835350"/>
            <a:chOff x="5415148" y="1111676"/>
            <a:chExt cx="6250198" cy="4835350"/>
          </a:xfrm>
        </p:grpSpPr>
        <p:grpSp>
          <p:nvGrpSpPr>
            <p:cNvPr id="61" name="Group 60">
              <a:extLst>
                <a:ext uri="{FF2B5EF4-FFF2-40B4-BE49-F238E27FC236}">
                  <a16:creationId xmlns:a16="http://schemas.microsoft.com/office/drawing/2014/main" id="{C932C09B-9423-4A33-B25E-35F29251F711}"/>
                </a:ext>
              </a:extLst>
            </p:cNvPr>
            <p:cNvGrpSpPr/>
            <p:nvPr/>
          </p:nvGrpSpPr>
          <p:grpSpPr>
            <a:xfrm>
              <a:off x="5415148" y="1111676"/>
              <a:ext cx="4487484" cy="4835348"/>
              <a:chOff x="1800922" y="383564"/>
              <a:chExt cx="7504298" cy="6348928"/>
            </a:xfrm>
          </p:grpSpPr>
          <p:grpSp>
            <p:nvGrpSpPr>
              <p:cNvPr id="18" name="Group 17">
                <a:extLst>
                  <a:ext uri="{FF2B5EF4-FFF2-40B4-BE49-F238E27FC236}">
                    <a16:creationId xmlns:a16="http://schemas.microsoft.com/office/drawing/2014/main" id="{3FE29676-5D4A-40E1-9A27-E3627F11D691}"/>
                  </a:ext>
                </a:extLst>
              </p:cNvPr>
              <p:cNvGrpSpPr/>
              <p:nvPr/>
            </p:nvGrpSpPr>
            <p:grpSpPr>
              <a:xfrm>
                <a:off x="1800922" y="383564"/>
                <a:ext cx="2758594" cy="6348928"/>
                <a:chOff x="4698872" y="118890"/>
                <a:chExt cx="2758594" cy="6348928"/>
              </a:xfrm>
            </p:grpSpPr>
            <p:sp>
              <p:nvSpPr>
                <p:cNvPr id="3" name="Rectangle 2">
                  <a:extLst>
                    <a:ext uri="{FF2B5EF4-FFF2-40B4-BE49-F238E27FC236}">
                      <a16:creationId xmlns:a16="http://schemas.microsoft.com/office/drawing/2014/main" id="{014B8698-D1DA-47EE-A4A4-1333C0E951EF}"/>
                    </a:ext>
                  </a:extLst>
                </p:cNvPr>
                <p:cNvSpPr/>
                <p:nvPr/>
              </p:nvSpPr>
              <p:spPr>
                <a:xfrm>
                  <a:off x="4756731" y="118890"/>
                  <a:ext cx="2700735" cy="86427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Git Development Branch</a:t>
                  </a:r>
                </a:p>
                <a:p>
                  <a:pPr algn="ctr"/>
                  <a:r>
                    <a:rPr lang="en-US" sz="800" dirty="0">
                      <a:solidFill>
                        <a:schemeClr val="tx1"/>
                      </a:solidFill>
                    </a:rPr>
                    <a:t>(SpecReader_Development_6.0.1)</a:t>
                  </a:r>
                </a:p>
              </p:txBody>
            </p:sp>
            <p:sp>
              <p:nvSpPr>
                <p:cNvPr id="4" name="Rectangle 3">
                  <a:extLst>
                    <a:ext uri="{FF2B5EF4-FFF2-40B4-BE49-F238E27FC236}">
                      <a16:creationId xmlns:a16="http://schemas.microsoft.com/office/drawing/2014/main" id="{F8FFA28D-EE08-4425-A1BE-E1BE44EE5494}"/>
                    </a:ext>
                  </a:extLst>
                </p:cNvPr>
                <p:cNvSpPr/>
                <p:nvPr/>
              </p:nvSpPr>
              <p:spPr>
                <a:xfrm>
                  <a:off x="4698872" y="1456891"/>
                  <a:ext cx="2700734" cy="86427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Developer Develops the fix for Defect/req on Local workspace</a:t>
                  </a:r>
                </a:p>
              </p:txBody>
            </p:sp>
            <p:sp>
              <p:nvSpPr>
                <p:cNvPr id="5" name="Right Arrow 59">
                  <a:extLst>
                    <a:ext uri="{FF2B5EF4-FFF2-40B4-BE49-F238E27FC236}">
                      <a16:creationId xmlns:a16="http://schemas.microsoft.com/office/drawing/2014/main" id="{1C088A4C-AB66-4B1A-8C07-774B3FB5FEE1}"/>
                    </a:ext>
                  </a:extLst>
                </p:cNvPr>
                <p:cNvSpPr/>
                <p:nvPr/>
              </p:nvSpPr>
              <p:spPr>
                <a:xfrm rot="5400000">
                  <a:off x="5781254" y="993552"/>
                  <a:ext cx="323560" cy="3059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8" name="Oval 7" descr="1">
                  <a:extLst>
                    <a:ext uri="{FF2B5EF4-FFF2-40B4-BE49-F238E27FC236}">
                      <a16:creationId xmlns:a16="http://schemas.microsoft.com/office/drawing/2014/main" id="{E6E156E6-1C3D-446C-9F33-C731FDE8073C}"/>
                    </a:ext>
                  </a:extLst>
                </p:cNvPr>
                <p:cNvSpPr/>
                <p:nvPr/>
              </p:nvSpPr>
              <p:spPr>
                <a:xfrm>
                  <a:off x="6295212" y="1050463"/>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a:t>
                  </a:r>
                  <a:endParaRPr lang="en-US" sz="9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66745B7D-8AE2-450A-9048-E0ED4F06713A}"/>
                    </a:ext>
                  </a:extLst>
                </p:cNvPr>
                <p:cNvSpPr/>
                <p:nvPr/>
              </p:nvSpPr>
              <p:spPr>
                <a:xfrm>
                  <a:off x="4698872" y="2793322"/>
                  <a:ext cx="2700734" cy="86427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Create Own Development Branch(</a:t>
                  </a:r>
                  <a:r>
                    <a:rPr lang="en-US" sz="800" b="1" dirty="0">
                      <a:solidFill>
                        <a:schemeClr val="tx1"/>
                      </a:solidFill>
                    </a:rPr>
                    <a:t>feature</a:t>
                  </a:r>
                  <a:r>
                    <a:rPr lang="en-US" sz="800" dirty="0">
                      <a:solidFill>
                        <a:schemeClr val="tx1"/>
                      </a:solidFill>
                    </a:rPr>
                    <a:t>)  from development(</a:t>
                  </a:r>
                  <a:r>
                    <a:rPr lang="en-US" sz="700" dirty="0">
                      <a:solidFill>
                        <a:schemeClr val="tx1"/>
                      </a:solidFill>
                    </a:rPr>
                    <a:t>SpecReader_Development_6.0.1</a:t>
                  </a:r>
                  <a:r>
                    <a:rPr lang="en-US" sz="800" dirty="0">
                      <a:solidFill>
                        <a:schemeClr val="tx1"/>
                      </a:solidFill>
                    </a:rPr>
                    <a:t>) branch</a:t>
                  </a:r>
                </a:p>
              </p:txBody>
            </p:sp>
            <p:sp>
              <p:nvSpPr>
                <p:cNvPr id="10" name="Right Arrow 59">
                  <a:extLst>
                    <a:ext uri="{FF2B5EF4-FFF2-40B4-BE49-F238E27FC236}">
                      <a16:creationId xmlns:a16="http://schemas.microsoft.com/office/drawing/2014/main" id="{5688A245-1DDB-498A-B40E-B53B1F9D9D9D}"/>
                    </a:ext>
                  </a:extLst>
                </p:cNvPr>
                <p:cNvSpPr/>
                <p:nvPr/>
              </p:nvSpPr>
              <p:spPr>
                <a:xfrm rot="5400000">
                  <a:off x="5781254" y="2443408"/>
                  <a:ext cx="323560" cy="3059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1" name="Oval 10" descr="1">
                  <a:extLst>
                    <a:ext uri="{FF2B5EF4-FFF2-40B4-BE49-F238E27FC236}">
                      <a16:creationId xmlns:a16="http://schemas.microsoft.com/office/drawing/2014/main" id="{0AD1875A-1774-4D8C-9127-0608D367A0DC}"/>
                    </a:ext>
                  </a:extLst>
                </p:cNvPr>
                <p:cNvSpPr/>
                <p:nvPr/>
              </p:nvSpPr>
              <p:spPr>
                <a:xfrm>
                  <a:off x="6295212" y="2383819"/>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a:t>
                  </a:r>
                  <a:endParaRPr lang="en-US" sz="9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761FD3A8-7713-4FB7-88E1-571884230EDC}"/>
                    </a:ext>
                  </a:extLst>
                </p:cNvPr>
                <p:cNvSpPr/>
                <p:nvPr/>
              </p:nvSpPr>
              <p:spPr>
                <a:xfrm>
                  <a:off x="4698872" y="4129753"/>
                  <a:ext cx="2700734" cy="86427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Developer merges his code into feature branch(Ex: SpecsReader_Dev)</a:t>
                  </a:r>
                </a:p>
              </p:txBody>
            </p:sp>
            <p:sp>
              <p:nvSpPr>
                <p:cNvPr id="13" name="Right Arrow 59">
                  <a:extLst>
                    <a:ext uri="{FF2B5EF4-FFF2-40B4-BE49-F238E27FC236}">
                      <a16:creationId xmlns:a16="http://schemas.microsoft.com/office/drawing/2014/main" id="{29E1E374-10C3-4802-9A3A-7F972D1180E5}"/>
                    </a:ext>
                  </a:extLst>
                </p:cNvPr>
                <p:cNvSpPr/>
                <p:nvPr/>
              </p:nvSpPr>
              <p:spPr>
                <a:xfrm rot="5400000">
                  <a:off x="5816343" y="3753242"/>
                  <a:ext cx="323560" cy="3059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4" name="Oval 13" descr="1">
                  <a:extLst>
                    <a:ext uri="{FF2B5EF4-FFF2-40B4-BE49-F238E27FC236}">
                      <a16:creationId xmlns:a16="http://schemas.microsoft.com/office/drawing/2014/main" id="{CE796C80-FC4B-4A38-AECB-D45550970606}"/>
                    </a:ext>
                  </a:extLst>
                </p:cNvPr>
                <p:cNvSpPr/>
                <p:nvPr/>
              </p:nvSpPr>
              <p:spPr>
                <a:xfrm>
                  <a:off x="6331430" y="3719365"/>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a:t>
                  </a:r>
                  <a:endParaRPr lang="en-US" sz="9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E8C60248-0EB9-46AD-A5B0-6D34A68C3E38}"/>
                    </a:ext>
                  </a:extLst>
                </p:cNvPr>
                <p:cNvSpPr/>
                <p:nvPr/>
              </p:nvSpPr>
              <p:spPr>
                <a:xfrm>
                  <a:off x="4756729" y="5443313"/>
                  <a:ext cx="2700735" cy="102450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Create pull request to merge feature branch into   development branch (SpecReader_Development_6.0.1)</a:t>
                  </a:r>
                </a:p>
              </p:txBody>
            </p:sp>
            <p:sp>
              <p:nvSpPr>
                <p:cNvPr id="16" name="Right Arrow 59">
                  <a:extLst>
                    <a:ext uri="{FF2B5EF4-FFF2-40B4-BE49-F238E27FC236}">
                      <a16:creationId xmlns:a16="http://schemas.microsoft.com/office/drawing/2014/main" id="{BEEC400A-4048-4074-9513-FB525F806603}"/>
                    </a:ext>
                  </a:extLst>
                </p:cNvPr>
                <p:cNvSpPr/>
                <p:nvPr/>
              </p:nvSpPr>
              <p:spPr>
                <a:xfrm rot="5400000">
                  <a:off x="5887459" y="5093396"/>
                  <a:ext cx="323560" cy="3059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7" name="Oval 16" descr="1">
                  <a:extLst>
                    <a:ext uri="{FF2B5EF4-FFF2-40B4-BE49-F238E27FC236}">
                      <a16:creationId xmlns:a16="http://schemas.microsoft.com/office/drawing/2014/main" id="{C352692E-C56E-4B9F-9C37-2D60773392F1}"/>
                    </a:ext>
                  </a:extLst>
                </p:cNvPr>
                <p:cNvSpPr/>
                <p:nvPr/>
              </p:nvSpPr>
              <p:spPr>
                <a:xfrm>
                  <a:off x="6318331" y="5055353"/>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a:t>
                  </a:r>
                  <a:endParaRPr lang="en-US" sz="9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grpSp>
          <p:sp>
            <p:nvSpPr>
              <p:cNvPr id="22" name="Rectangle 21">
                <a:extLst>
                  <a:ext uri="{FF2B5EF4-FFF2-40B4-BE49-F238E27FC236}">
                    <a16:creationId xmlns:a16="http://schemas.microsoft.com/office/drawing/2014/main" id="{F0BDDCE8-784A-433F-9442-E7491772AA92}"/>
                  </a:ext>
                </a:extLst>
              </p:cNvPr>
              <p:cNvSpPr/>
              <p:nvPr/>
            </p:nvSpPr>
            <p:spPr>
              <a:xfrm>
                <a:off x="6575610" y="387713"/>
                <a:ext cx="2700734" cy="86427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Git Development Branch</a:t>
                </a:r>
              </a:p>
              <a:p>
                <a:pPr algn="ctr"/>
                <a:r>
                  <a:rPr lang="en-US" sz="800" dirty="0">
                    <a:solidFill>
                      <a:schemeClr val="tx1"/>
                    </a:solidFill>
                  </a:rPr>
                  <a:t>Updated with latest code</a:t>
                </a:r>
              </a:p>
            </p:txBody>
          </p:sp>
          <p:sp>
            <p:nvSpPr>
              <p:cNvPr id="23" name="Rectangle 22">
                <a:extLst>
                  <a:ext uri="{FF2B5EF4-FFF2-40B4-BE49-F238E27FC236}">
                    <a16:creationId xmlns:a16="http://schemas.microsoft.com/office/drawing/2014/main" id="{85B71601-5A5B-4C3E-B753-99013438A1A6}"/>
                  </a:ext>
                </a:extLst>
              </p:cNvPr>
              <p:cNvSpPr/>
              <p:nvPr/>
            </p:nvSpPr>
            <p:spPr>
              <a:xfrm>
                <a:off x="6531288" y="1681551"/>
                <a:ext cx="2700734" cy="86427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Deploy Development branch into DEVS/DEVAP environment from pipeline</a:t>
                </a:r>
              </a:p>
            </p:txBody>
          </p:sp>
          <p:sp>
            <p:nvSpPr>
              <p:cNvPr id="24" name="Right Arrow 59">
                <a:extLst>
                  <a:ext uri="{FF2B5EF4-FFF2-40B4-BE49-F238E27FC236}">
                    <a16:creationId xmlns:a16="http://schemas.microsoft.com/office/drawing/2014/main" id="{3A7A4CEF-8BBE-449E-8630-AB616C4BA4C2}"/>
                  </a:ext>
                </a:extLst>
              </p:cNvPr>
              <p:cNvSpPr/>
              <p:nvPr/>
            </p:nvSpPr>
            <p:spPr>
              <a:xfrm rot="5400000">
                <a:off x="7727979" y="1258226"/>
                <a:ext cx="323560" cy="3059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5" name="Oval 24" descr="1">
                <a:extLst>
                  <a:ext uri="{FF2B5EF4-FFF2-40B4-BE49-F238E27FC236}">
                    <a16:creationId xmlns:a16="http://schemas.microsoft.com/office/drawing/2014/main" id="{35BB502E-42B6-4D61-A1B7-8C28655513E5}"/>
                  </a:ext>
                </a:extLst>
              </p:cNvPr>
              <p:cNvSpPr/>
              <p:nvPr/>
            </p:nvSpPr>
            <p:spPr>
              <a:xfrm>
                <a:off x="8840986" y="1315137"/>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a:t>
                </a:r>
                <a:endParaRPr lang="en-US" sz="9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6" name="Diamond 25">
                <a:extLst>
                  <a:ext uri="{FF2B5EF4-FFF2-40B4-BE49-F238E27FC236}">
                    <a16:creationId xmlns:a16="http://schemas.microsoft.com/office/drawing/2014/main" id="{7834BB8E-0E64-4108-8768-62EE0C6958B5}"/>
                  </a:ext>
                </a:extLst>
              </p:cNvPr>
              <p:cNvSpPr/>
              <p:nvPr/>
            </p:nvSpPr>
            <p:spPr>
              <a:xfrm>
                <a:off x="5188658" y="5985289"/>
                <a:ext cx="643420" cy="469900"/>
              </a:xfrm>
              <a:prstGeom prst="diamond">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46" name="TextBox 45">
                <a:extLst>
                  <a:ext uri="{FF2B5EF4-FFF2-40B4-BE49-F238E27FC236}">
                    <a16:creationId xmlns:a16="http://schemas.microsoft.com/office/drawing/2014/main" id="{E148079D-1612-4CEB-8145-D3F359227BD3}"/>
                  </a:ext>
                </a:extLst>
              </p:cNvPr>
              <p:cNvSpPr txBox="1"/>
              <p:nvPr/>
            </p:nvSpPr>
            <p:spPr>
              <a:xfrm rot="16200000">
                <a:off x="5692067" y="3357812"/>
                <a:ext cx="877574" cy="437483"/>
              </a:xfrm>
              <a:prstGeom prst="rect">
                <a:avLst/>
              </a:prstGeom>
              <a:noFill/>
            </p:spPr>
            <p:txBody>
              <a:bodyPr wrap="square" rtlCol="0">
                <a:spAutoFit/>
              </a:bodyPr>
              <a:lstStyle/>
              <a:p>
                <a:r>
                  <a:rPr lang="en-US" sz="1050" dirty="0">
                    <a:solidFill>
                      <a:srgbClr val="00B050"/>
                    </a:solidFill>
                  </a:rPr>
                  <a:t>Pass</a:t>
                </a:r>
                <a:endParaRPr lang="en-US" sz="1000" dirty="0">
                  <a:solidFill>
                    <a:srgbClr val="00B050"/>
                  </a:solidFill>
                </a:endParaRPr>
              </a:p>
            </p:txBody>
          </p:sp>
          <p:sp>
            <p:nvSpPr>
              <p:cNvPr id="58" name="TextBox 57">
                <a:extLst>
                  <a:ext uri="{FF2B5EF4-FFF2-40B4-BE49-F238E27FC236}">
                    <a16:creationId xmlns:a16="http://schemas.microsoft.com/office/drawing/2014/main" id="{D4FF5D9E-E0EC-48C3-ABA8-942AFF7C5AF6}"/>
                  </a:ext>
                </a:extLst>
              </p:cNvPr>
              <p:cNvSpPr txBox="1"/>
              <p:nvPr/>
            </p:nvSpPr>
            <p:spPr>
              <a:xfrm>
                <a:off x="4853787" y="1917588"/>
                <a:ext cx="1117682" cy="343500"/>
              </a:xfrm>
              <a:prstGeom prst="rect">
                <a:avLst/>
              </a:prstGeom>
              <a:noFill/>
            </p:spPr>
            <p:txBody>
              <a:bodyPr wrap="square" rtlCol="0">
                <a:spAutoFit/>
              </a:bodyPr>
              <a:lstStyle/>
              <a:p>
                <a:r>
                  <a:rPr lang="en-US" sz="1050" dirty="0">
                    <a:solidFill>
                      <a:srgbClr val="FF0000"/>
                    </a:solidFill>
                  </a:rPr>
                  <a:t>Fail</a:t>
                </a:r>
                <a:endParaRPr lang="en-US" sz="1000" dirty="0">
                  <a:solidFill>
                    <a:srgbClr val="FF0000"/>
                  </a:solidFill>
                </a:endParaRPr>
              </a:p>
            </p:txBody>
          </p:sp>
        </p:grpSp>
        <p:sp>
          <p:nvSpPr>
            <p:cNvPr id="62" name="Rectangle 61">
              <a:extLst>
                <a:ext uri="{FF2B5EF4-FFF2-40B4-BE49-F238E27FC236}">
                  <a16:creationId xmlns:a16="http://schemas.microsoft.com/office/drawing/2014/main" id="{CC56E4F0-0248-4186-ADEB-8504FDE92CC6}"/>
                </a:ext>
              </a:extLst>
            </p:cNvPr>
            <p:cNvSpPr/>
            <p:nvPr/>
          </p:nvSpPr>
          <p:spPr>
            <a:xfrm>
              <a:off x="8243852" y="3115955"/>
              <a:ext cx="1615008" cy="658235"/>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Developer will perform the unit testing </a:t>
              </a:r>
            </a:p>
          </p:txBody>
        </p:sp>
        <p:sp>
          <p:nvSpPr>
            <p:cNvPr id="63" name="Oval 62" descr="1">
              <a:extLst>
                <a:ext uri="{FF2B5EF4-FFF2-40B4-BE49-F238E27FC236}">
                  <a16:creationId xmlns:a16="http://schemas.microsoft.com/office/drawing/2014/main" id="{7D0E8A2F-2011-4803-B8E9-6BE628D376F5}"/>
                </a:ext>
              </a:extLst>
            </p:cNvPr>
            <p:cNvSpPr/>
            <p:nvPr/>
          </p:nvSpPr>
          <p:spPr>
            <a:xfrm>
              <a:off x="9633437" y="2824820"/>
              <a:ext cx="277607" cy="25948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6</a:t>
              </a:r>
              <a:endParaRPr lang="en-US" sz="9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4" name="Right Arrow 59">
              <a:extLst>
                <a:ext uri="{FF2B5EF4-FFF2-40B4-BE49-F238E27FC236}">
                  <a16:creationId xmlns:a16="http://schemas.microsoft.com/office/drawing/2014/main" id="{589D58BD-A563-409C-BEBF-E17E214916CD}"/>
                </a:ext>
              </a:extLst>
            </p:cNvPr>
            <p:cNvSpPr/>
            <p:nvPr/>
          </p:nvSpPr>
          <p:spPr>
            <a:xfrm rot="5400000">
              <a:off x="8946236" y="2858368"/>
              <a:ext cx="246424" cy="1829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65" name="Diamond 64">
              <a:extLst>
                <a:ext uri="{FF2B5EF4-FFF2-40B4-BE49-F238E27FC236}">
                  <a16:creationId xmlns:a16="http://schemas.microsoft.com/office/drawing/2014/main" id="{983284CA-EAF3-4C40-AA93-86C89991CE3C}"/>
                </a:ext>
              </a:extLst>
            </p:cNvPr>
            <p:cNvSpPr/>
            <p:nvPr/>
          </p:nvSpPr>
          <p:spPr>
            <a:xfrm>
              <a:off x="9867656" y="3266135"/>
              <a:ext cx="180770" cy="357876"/>
            </a:xfrm>
            <a:prstGeom prst="diamond">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74" name="Rectangle 73">
              <a:extLst>
                <a:ext uri="{FF2B5EF4-FFF2-40B4-BE49-F238E27FC236}">
                  <a16:creationId xmlns:a16="http://schemas.microsoft.com/office/drawing/2014/main" id="{25EC2881-BB5C-4D22-9ACE-830BCD6C7850}"/>
                </a:ext>
              </a:extLst>
            </p:cNvPr>
            <p:cNvSpPr/>
            <p:nvPr/>
          </p:nvSpPr>
          <p:spPr>
            <a:xfrm>
              <a:off x="9147674" y="4140308"/>
              <a:ext cx="1634369" cy="73334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Pull request will be raised to merge  </a:t>
              </a:r>
            </a:p>
            <a:p>
              <a:pPr algn="ctr"/>
              <a:r>
                <a:rPr lang="en-US" sz="800" b="1" dirty="0">
                  <a:solidFill>
                    <a:schemeClr val="tx1"/>
                  </a:solidFill>
                </a:rPr>
                <a:t>Specreader_Release_6.0.1 from developer created feature/defect branch</a:t>
              </a:r>
            </a:p>
          </p:txBody>
        </p:sp>
        <p:cxnSp>
          <p:nvCxnSpPr>
            <p:cNvPr id="76" name="Straight Arrow Connector 75">
              <a:extLst>
                <a:ext uri="{FF2B5EF4-FFF2-40B4-BE49-F238E27FC236}">
                  <a16:creationId xmlns:a16="http://schemas.microsoft.com/office/drawing/2014/main" id="{45D3B304-114A-4A60-9CC3-6C9BE6B80DE4}"/>
                </a:ext>
              </a:extLst>
            </p:cNvPr>
            <p:cNvCxnSpPr>
              <a:cxnSpLocks/>
            </p:cNvCxnSpPr>
            <p:nvPr/>
          </p:nvCxnSpPr>
          <p:spPr>
            <a:xfrm>
              <a:off x="9954485" y="3584041"/>
              <a:ext cx="0" cy="55250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77" name="TextBox 76">
              <a:extLst>
                <a:ext uri="{FF2B5EF4-FFF2-40B4-BE49-F238E27FC236}">
                  <a16:creationId xmlns:a16="http://schemas.microsoft.com/office/drawing/2014/main" id="{517DF863-C944-4503-A305-3C9ABF43BB42}"/>
                </a:ext>
              </a:extLst>
            </p:cNvPr>
            <p:cNvSpPr txBox="1"/>
            <p:nvPr/>
          </p:nvSpPr>
          <p:spPr>
            <a:xfrm>
              <a:off x="9957887" y="3814588"/>
              <a:ext cx="668361" cy="261610"/>
            </a:xfrm>
            <a:prstGeom prst="rect">
              <a:avLst/>
            </a:prstGeom>
            <a:noFill/>
          </p:spPr>
          <p:txBody>
            <a:bodyPr wrap="square" rtlCol="0">
              <a:spAutoFit/>
            </a:bodyPr>
            <a:lstStyle/>
            <a:p>
              <a:r>
                <a:rPr lang="en-US" sz="1050" dirty="0">
                  <a:solidFill>
                    <a:srgbClr val="00B050"/>
                  </a:solidFill>
                </a:rPr>
                <a:t>Pass</a:t>
              </a:r>
              <a:endParaRPr lang="en-US" sz="1000" dirty="0">
                <a:solidFill>
                  <a:srgbClr val="00B050"/>
                </a:solidFill>
              </a:endParaRPr>
            </a:p>
          </p:txBody>
        </p:sp>
        <p:sp>
          <p:nvSpPr>
            <p:cNvPr id="81" name="Rectangle 80">
              <a:extLst>
                <a:ext uri="{FF2B5EF4-FFF2-40B4-BE49-F238E27FC236}">
                  <a16:creationId xmlns:a16="http://schemas.microsoft.com/office/drawing/2014/main" id="{DC1F2585-5B6A-4487-9C4F-4BF9345A8833}"/>
                </a:ext>
              </a:extLst>
            </p:cNvPr>
            <p:cNvSpPr/>
            <p:nvPr/>
          </p:nvSpPr>
          <p:spPr>
            <a:xfrm>
              <a:off x="10591032" y="3132385"/>
              <a:ext cx="1074314" cy="641805"/>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Repeat the process from step </a:t>
              </a:r>
            </a:p>
          </p:txBody>
        </p:sp>
        <p:sp>
          <p:nvSpPr>
            <p:cNvPr id="83" name="TextBox 82">
              <a:extLst>
                <a:ext uri="{FF2B5EF4-FFF2-40B4-BE49-F238E27FC236}">
                  <a16:creationId xmlns:a16="http://schemas.microsoft.com/office/drawing/2014/main" id="{72115B3F-5899-48AF-8EA6-94FEB811F7D4}"/>
                </a:ext>
              </a:extLst>
            </p:cNvPr>
            <p:cNvSpPr txBox="1"/>
            <p:nvPr/>
          </p:nvSpPr>
          <p:spPr>
            <a:xfrm>
              <a:off x="10137450" y="3144804"/>
              <a:ext cx="376534" cy="253916"/>
            </a:xfrm>
            <a:prstGeom prst="rect">
              <a:avLst/>
            </a:prstGeom>
            <a:noFill/>
          </p:spPr>
          <p:txBody>
            <a:bodyPr wrap="square" rtlCol="0">
              <a:spAutoFit/>
            </a:bodyPr>
            <a:lstStyle/>
            <a:p>
              <a:r>
                <a:rPr lang="en-US" sz="1050" dirty="0">
                  <a:solidFill>
                    <a:srgbClr val="FF0000"/>
                  </a:solidFill>
                </a:rPr>
                <a:t>Fail</a:t>
              </a:r>
              <a:endParaRPr lang="en-US" sz="1000" dirty="0">
                <a:solidFill>
                  <a:srgbClr val="FF0000"/>
                </a:solidFill>
              </a:endParaRPr>
            </a:p>
          </p:txBody>
        </p:sp>
        <p:sp>
          <p:nvSpPr>
            <p:cNvPr id="84" name="Oval 83" descr="1">
              <a:extLst>
                <a:ext uri="{FF2B5EF4-FFF2-40B4-BE49-F238E27FC236}">
                  <a16:creationId xmlns:a16="http://schemas.microsoft.com/office/drawing/2014/main" id="{C850FAFA-99A0-490B-AAC8-D918F5E7980B}"/>
                </a:ext>
              </a:extLst>
            </p:cNvPr>
            <p:cNvSpPr/>
            <p:nvPr/>
          </p:nvSpPr>
          <p:spPr>
            <a:xfrm>
              <a:off x="11365566" y="3458219"/>
              <a:ext cx="277607" cy="25948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a:t>
              </a:r>
              <a:endParaRPr lang="en-US" sz="9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94" name="Right Arrow 59">
              <a:extLst>
                <a:ext uri="{FF2B5EF4-FFF2-40B4-BE49-F238E27FC236}">
                  <a16:creationId xmlns:a16="http://schemas.microsoft.com/office/drawing/2014/main" id="{967F23A0-0501-47C1-A16B-E1CACA087C3F}"/>
                </a:ext>
              </a:extLst>
            </p:cNvPr>
            <p:cNvSpPr/>
            <p:nvPr/>
          </p:nvSpPr>
          <p:spPr>
            <a:xfrm rot="5400000">
              <a:off x="9853624" y="4944531"/>
              <a:ext cx="246424" cy="1829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95" name="Rectangle 94">
              <a:extLst>
                <a:ext uri="{FF2B5EF4-FFF2-40B4-BE49-F238E27FC236}">
                  <a16:creationId xmlns:a16="http://schemas.microsoft.com/office/drawing/2014/main" id="{12717DFF-EC5C-4027-A0AA-0E18B9171D91}"/>
                </a:ext>
              </a:extLst>
            </p:cNvPr>
            <p:cNvSpPr/>
            <p:nvPr/>
          </p:nvSpPr>
          <p:spPr>
            <a:xfrm>
              <a:off x="9159651" y="5213682"/>
              <a:ext cx="1634369" cy="73334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rPr>
                <a:t>Specreader_Release_6.0.1 will be deployed into SIT/QA/PROD</a:t>
              </a:r>
            </a:p>
          </p:txBody>
        </p:sp>
        <p:sp>
          <p:nvSpPr>
            <p:cNvPr id="96" name="Oval 95" descr="1">
              <a:extLst>
                <a:ext uri="{FF2B5EF4-FFF2-40B4-BE49-F238E27FC236}">
                  <a16:creationId xmlns:a16="http://schemas.microsoft.com/office/drawing/2014/main" id="{6CBEF109-2063-424A-8459-CD41A8CB7899}"/>
                </a:ext>
              </a:extLst>
            </p:cNvPr>
            <p:cNvSpPr/>
            <p:nvPr/>
          </p:nvSpPr>
          <p:spPr>
            <a:xfrm>
              <a:off x="10153264" y="4928119"/>
              <a:ext cx="277607" cy="25948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7</a:t>
              </a:r>
              <a:endParaRPr lang="en-US" sz="9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cxnSp>
          <p:nvCxnSpPr>
            <p:cNvPr id="100" name="Straight Arrow Connector 99">
              <a:extLst>
                <a:ext uri="{FF2B5EF4-FFF2-40B4-BE49-F238E27FC236}">
                  <a16:creationId xmlns:a16="http://schemas.microsoft.com/office/drawing/2014/main" id="{597A599F-9F78-4D45-81AE-96F111ABA88D}"/>
                </a:ext>
              </a:extLst>
            </p:cNvPr>
            <p:cNvCxnSpPr>
              <a:cxnSpLocks/>
            </p:cNvCxnSpPr>
            <p:nvPr/>
          </p:nvCxnSpPr>
          <p:spPr>
            <a:xfrm>
              <a:off x="10059895" y="3449528"/>
              <a:ext cx="522724" cy="3759"/>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cxnSp>
          <p:nvCxnSpPr>
            <p:cNvPr id="6" name="Connector: Elbow 5">
              <a:extLst>
                <a:ext uri="{FF2B5EF4-FFF2-40B4-BE49-F238E27FC236}">
                  <a16:creationId xmlns:a16="http://schemas.microsoft.com/office/drawing/2014/main" id="{A6C0C82A-1995-4CC4-9AA8-05F703B66013}"/>
                </a:ext>
              </a:extLst>
            </p:cNvPr>
            <p:cNvCxnSpPr>
              <a:cxnSpLocks/>
              <a:stCxn id="26" idx="3"/>
              <a:endCxn id="22" idx="1"/>
            </p:cNvCxnSpPr>
            <p:nvPr/>
          </p:nvCxnSpPr>
          <p:spPr>
            <a:xfrm flipV="1">
              <a:off x="7825733" y="1443954"/>
              <a:ext cx="444624" cy="4112938"/>
            </a:xfrm>
            <a:prstGeom prst="bentConnector3">
              <a:avLst>
                <a:gd name="adj1" fmla="val 50000"/>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02BCB15F-A92F-4967-9B7E-AEA6CEC732C6}"/>
                </a:ext>
              </a:extLst>
            </p:cNvPr>
            <p:cNvCxnSpPr>
              <a:cxnSpLocks/>
              <a:stCxn id="26" idx="0"/>
              <a:endCxn id="4" idx="3"/>
            </p:cNvCxnSpPr>
            <p:nvPr/>
          </p:nvCxnSpPr>
          <p:spPr>
            <a:xfrm rot="16200000" flipV="1">
              <a:off x="5872686" y="3617286"/>
              <a:ext cx="2918138" cy="603198"/>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224121DE-5D69-4C7F-936B-2192AFE8881B}"/>
                </a:ext>
              </a:extLst>
            </p:cNvPr>
            <p:cNvCxnSpPr>
              <a:stCxn id="15" idx="3"/>
              <a:endCxn id="26" idx="1"/>
            </p:cNvCxnSpPr>
            <p:nvPr/>
          </p:nvCxnSpPr>
          <p:spPr>
            <a:xfrm>
              <a:off x="7064755" y="5556892"/>
              <a:ext cx="376220"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42" name="Straight Connector 41">
            <a:extLst>
              <a:ext uri="{FF2B5EF4-FFF2-40B4-BE49-F238E27FC236}">
                <a16:creationId xmlns:a16="http://schemas.microsoft.com/office/drawing/2014/main" id="{3C0D58A2-A394-40E5-BCF3-EF729CC53366}"/>
              </a:ext>
            </a:extLst>
          </p:cNvPr>
          <p:cNvCxnSpPr>
            <a:cxnSpLocks/>
          </p:cNvCxnSpPr>
          <p:nvPr/>
        </p:nvCxnSpPr>
        <p:spPr>
          <a:xfrm>
            <a:off x="5797266" y="821797"/>
            <a:ext cx="0" cy="4389120"/>
          </a:xfrm>
          <a:prstGeom prst="line">
            <a:avLst/>
          </a:prstGeom>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2A030F6D-E324-498D-903E-DF7EB6AF077A}"/>
              </a:ext>
            </a:extLst>
          </p:cNvPr>
          <p:cNvSpPr txBox="1"/>
          <p:nvPr/>
        </p:nvSpPr>
        <p:spPr>
          <a:xfrm>
            <a:off x="253645" y="143678"/>
            <a:ext cx="8182096" cy="369332"/>
          </a:xfrm>
          <a:prstGeom prst="rect">
            <a:avLst/>
          </a:prstGeom>
          <a:noFill/>
        </p:spPr>
        <p:txBody>
          <a:bodyPr wrap="square" rtlCol="0">
            <a:spAutoFit/>
          </a:bodyPr>
          <a:lstStyle/>
          <a:p>
            <a:r>
              <a:rPr lang="en-US" dirty="0"/>
              <a:t>Workflow:</a:t>
            </a:r>
            <a:endParaRPr lang="en-IN" dirty="0"/>
          </a:p>
        </p:txBody>
      </p:sp>
    </p:spTree>
    <p:extLst>
      <p:ext uri="{BB962C8B-B14F-4D97-AF65-F5344CB8AC3E}">
        <p14:creationId xmlns:p14="http://schemas.microsoft.com/office/powerpoint/2010/main" val="43064146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1635C3DD-54A0-4B1F-94F7-224DA311AFA9}"/>
              </a:ext>
            </a:extLst>
          </p:cNvPr>
          <p:cNvGraphicFramePr>
            <a:graphicFrameLocks noChangeAspect="1"/>
          </p:cNvGraphicFramePr>
          <p:nvPr>
            <p:extLst>
              <p:ext uri="{D42A27DB-BD31-4B8C-83A1-F6EECF244321}">
                <p14:modId xmlns:p14="http://schemas.microsoft.com/office/powerpoint/2010/main" val="1849566674"/>
              </p:ext>
            </p:extLst>
          </p:nvPr>
        </p:nvGraphicFramePr>
        <p:xfrm>
          <a:off x="9516679" y="502964"/>
          <a:ext cx="1655808" cy="1397087"/>
        </p:xfrm>
        <a:graphic>
          <a:graphicData uri="http://schemas.openxmlformats.org/presentationml/2006/ole">
            <mc:AlternateContent xmlns:mc="http://schemas.openxmlformats.org/markup-compatibility/2006">
              <mc:Choice xmlns:v="urn:schemas-microsoft-com:vml" Requires="v">
                <p:oleObj spid="_x0000_s2238" name="Document" showAsIcon="1" r:id="rId3" imgW="914570" imgH="771690" progId="Word.Document.12">
                  <p:embed/>
                </p:oleObj>
              </mc:Choice>
              <mc:Fallback>
                <p:oleObj name="Document" showAsIcon="1" r:id="rId3" imgW="914570" imgH="771690" progId="Word.Document.12">
                  <p:embed/>
                  <p:pic>
                    <p:nvPicPr>
                      <p:cNvPr id="0" name=""/>
                      <p:cNvPicPr/>
                      <p:nvPr/>
                    </p:nvPicPr>
                    <p:blipFill>
                      <a:blip r:embed="rId4"/>
                      <a:stretch>
                        <a:fillRect/>
                      </a:stretch>
                    </p:blipFill>
                    <p:spPr>
                      <a:xfrm>
                        <a:off x="9516679" y="502964"/>
                        <a:ext cx="1655808" cy="1397087"/>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B136FDD0-5362-4923-9F4E-A05FEEC37F64}"/>
              </a:ext>
            </a:extLst>
          </p:cNvPr>
          <p:cNvSpPr>
            <a:spLocks noGrp="1"/>
          </p:cNvSpPr>
          <p:nvPr>
            <p:ph type="title"/>
          </p:nvPr>
        </p:nvSpPr>
        <p:spPr>
          <a:xfrm>
            <a:off x="280633" y="805262"/>
            <a:ext cx="11630733" cy="2936744"/>
          </a:xfrm>
        </p:spPr>
        <p:txBody>
          <a:bodyPr/>
          <a:lstStyle/>
          <a:p>
            <a:r>
              <a:rPr lang="en-US" u="sng" dirty="0"/>
              <a:t>Attached the Word document which explains below points:</a:t>
            </a:r>
            <a:br>
              <a:rPr lang="en-US" dirty="0"/>
            </a:br>
            <a:br>
              <a:rPr lang="en-US" dirty="0"/>
            </a:br>
            <a:r>
              <a:rPr lang="en-US" dirty="0"/>
              <a:t>1. Git Desktop installation and set up</a:t>
            </a:r>
            <a:br>
              <a:rPr lang="en-US" dirty="0"/>
            </a:br>
            <a:br>
              <a:rPr lang="en-US" dirty="0"/>
            </a:br>
            <a:r>
              <a:rPr lang="en-US" dirty="0"/>
              <a:t>2. Updating latest workspace, create branch, code merge and create pull request with screenshots</a:t>
            </a:r>
            <a:br>
              <a:rPr lang="en-US" dirty="0"/>
            </a:br>
            <a:br>
              <a:rPr lang="en-US" dirty="0"/>
            </a:br>
            <a:r>
              <a:rPr lang="en-US" dirty="0"/>
              <a:t>P</a:t>
            </a:r>
            <a:r>
              <a:rPr lang="en-US" sz="2000" dirty="0"/>
              <a:t>&amp;</a:t>
            </a:r>
            <a:r>
              <a:rPr lang="en-US" dirty="0"/>
              <a:t>G Specs Reader git repo:  </a:t>
            </a:r>
            <a:r>
              <a:rPr lang="en-US" i="1" dirty="0">
                <a:hlinkClick r:id="rId5"/>
              </a:rPr>
              <a:t>https://github.com/procter-gamble/SpecAnywhere.git</a:t>
            </a:r>
            <a:br>
              <a:rPr lang="en-US" dirty="0"/>
            </a:br>
            <a:br>
              <a:rPr lang="en-US" dirty="0"/>
            </a:br>
            <a:br>
              <a:rPr lang="en-US" dirty="0"/>
            </a:br>
            <a:br>
              <a:rPr lang="en-US" dirty="0"/>
            </a:br>
            <a:endParaRPr lang="en-US" dirty="0"/>
          </a:p>
        </p:txBody>
      </p:sp>
    </p:spTree>
    <p:extLst>
      <p:ext uri="{BB962C8B-B14F-4D97-AF65-F5344CB8AC3E}">
        <p14:creationId xmlns:p14="http://schemas.microsoft.com/office/powerpoint/2010/main" val="114882970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6726" y="1716478"/>
            <a:ext cx="4233863" cy="908189"/>
          </a:xfrm>
        </p:spPr>
        <p:txBody>
          <a:bodyPr>
            <a:normAutofit/>
          </a:bodyPr>
          <a:lstStyle/>
          <a:p>
            <a:pPr algn="ctr"/>
            <a:r>
              <a:rPr lang="en-US" sz="3600" kern="1200" dirty="0">
                <a:solidFill>
                  <a:srgbClr val="007CC3"/>
                </a:solidFill>
                <a:latin typeface="+mn-lt"/>
                <a:sym typeface="Calibri"/>
              </a:rPr>
              <a:t>Thank you!</a:t>
            </a:r>
          </a:p>
        </p:txBody>
      </p:sp>
    </p:spTree>
    <p:extLst>
      <p:ext uri="{BB962C8B-B14F-4D97-AF65-F5344CB8AC3E}">
        <p14:creationId xmlns:p14="http://schemas.microsoft.com/office/powerpoint/2010/main" val="321640049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Workflow for code delivery">
            <a:extLst>
              <a:ext uri="{FF2B5EF4-FFF2-40B4-BE49-F238E27FC236}">
                <a16:creationId xmlns:a16="http://schemas.microsoft.com/office/drawing/2014/main" id="{D36FB742-DF10-4688-B44D-8196AFBABA4B}"/>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52011" y="238156"/>
            <a:ext cx="6883729" cy="6072930"/>
          </a:xfrm>
          <a:prstGeom prst="rect">
            <a:avLst/>
          </a:prstGeom>
        </p:spPr>
      </p:pic>
    </p:spTree>
    <p:extLst>
      <p:ext uri="{BB962C8B-B14F-4D97-AF65-F5344CB8AC3E}">
        <p14:creationId xmlns:p14="http://schemas.microsoft.com/office/powerpoint/2010/main" val="97433313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FF642F-66BE-49F1-BAF7-20DEFA169962}"/>
              </a:ext>
            </a:extLst>
          </p:cNvPr>
          <p:cNvPicPr>
            <a:picLocks noChangeAspect="1"/>
          </p:cNvPicPr>
          <p:nvPr/>
        </p:nvPicPr>
        <p:blipFill>
          <a:blip r:embed="rId2"/>
          <a:stretch>
            <a:fillRect/>
          </a:stretch>
        </p:blipFill>
        <p:spPr>
          <a:xfrm>
            <a:off x="3924945" y="415313"/>
            <a:ext cx="5075090" cy="3657923"/>
          </a:xfrm>
          <a:prstGeom prst="rect">
            <a:avLst/>
          </a:prstGeom>
        </p:spPr>
      </p:pic>
    </p:spTree>
    <p:extLst>
      <p:ext uri="{BB962C8B-B14F-4D97-AF65-F5344CB8AC3E}">
        <p14:creationId xmlns:p14="http://schemas.microsoft.com/office/powerpoint/2010/main" val="278018291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 name="Group 109">
            <a:extLst>
              <a:ext uri="{FF2B5EF4-FFF2-40B4-BE49-F238E27FC236}">
                <a16:creationId xmlns:a16="http://schemas.microsoft.com/office/drawing/2014/main" id="{63D04E4A-24A1-4017-8CFB-2A88089E7DA0}"/>
              </a:ext>
            </a:extLst>
          </p:cNvPr>
          <p:cNvGrpSpPr/>
          <p:nvPr/>
        </p:nvGrpSpPr>
        <p:grpSpPr>
          <a:xfrm>
            <a:off x="886517" y="70336"/>
            <a:ext cx="10792296" cy="6612459"/>
            <a:chOff x="1139741" y="70336"/>
            <a:chExt cx="10792296" cy="6612459"/>
          </a:xfrm>
        </p:grpSpPr>
        <p:grpSp>
          <p:nvGrpSpPr>
            <p:cNvPr id="82" name="Group 81">
              <a:extLst>
                <a:ext uri="{FF2B5EF4-FFF2-40B4-BE49-F238E27FC236}">
                  <a16:creationId xmlns:a16="http://schemas.microsoft.com/office/drawing/2014/main" id="{BE7367D3-DAD3-4F50-9353-0E1B60AA8935}"/>
                </a:ext>
              </a:extLst>
            </p:cNvPr>
            <p:cNvGrpSpPr/>
            <p:nvPr/>
          </p:nvGrpSpPr>
          <p:grpSpPr>
            <a:xfrm>
              <a:off x="1139741" y="335434"/>
              <a:ext cx="10452038" cy="6187131"/>
              <a:chOff x="1800922" y="385134"/>
              <a:chExt cx="10452038" cy="6187131"/>
            </a:xfrm>
          </p:grpSpPr>
          <p:grpSp>
            <p:nvGrpSpPr>
              <p:cNvPr id="61" name="Group 60">
                <a:extLst>
                  <a:ext uri="{FF2B5EF4-FFF2-40B4-BE49-F238E27FC236}">
                    <a16:creationId xmlns:a16="http://schemas.microsoft.com/office/drawing/2014/main" id="{C932C09B-9423-4A33-B25E-35F29251F711}"/>
                  </a:ext>
                </a:extLst>
              </p:cNvPr>
              <p:cNvGrpSpPr/>
              <p:nvPr/>
            </p:nvGrpSpPr>
            <p:grpSpPr>
              <a:xfrm>
                <a:off x="1800922" y="385134"/>
                <a:ext cx="7504298" cy="6187131"/>
                <a:chOff x="1800922" y="385134"/>
                <a:chExt cx="7504298" cy="6187131"/>
              </a:xfrm>
            </p:grpSpPr>
            <p:grpSp>
              <p:nvGrpSpPr>
                <p:cNvPr id="18" name="Group 17">
                  <a:extLst>
                    <a:ext uri="{FF2B5EF4-FFF2-40B4-BE49-F238E27FC236}">
                      <a16:creationId xmlns:a16="http://schemas.microsoft.com/office/drawing/2014/main" id="{3FE29676-5D4A-40E1-9A27-E3627F11D691}"/>
                    </a:ext>
                  </a:extLst>
                </p:cNvPr>
                <p:cNvGrpSpPr/>
                <p:nvPr/>
              </p:nvGrpSpPr>
              <p:grpSpPr>
                <a:xfrm>
                  <a:off x="1800922" y="385134"/>
                  <a:ext cx="2715770" cy="6187131"/>
                  <a:chOff x="4698872" y="120460"/>
                  <a:chExt cx="2715770" cy="6187131"/>
                </a:xfrm>
              </p:grpSpPr>
              <p:sp>
                <p:nvSpPr>
                  <p:cNvPr id="3" name="Rectangle 2">
                    <a:extLst>
                      <a:ext uri="{FF2B5EF4-FFF2-40B4-BE49-F238E27FC236}">
                        <a16:creationId xmlns:a16="http://schemas.microsoft.com/office/drawing/2014/main" id="{014B8698-D1DA-47EE-A4A4-1333C0E951EF}"/>
                      </a:ext>
                    </a:extLst>
                  </p:cNvPr>
                  <p:cNvSpPr/>
                  <p:nvPr/>
                </p:nvSpPr>
                <p:spPr>
                  <a:xfrm>
                    <a:off x="4698872" y="120460"/>
                    <a:ext cx="2700734" cy="86427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Git Development Branch</a:t>
                    </a:r>
                  </a:p>
                  <a:p>
                    <a:pPr algn="ctr"/>
                    <a:r>
                      <a:rPr lang="en-US" sz="1400" dirty="0">
                        <a:solidFill>
                          <a:schemeClr val="tx1"/>
                        </a:solidFill>
                      </a:rPr>
                      <a:t>(SpecReader_Development_6.0.1)</a:t>
                    </a:r>
                  </a:p>
                </p:txBody>
              </p:sp>
              <p:sp>
                <p:nvSpPr>
                  <p:cNvPr id="4" name="Rectangle 3">
                    <a:extLst>
                      <a:ext uri="{FF2B5EF4-FFF2-40B4-BE49-F238E27FC236}">
                        <a16:creationId xmlns:a16="http://schemas.microsoft.com/office/drawing/2014/main" id="{F8FFA28D-EE08-4425-A1BE-E1BE44EE5494}"/>
                      </a:ext>
                    </a:extLst>
                  </p:cNvPr>
                  <p:cNvSpPr/>
                  <p:nvPr/>
                </p:nvSpPr>
                <p:spPr>
                  <a:xfrm>
                    <a:off x="4698872" y="1456891"/>
                    <a:ext cx="2700734" cy="86427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Developer Develops the fix for Defect/req on Local workspace</a:t>
                    </a:r>
                  </a:p>
                </p:txBody>
              </p:sp>
              <p:sp>
                <p:nvSpPr>
                  <p:cNvPr id="5" name="Right Arrow 59">
                    <a:extLst>
                      <a:ext uri="{FF2B5EF4-FFF2-40B4-BE49-F238E27FC236}">
                        <a16:creationId xmlns:a16="http://schemas.microsoft.com/office/drawing/2014/main" id="{1C088A4C-AB66-4B1A-8C07-774B3FB5FEE1}"/>
                      </a:ext>
                    </a:extLst>
                  </p:cNvPr>
                  <p:cNvSpPr/>
                  <p:nvPr/>
                </p:nvSpPr>
                <p:spPr>
                  <a:xfrm rot="5400000">
                    <a:off x="5781254" y="993552"/>
                    <a:ext cx="323560" cy="3059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descr="1">
                    <a:extLst>
                      <a:ext uri="{FF2B5EF4-FFF2-40B4-BE49-F238E27FC236}">
                        <a16:creationId xmlns:a16="http://schemas.microsoft.com/office/drawing/2014/main" id="{E6E156E6-1C3D-446C-9F33-C731FDE8073C}"/>
                      </a:ext>
                    </a:extLst>
                  </p:cNvPr>
                  <p:cNvSpPr/>
                  <p:nvPr/>
                </p:nvSpPr>
                <p:spPr>
                  <a:xfrm>
                    <a:off x="6295212" y="1050463"/>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a:t>
                    </a:r>
                    <a:endParaRPr lang="en-US" sz="16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66745B7D-8AE2-450A-9048-E0ED4F06713A}"/>
                      </a:ext>
                    </a:extLst>
                  </p:cNvPr>
                  <p:cNvSpPr/>
                  <p:nvPr/>
                </p:nvSpPr>
                <p:spPr>
                  <a:xfrm>
                    <a:off x="4698872" y="2793322"/>
                    <a:ext cx="2700734" cy="86427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Create Own Development Branch(</a:t>
                    </a:r>
                    <a:r>
                      <a:rPr lang="en-US" sz="1400" b="1" dirty="0">
                        <a:solidFill>
                          <a:schemeClr val="tx1"/>
                        </a:solidFill>
                      </a:rPr>
                      <a:t>feature</a:t>
                    </a:r>
                    <a:r>
                      <a:rPr lang="en-US" sz="1400" dirty="0">
                        <a:solidFill>
                          <a:schemeClr val="tx1"/>
                        </a:solidFill>
                      </a:rPr>
                      <a:t>)  from development(</a:t>
                    </a:r>
                    <a:r>
                      <a:rPr lang="en-US" sz="1200" dirty="0">
                        <a:solidFill>
                          <a:schemeClr val="tx1"/>
                        </a:solidFill>
                      </a:rPr>
                      <a:t>SpecReader_Development_6.0.1</a:t>
                    </a:r>
                    <a:r>
                      <a:rPr lang="en-US" sz="1400" dirty="0">
                        <a:solidFill>
                          <a:schemeClr val="tx1"/>
                        </a:solidFill>
                      </a:rPr>
                      <a:t>) branch</a:t>
                    </a:r>
                  </a:p>
                </p:txBody>
              </p:sp>
              <p:sp>
                <p:nvSpPr>
                  <p:cNvPr id="10" name="Right Arrow 59">
                    <a:extLst>
                      <a:ext uri="{FF2B5EF4-FFF2-40B4-BE49-F238E27FC236}">
                        <a16:creationId xmlns:a16="http://schemas.microsoft.com/office/drawing/2014/main" id="{5688A245-1DDB-498A-B40E-B53B1F9D9D9D}"/>
                      </a:ext>
                    </a:extLst>
                  </p:cNvPr>
                  <p:cNvSpPr/>
                  <p:nvPr/>
                </p:nvSpPr>
                <p:spPr>
                  <a:xfrm rot="5400000">
                    <a:off x="5781254" y="2443408"/>
                    <a:ext cx="323560" cy="3059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descr="1">
                    <a:extLst>
                      <a:ext uri="{FF2B5EF4-FFF2-40B4-BE49-F238E27FC236}">
                        <a16:creationId xmlns:a16="http://schemas.microsoft.com/office/drawing/2014/main" id="{0AD1875A-1774-4D8C-9127-0608D367A0DC}"/>
                      </a:ext>
                    </a:extLst>
                  </p:cNvPr>
                  <p:cNvSpPr/>
                  <p:nvPr/>
                </p:nvSpPr>
                <p:spPr>
                  <a:xfrm>
                    <a:off x="6295212" y="2383819"/>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a:t>
                    </a:r>
                    <a:endParaRPr lang="en-US" sz="16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761FD3A8-7713-4FB7-88E1-571884230EDC}"/>
                      </a:ext>
                    </a:extLst>
                  </p:cNvPr>
                  <p:cNvSpPr/>
                  <p:nvPr/>
                </p:nvSpPr>
                <p:spPr>
                  <a:xfrm>
                    <a:off x="4698872" y="4129753"/>
                    <a:ext cx="2700734" cy="86427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Developer merges his code into feature branch(Ex: SpecsReader_Dev)</a:t>
                    </a:r>
                  </a:p>
                </p:txBody>
              </p:sp>
              <p:sp>
                <p:nvSpPr>
                  <p:cNvPr id="13" name="Right Arrow 59">
                    <a:extLst>
                      <a:ext uri="{FF2B5EF4-FFF2-40B4-BE49-F238E27FC236}">
                        <a16:creationId xmlns:a16="http://schemas.microsoft.com/office/drawing/2014/main" id="{29E1E374-10C3-4802-9A3A-7F972D1180E5}"/>
                      </a:ext>
                    </a:extLst>
                  </p:cNvPr>
                  <p:cNvSpPr/>
                  <p:nvPr/>
                </p:nvSpPr>
                <p:spPr>
                  <a:xfrm rot="5400000">
                    <a:off x="5816343" y="3753242"/>
                    <a:ext cx="323560" cy="3059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descr="1">
                    <a:extLst>
                      <a:ext uri="{FF2B5EF4-FFF2-40B4-BE49-F238E27FC236}">
                        <a16:creationId xmlns:a16="http://schemas.microsoft.com/office/drawing/2014/main" id="{CE796C80-FC4B-4A38-AECB-D45550970606}"/>
                      </a:ext>
                    </a:extLst>
                  </p:cNvPr>
                  <p:cNvSpPr/>
                  <p:nvPr/>
                </p:nvSpPr>
                <p:spPr>
                  <a:xfrm>
                    <a:off x="6331430" y="3719365"/>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a:t>
                    </a:r>
                    <a:endParaRPr lang="en-US" sz="16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E8C60248-0EB9-46AD-A5B0-6D34A68C3E38}"/>
                      </a:ext>
                    </a:extLst>
                  </p:cNvPr>
                  <p:cNvSpPr/>
                  <p:nvPr/>
                </p:nvSpPr>
                <p:spPr>
                  <a:xfrm>
                    <a:off x="4713908" y="5443313"/>
                    <a:ext cx="2700734" cy="864278"/>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Create pull request to merge feature branch into development branch(SpecReader_Development_6.0.1)</a:t>
                    </a:r>
                  </a:p>
                </p:txBody>
              </p:sp>
              <p:sp>
                <p:nvSpPr>
                  <p:cNvPr id="16" name="Right Arrow 59">
                    <a:extLst>
                      <a:ext uri="{FF2B5EF4-FFF2-40B4-BE49-F238E27FC236}">
                        <a16:creationId xmlns:a16="http://schemas.microsoft.com/office/drawing/2014/main" id="{BEEC400A-4048-4074-9513-FB525F806603}"/>
                      </a:ext>
                    </a:extLst>
                  </p:cNvPr>
                  <p:cNvSpPr/>
                  <p:nvPr/>
                </p:nvSpPr>
                <p:spPr>
                  <a:xfrm rot="5400000">
                    <a:off x="5887459" y="5093396"/>
                    <a:ext cx="323560" cy="3059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descr="1">
                    <a:extLst>
                      <a:ext uri="{FF2B5EF4-FFF2-40B4-BE49-F238E27FC236}">
                        <a16:creationId xmlns:a16="http://schemas.microsoft.com/office/drawing/2014/main" id="{C352692E-C56E-4B9F-9C37-2D60773392F1}"/>
                      </a:ext>
                    </a:extLst>
                  </p:cNvPr>
                  <p:cNvSpPr/>
                  <p:nvPr/>
                </p:nvSpPr>
                <p:spPr>
                  <a:xfrm>
                    <a:off x="6318331" y="5055353"/>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a:t>
                    </a:r>
                    <a:endParaRPr lang="en-US" sz="16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grpSp>
            <p:sp>
              <p:nvSpPr>
                <p:cNvPr id="22" name="Rectangle 21">
                  <a:extLst>
                    <a:ext uri="{FF2B5EF4-FFF2-40B4-BE49-F238E27FC236}">
                      <a16:creationId xmlns:a16="http://schemas.microsoft.com/office/drawing/2014/main" id="{F0BDDCE8-784A-433F-9442-E7491772AA92}"/>
                    </a:ext>
                  </a:extLst>
                </p:cNvPr>
                <p:cNvSpPr/>
                <p:nvPr/>
              </p:nvSpPr>
              <p:spPr>
                <a:xfrm>
                  <a:off x="6575610" y="387713"/>
                  <a:ext cx="2700734" cy="86427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Git Development Branch</a:t>
                  </a:r>
                </a:p>
                <a:p>
                  <a:pPr algn="ctr"/>
                  <a:r>
                    <a:rPr lang="en-US" sz="1400" dirty="0">
                      <a:solidFill>
                        <a:schemeClr val="tx1"/>
                      </a:solidFill>
                    </a:rPr>
                    <a:t>Updated with latest code</a:t>
                  </a:r>
                </a:p>
              </p:txBody>
            </p:sp>
            <p:sp>
              <p:nvSpPr>
                <p:cNvPr id="23" name="Rectangle 22">
                  <a:extLst>
                    <a:ext uri="{FF2B5EF4-FFF2-40B4-BE49-F238E27FC236}">
                      <a16:creationId xmlns:a16="http://schemas.microsoft.com/office/drawing/2014/main" id="{85B71601-5A5B-4C3E-B753-99013438A1A6}"/>
                    </a:ext>
                  </a:extLst>
                </p:cNvPr>
                <p:cNvSpPr/>
                <p:nvPr/>
              </p:nvSpPr>
              <p:spPr>
                <a:xfrm>
                  <a:off x="6531288" y="1681551"/>
                  <a:ext cx="2700734" cy="86427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Deploy Development branch into DEVS/DEVAP environment from pipeline</a:t>
                  </a:r>
                </a:p>
              </p:txBody>
            </p:sp>
            <p:sp>
              <p:nvSpPr>
                <p:cNvPr id="24" name="Right Arrow 59">
                  <a:extLst>
                    <a:ext uri="{FF2B5EF4-FFF2-40B4-BE49-F238E27FC236}">
                      <a16:creationId xmlns:a16="http://schemas.microsoft.com/office/drawing/2014/main" id="{3A7A4CEF-8BBE-449E-8630-AB616C4BA4C2}"/>
                    </a:ext>
                  </a:extLst>
                </p:cNvPr>
                <p:cNvSpPr/>
                <p:nvPr/>
              </p:nvSpPr>
              <p:spPr>
                <a:xfrm rot="5400000">
                  <a:off x="7727979" y="1258226"/>
                  <a:ext cx="323560" cy="3059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descr="1">
                  <a:extLst>
                    <a:ext uri="{FF2B5EF4-FFF2-40B4-BE49-F238E27FC236}">
                      <a16:creationId xmlns:a16="http://schemas.microsoft.com/office/drawing/2014/main" id="{35BB502E-42B6-4D61-A1B7-8C28655513E5}"/>
                    </a:ext>
                  </a:extLst>
                </p:cNvPr>
                <p:cNvSpPr/>
                <p:nvPr/>
              </p:nvSpPr>
              <p:spPr>
                <a:xfrm>
                  <a:off x="8840986" y="1315137"/>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a:t>
                  </a:r>
                  <a:endParaRPr lang="en-US" sz="16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6" name="Diamond 25">
                  <a:extLst>
                    <a:ext uri="{FF2B5EF4-FFF2-40B4-BE49-F238E27FC236}">
                      <a16:creationId xmlns:a16="http://schemas.microsoft.com/office/drawing/2014/main" id="{7834BB8E-0E64-4108-8768-62EE0C6958B5}"/>
                    </a:ext>
                  </a:extLst>
                </p:cNvPr>
                <p:cNvSpPr/>
                <p:nvPr/>
              </p:nvSpPr>
              <p:spPr>
                <a:xfrm>
                  <a:off x="4544222" y="5905176"/>
                  <a:ext cx="302296" cy="469900"/>
                </a:xfrm>
                <a:prstGeom prst="diamond">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F9769211-FCB8-4CA7-B8EF-000A576E8A7C}"/>
                    </a:ext>
                  </a:extLst>
                </p:cNvPr>
                <p:cNvCxnSpPr>
                  <a:cxnSpLocks/>
                  <a:stCxn id="26" idx="3"/>
                </p:cNvCxnSpPr>
                <p:nvPr/>
              </p:nvCxnSpPr>
              <p:spPr>
                <a:xfrm>
                  <a:off x="4846518" y="6140126"/>
                  <a:ext cx="1047218" cy="0"/>
                </a:xfrm>
                <a:prstGeom prst="line">
                  <a:avLst/>
                </a:prstGeom>
                <a:ln>
                  <a:solidFill>
                    <a:srgbClr val="00B050"/>
                  </a:solidFill>
                </a:ln>
              </p:spPr>
              <p:style>
                <a:lnRef idx="3">
                  <a:schemeClr val="dk1"/>
                </a:lnRef>
                <a:fillRef idx="0">
                  <a:schemeClr val="dk1"/>
                </a:fillRef>
                <a:effectRef idx="2">
                  <a:schemeClr val="dk1"/>
                </a:effectRef>
                <a:fontRef idx="minor">
                  <a:schemeClr val="tx1"/>
                </a:fontRef>
              </p:style>
            </p:cxnSp>
            <p:cxnSp>
              <p:nvCxnSpPr>
                <p:cNvPr id="38" name="Straight Connector 37">
                  <a:extLst>
                    <a:ext uri="{FF2B5EF4-FFF2-40B4-BE49-F238E27FC236}">
                      <a16:creationId xmlns:a16="http://schemas.microsoft.com/office/drawing/2014/main" id="{D80CD47E-7FE6-4B1E-BDA4-CBC2CF14CEFA}"/>
                    </a:ext>
                  </a:extLst>
                </p:cNvPr>
                <p:cNvCxnSpPr>
                  <a:cxnSpLocks/>
                </p:cNvCxnSpPr>
                <p:nvPr/>
              </p:nvCxnSpPr>
              <p:spPr>
                <a:xfrm flipV="1">
                  <a:off x="5893736" y="946199"/>
                  <a:ext cx="1" cy="5183522"/>
                </a:xfrm>
                <a:prstGeom prst="line">
                  <a:avLst/>
                </a:prstGeom>
                <a:ln>
                  <a:solidFill>
                    <a:srgbClr val="00B050"/>
                  </a:solidFill>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1D0169A1-8FD6-48A7-B6C9-12966DFAE9D6}"/>
                    </a:ext>
                  </a:extLst>
                </p:cNvPr>
                <p:cNvCxnSpPr/>
                <p:nvPr/>
              </p:nvCxnSpPr>
              <p:spPr>
                <a:xfrm>
                  <a:off x="5893736" y="946199"/>
                  <a:ext cx="659098" cy="0"/>
                </a:xfrm>
                <a:prstGeom prst="straightConnector1">
                  <a:avLst/>
                </a:prstGeom>
                <a:ln>
                  <a:solidFill>
                    <a:srgbClr val="00B050"/>
                  </a:solidFill>
                  <a:tailEnd type="triangle"/>
                </a:ln>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E148079D-1612-4CEB-8145-D3F359227BD3}"/>
                    </a:ext>
                  </a:extLst>
                </p:cNvPr>
                <p:cNvSpPr txBox="1"/>
                <p:nvPr/>
              </p:nvSpPr>
              <p:spPr>
                <a:xfrm>
                  <a:off x="5889658" y="3366629"/>
                  <a:ext cx="1117682" cy="400110"/>
                </a:xfrm>
                <a:prstGeom prst="rect">
                  <a:avLst/>
                </a:prstGeom>
                <a:noFill/>
              </p:spPr>
              <p:txBody>
                <a:bodyPr wrap="square" rtlCol="0">
                  <a:spAutoFit/>
                </a:bodyPr>
                <a:lstStyle/>
                <a:p>
                  <a:r>
                    <a:rPr lang="en-US" sz="2000" dirty="0">
                      <a:solidFill>
                        <a:srgbClr val="00B050"/>
                      </a:solidFill>
                    </a:rPr>
                    <a:t>Pass</a:t>
                  </a:r>
                  <a:endParaRPr lang="en-US" dirty="0">
                    <a:solidFill>
                      <a:srgbClr val="00B050"/>
                    </a:solidFill>
                  </a:endParaRPr>
                </a:p>
              </p:txBody>
            </p:sp>
            <p:cxnSp>
              <p:nvCxnSpPr>
                <p:cNvPr id="50" name="Straight Connector 49">
                  <a:extLst>
                    <a:ext uri="{FF2B5EF4-FFF2-40B4-BE49-F238E27FC236}">
                      <a16:creationId xmlns:a16="http://schemas.microsoft.com/office/drawing/2014/main" id="{5A91A78E-99AD-4A98-BD2A-A62A56EC2FA7}"/>
                    </a:ext>
                  </a:extLst>
                </p:cNvPr>
                <p:cNvCxnSpPr>
                  <a:cxnSpLocks/>
                  <a:stCxn id="26" idx="0"/>
                </p:cNvCxnSpPr>
                <p:nvPr/>
              </p:nvCxnSpPr>
              <p:spPr>
                <a:xfrm flipV="1">
                  <a:off x="4695370" y="2168160"/>
                  <a:ext cx="31375" cy="3737016"/>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53" name="Straight Arrow Connector 52">
                  <a:extLst>
                    <a:ext uri="{FF2B5EF4-FFF2-40B4-BE49-F238E27FC236}">
                      <a16:creationId xmlns:a16="http://schemas.microsoft.com/office/drawing/2014/main" id="{672CFC88-65D2-4B0D-8020-024355A3ACFB}"/>
                    </a:ext>
                  </a:extLst>
                </p:cNvPr>
                <p:cNvCxnSpPr>
                  <a:cxnSpLocks/>
                </p:cNvCxnSpPr>
                <p:nvPr/>
              </p:nvCxnSpPr>
              <p:spPr>
                <a:xfrm flipH="1">
                  <a:off x="4492478" y="2168160"/>
                  <a:ext cx="234267" cy="1"/>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58" name="TextBox 57">
                  <a:extLst>
                    <a:ext uri="{FF2B5EF4-FFF2-40B4-BE49-F238E27FC236}">
                      <a16:creationId xmlns:a16="http://schemas.microsoft.com/office/drawing/2014/main" id="{D4FF5D9E-E0EC-48C3-ABA8-942AFF7C5AF6}"/>
                    </a:ext>
                  </a:extLst>
                </p:cNvPr>
                <p:cNvSpPr txBox="1"/>
                <p:nvPr/>
              </p:nvSpPr>
              <p:spPr>
                <a:xfrm>
                  <a:off x="4774809" y="3349814"/>
                  <a:ext cx="1117682" cy="400110"/>
                </a:xfrm>
                <a:prstGeom prst="rect">
                  <a:avLst/>
                </a:prstGeom>
                <a:noFill/>
              </p:spPr>
              <p:txBody>
                <a:bodyPr wrap="square" rtlCol="0">
                  <a:spAutoFit/>
                </a:bodyPr>
                <a:lstStyle/>
                <a:p>
                  <a:r>
                    <a:rPr lang="en-US" sz="2000" dirty="0">
                      <a:solidFill>
                        <a:srgbClr val="FF0000"/>
                      </a:solidFill>
                    </a:rPr>
                    <a:t>Fail</a:t>
                  </a:r>
                  <a:endParaRPr lang="en-US" dirty="0">
                    <a:solidFill>
                      <a:srgbClr val="FF0000"/>
                    </a:solidFill>
                  </a:endParaRPr>
                </a:p>
              </p:txBody>
            </p:sp>
          </p:grpSp>
          <p:sp>
            <p:nvSpPr>
              <p:cNvPr id="62" name="Rectangle 61">
                <a:extLst>
                  <a:ext uri="{FF2B5EF4-FFF2-40B4-BE49-F238E27FC236}">
                    <a16:creationId xmlns:a16="http://schemas.microsoft.com/office/drawing/2014/main" id="{CC56E4F0-0248-4186-ADEB-8504FDE92CC6}"/>
                  </a:ext>
                </a:extLst>
              </p:cNvPr>
              <p:cNvSpPr/>
              <p:nvPr/>
            </p:nvSpPr>
            <p:spPr>
              <a:xfrm>
                <a:off x="6531288" y="3015231"/>
                <a:ext cx="2700734" cy="864278"/>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Developer will perform the unit testing </a:t>
                </a:r>
              </a:p>
            </p:txBody>
          </p:sp>
          <p:sp>
            <p:nvSpPr>
              <p:cNvPr id="63" name="Oval 62" descr="1">
                <a:extLst>
                  <a:ext uri="{FF2B5EF4-FFF2-40B4-BE49-F238E27FC236}">
                    <a16:creationId xmlns:a16="http://schemas.microsoft.com/office/drawing/2014/main" id="{7D0E8A2F-2011-4803-B8E9-6BE628D376F5}"/>
                  </a:ext>
                </a:extLst>
              </p:cNvPr>
              <p:cNvSpPr/>
              <p:nvPr/>
            </p:nvSpPr>
            <p:spPr>
              <a:xfrm>
                <a:off x="8855054" y="2632963"/>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6</a:t>
                </a:r>
                <a:endParaRPr lang="en-US" sz="16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4" name="Right Arrow 59">
                <a:extLst>
                  <a:ext uri="{FF2B5EF4-FFF2-40B4-BE49-F238E27FC236}">
                    <a16:creationId xmlns:a16="http://schemas.microsoft.com/office/drawing/2014/main" id="{589D58BD-A563-409C-BEBF-E17E214916CD}"/>
                  </a:ext>
                </a:extLst>
              </p:cNvPr>
              <p:cNvSpPr/>
              <p:nvPr/>
            </p:nvSpPr>
            <p:spPr>
              <a:xfrm rot="5400000">
                <a:off x="7750129" y="2644151"/>
                <a:ext cx="323560" cy="3059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iamond 64">
                <a:extLst>
                  <a:ext uri="{FF2B5EF4-FFF2-40B4-BE49-F238E27FC236}">
                    <a16:creationId xmlns:a16="http://schemas.microsoft.com/office/drawing/2014/main" id="{983284CA-EAF3-4C40-AA93-86C89991CE3C}"/>
                  </a:ext>
                </a:extLst>
              </p:cNvPr>
              <p:cNvSpPr/>
              <p:nvPr/>
            </p:nvSpPr>
            <p:spPr>
              <a:xfrm>
                <a:off x="9246732" y="3212420"/>
                <a:ext cx="302296" cy="469900"/>
              </a:xfrm>
              <a:prstGeom prst="diamond">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25EC2881-BB5C-4D22-9ACE-830BCD6C7850}"/>
                  </a:ext>
                </a:extLst>
              </p:cNvPr>
              <p:cNvSpPr/>
              <p:nvPr/>
            </p:nvSpPr>
            <p:spPr>
              <a:xfrm>
                <a:off x="8042724" y="4360230"/>
                <a:ext cx="2733111" cy="96289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Pull request will be raised to merge  </a:t>
                </a:r>
              </a:p>
              <a:p>
                <a:pPr algn="ctr"/>
                <a:r>
                  <a:rPr lang="en-US" sz="1400" b="1" dirty="0">
                    <a:solidFill>
                      <a:schemeClr val="tx1"/>
                    </a:solidFill>
                  </a:rPr>
                  <a:t>Specreader_Release_6.0.1 from developer created feature/defect branch</a:t>
                </a:r>
              </a:p>
            </p:txBody>
          </p:sp>
          <p:cxnSp>
            <p:nvCxnSpPr>
              <p:cNvPr id="76" name="Straight Arrow Connector 75">
                <a:extLst>
                  <a:ext uri="{FF2B5EF4-FFF2-40B4-BE49-F238E27FC236}">
                    <a16:creationId xmlns:a16="http://schemas.microsoft.com/office/drawing/2014/main" id="{45D3B304-114A-4A60-9CC3-6C9BE6B80DE4}"/>
                  </a:ext>
                </a:extLst>
              </p:cNvPr>
              <p:cNvCxnSpPr>
                <a:cxnSpLocks/>
              </p:cNvCxnSpPr>
              <p:nvPr/>
            </p:nvCxnSpPr>
            <p:spPr>
              <a:xfrm>
                <a:off x="9391934" y="3629839"/>
                <a:ext cx="0" cy="72545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77" name="TextBox 76">
                <a:extLst>
                  <a:ext uri="{FF2B5EF4-FFF2-40B4-BE49-F238E27FC236}">
                    <a16:creationId xmlns:a16="http://schemas.microsoft.com/office/drawing/2014/main" id="{517DF863-C944-4503-A305-3C9ABF43BB42}"/>
                  </a:ext>
                </a:extLst>
              </p:cNvPr>
              <p:cNvSpPr txBox="1"/>
              <p:nvPr/>
            </p:nvSpPr>
            <p:spPr>
              <a:xfrm>
                <a:off x="9397623" y="3932552"/>
                <a:ext cx="1117682" cy="400110"/>
              </a:xfrm>
              <a:prstGeom prst="rect">
                <a:avLst/>
              </a:prstGeom>
              <a:noFill/>
            </p:spPr>
            <p:txBody>
              <a:bodyPr wrap="square" rtlCol="0">
                <a:spAutoFit/>
              </a:bodyPr>
              <a:lstStyle/>
              <a:p>
                <a:r>
                  <a:rPr lang="en-US" sz="2000" dirty="0">
                    <a:solidFill>
                      <a:srgbClr val="00B050"/>
                    </a:solidFill>
                  </a:rPr>
                  <a:t>Pass</a:t>
                </a:r>
                <a:endParaRPr lang="en-US" dirty="0">
                  <a:solidFill>
                    <a:srgbClr val="00B050"/>
                  </a:solidFill>
                </a:endParaRPr>
              </a:p>
            </p:txBody>
          </p:sp>
          <p:sp>
            <p:nvSpPr>
              <p:cNvPr id="81" name="Rectangle 80">
                <a:extLst>
                  <a:ext uri="{FF2B5EF4-FFF2-40B4-BE49-F238E27FC236}">
                    <a16:creationId xmlns:a16="http://schemas.microsoft.com/office/drawing/2014/main" id="{DC1F2585-5B6A-4487-9C4F-4BF9345A8833}"/>
                  </a:ext>
                </a:extLst>
              </p:cNvPr>
              <p:cNvSpPr/>
              <p:nvPr/>
            </p:nvSpPr>
            <p:spPr>
              <a:xfrm>
                <a:off x="10456413" y="3036803"/>
                <a:ext cx="1796547" cy="84270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Repeat the process from step </a:t>
                </a:r>
              </a:p>
            </p:txBody>
          </p:sp>
        </p:grpSp>
        <p:sp>
          <p:nvSpPr>
            <p:cNvPr id="83" name="TextBox 82">
              <a:extLst>
                <a:ext uri="{FF2B5EF4-FFF2-40B4-BE49-F238E27FC236}">
                  <a16:creationId xmlns:a16="http://schemas.microsoft.com/office/drawing/2014/main" id="{72115B3F-5899-48AF-8EA6-94FEB811F7D4}"/>
                </a:ext>
              </a:extLst>
            </p:cNvPr>
            <p:cNvSpPr txBox="1"/>
            <p:nvPr/>
          </p:nvSpPr>
          <p:spPr>
            <a:xfrm>
              <a:off x="9036721" y="3003410"/>
              <a:ext cx="629667" cy="400110"/>
            </a:xfrm>
            <a:prstGeom prst="rect">
              <a:avLst/>
            </a:prstGeom>
            <a:noFill/>
          </p:spPr>
          <p:txBody>
            <a:bodyPr wrap="square" rtlCol="0">
              <a:spAutoFit/>
            </a:bodyPr>
            <a:lstStyle/>
            <a:p>
              <a:r>
                <a:rPr lang="en-US" sz="2000" dirty="0">
                  <a:solidFill>
                    <a:srgbClr val="FF0000"/>
                  </a:solidFill>
                </a:rPr>
                <a:t>Fail</a:t>
              </a:r>
              <a:endParaRPr lang="en-US" dirty="0">
                <a:solidFill>
                  <a:srgbClr val="FF0000"/>
                </a:solidFill>
              </a:endParaRPr>
            </a:p>
          </p:txBody>
        </p:sp>
        <p:sp>
          <p:nvSpPr>
            <p:cNvPr id="84" name="Oval 83" descr="1">
              <a:extLst>
                <a:ext uri="{FF2B5EF4-FFF2-40B4-BE49-F238E27FC236}">
                  <a16:creationId xmlns:a16="http://schemas.microsoft.com/office/drawing/2014/main" id="{C850FAFA-99A0-490B-AAC8-D918F5E7980B}"/>
                </a:ext>
              </a:extLst>
            </p:cNvPr>
            <p:cNvSpPr/>
            <p:nvPr/>
          </p:nvSpPr>
          <p:spPr>
            <a:xfrm>
              <a:off x="11090465" y="3414932"/>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a:t>
              </a:r>
              <a:endParaRPr lang="en-US" sz="16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94" name="Right Arrow 59">
              <a:extLst>
                <a:ext uri="{FF2B5EF4-FFF2-40B4-BE49-F238E27FC236}">
                  <a16:creationId xmlns:a16="http://schemas.microsoft.com/office/drawing/2014/main" id="{967F23A0-0501-47C1-A16B-E1CACA087C3F}"/>
                </a:ext>
              </a:extLst>
            </p:cNvPr>
            <p:cNvSpPr/>
            <p:nvPr/>
          </p:nvSpPr>
          <p:spPr>
            <a:xfrm rot="5400000">
              <a:off x="8606349" y="5333634"/>
              <a:ext cx="323560" cy="3059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12717DFF-EC5C-4027-A0AA-0E18B9171D91}"/>
                </a:ext>
              </a:extLst>
            </p:cNvPr>
            <p:cNvSpPr/>
            <p:nvPr/>
          </p:nvSpPr>
          <p:spPr>
            <a:xfrm>
              <a:off x="7401573" y="5719896"/>
              <a:ext cx="2733111" cy="96289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Specreader_Release_6.0.1 will be deployed into SIT/QA/PROD</a:t>
              </a:r>
            </a:p>
          </p:txBody>
        </p:sp>
        <p:sp>
          <p:nvSpPr>
            <p:cNvPr id="96" name="Oval 95" descr="1">
              <a:extLst>
                <a:ext uri="{FF2B5EF4-FFF2-40B4-BE49-F238E27FC236}">
                  <a16:creationId xmlns:a16="http://schemas.microsoft.com/office/drawing/2014/main" id="{6CBEF109-2063-424A-8459-CD41A8CB7899}"/>
                </a:ext>
              </a:extLst>
            </p:cNvPr>
            <p:cNvSpPr/>
            <p:nvPr/>
          </p:nvSpPr>
          <p:spPr>
            <a:xfrm>
              <a:off x="9063165" y="5344945"/>
              <a:ext cx="464234" cy="340703"/>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7</a:t>
              </a:r>
              <a:endParaRPr lang="en-US" sz="16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cxnSp>
          <p:nvCxnSpPr>
            <p:cNvPr id="100" name="Straight Arrow Connector 99">
              <a:extLst>
                <a:ext uri="{FF2B5EF4-FFF2-40B4-BE49-F238E27FC236}">
                  <a16:creationId xmlns:a16="http://schemas.microsoft.com/office/drawing/2014/main" id="{597A599F-9F78-4D45-81AE-96F111ABA88D}"/>
                </a:ext>
              </a:extLst>
            </p:cNvPr>
            <p:cNvCxnSpPr>
              <a:cxnSpLocks/>
            </p:cNvCxnSpPr>
            <p:nvPr/>
          </p:nvCxnSpPr>
          <p:spPr>
            <a:xfrm>
              <a:off x="8907027" y="3403520"/>
              <a:ext cx="874137" cy="4936"/>
            </a:xfrm>
            <a:prstGeom prst="straightConnector1">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02" name="Rectangle 101">
              <a:extLst>
                <a:ext uri="{FF2B5EF4-FFF2-40B4-BE49-F238E27FC236}">
                  <a16:creationId xmlns:a16="http://schemas.microsoft.com/office/drawing/2014/main" id="{D5813D4F-C69F-4FC1-B7CB-DA99B9FF322D}"/>
                </a:ext>
              </a:extLst>
            </p:cNvPr>
            <p:cNvSpPr/>
            <p:nvPr/>
          </p:nvSpPr>
          <p:spPr>
            <a:xfrm>
              <a:off x="10723154" y="70336"/>
              <a:ext cx="1161718" cy="27881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Developer</a:t>
              </a:r>
            </a:p>
          </p:txBody>
        </p:sp>
        <p:sp>
          <p:nvSpPr>
            <p:cNvPr id="105" name="Rectangle 104">
              <a:extLst>
                <a:ext uri="{FF2B5EF4-FFF2-40B4-BE49-F238E27FC236}">
                  <a16:creationId xmlns:a16="http://schemas.microsoft.com/office/drawing/2014/main" id="{530CBC49-0F66-4430-BE48-86F28183414D}"/>
                </a:ext>
              </a:extLst>
            </p:cNvPr>
            <p:cNvSpPr/>
            <p:nvPr/>
          </p:nvSpPr>
          <p:spPr>
            <a:xfrm>
              <a:off x="10737221" y="374706"/>
              <a:ext cx="1161718" cy="26224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 Action</a:t>
              </a:r>
            </a:p>
          </p:txBody>
        </p:sp>
        <p:sp>
          <p:nvSpPr>
            <p:cNvPr id="106" name="Rectangle 105">
              <a:extLst>
                <a:ext uri="{FF2B5EF4-FFF2-40B4-BE49-F238E27FC236}">
                  <a16:creationId xmlns:a16="http://schemas.microsoft.com/office/drawing/2014/main" id="{24E5D83D-EA56-4A5C-AE7F-E35AFCFD2DD1}"/>
                </a:ext>
              </a:extLst>
            </p:cNvPr>
            <p:cNvSpPr/>
            <p:nvPr/>
          </p:nvSpPr>
          <p:spPr>
            <a:xfrm>
              <a:off x="10737221" y="654938"/>
              <a:ext cx="1161718" cy="27129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Dev &amp;Lead </a:t>
              </a:r>
            </a:p>
          </p:txBody>
        </p:sp>
        <p:sp>
          <p:nvSpPr>
            <p:cNvPr id="107" name="Rectangle 106">
              <a:extLst>
                <a:ext uri="{FF2B5EF4-FFF2-40B4-BE49-F238E27FC236}">
                  <a16:creationId xmlns:a16="http://schemas.microsoft.com/office/drawing/2014/main" id="{F8D3AFC6-373D-40AD-9B41-239C778F14C4}"/>
                </a:ext>
              </a:extLst>
            </p:cNvPr>
            <p:cNvSpPr/>
            <p:nvPr/>
          </p:nvSpPr>
          <p:spPr>
            <a:xfrm>
              <a:off x="10723155" y="948860"/>
              <a:ext cx="1175784" cy="27791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Lead</a:t>
              </a:r>
            </a:p>
          </p:txBody>
        </p:sp>
        <p:sp>
          <p:nvSpPr>
            <p:cNvPr id="108" name="Rectangle 107">
              <a:extLst>
                <a:ext uri="{FF2B5EF4-FFF2-40B4-BE49-F238E27FC236}">
                  <a16:creationId xmlns:a16="http://schemas.microsoft.com/office/drawing/2014/main" id="{6198394E-8E90-4F63-B7B2-6B8827B59519}"/>
                </a:ext>
              </a:extLst>
            </p:cNvPr>
            <p:cNvSpPr/>
            <p:nvPr/>
          </p:nvSpPr>
          <p:spPr>
            <a:xfrm>
              <a:off x="10719583" y="1254339"/>
              <a:ext cx="1212454" cy="22276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DevOps </a:t>
              </a:r>
              <a:r>
                <a:rPr lang="en-US" sz="1600" dirty="0" err="1">
                  <a:solidFill>
                    <a:schemeClr val="tx1"/>
                  </a:solidFill>
                </a:rPr>
                <a:t>Eng</a:t>
              </a:r>
              <a:endParaRPr lang="en-US" sz="1600" dirty="0">
                <a:solidFill>
                  <a:schemeClr val="tx1"/>
                </a:solidFill>
              </a:endParaRPr>
            </a:p>
          </p:txBody>
        </p:sp>
      </p:grpSp>
    </p:spTree>
    <p:extLst>
      <p:ext uri="{BB962C8B-B14F-4D97-AF65-F5344CB8AC3E}">
        <p14:creationId xmlns:p14="http://schemas.microsoft.com/office/powerpoint/2010/main" val="47422700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5B000-5CF6-4E68-9B32-C6C3DCF79348}"/>
              </a:ext>
            </a:extLst>
          </p:cNvPr>
          <p:cNvSpPr>
            <a:spLocks noGrp="1"/>
          </p:cNvSpPr>
          <p:nvPr>
            <p:ph type="title"/>
          </p:nvPr>
        </p:nvSpPr>
        <p:spPr>
          <a:xfrm>
            <a:off x="134738" y="112542"/>
            <a:ext cx="11630733" cy="6625883"/>
          </a:xfrm>
        </p:spPr>
        <p:txBody>
          <a:bodyPr/>
          <a:lstStyle/>
          <a:p>
            <a:r>
              <a:rPr lang="en-US" sz="2000" dirty="0"/>
              <a:t>1. Developer will update his local git repo by </a:t>
            </a:r>
            <a:r>
              <a:rPr lang="en-US" sz="2000" b="1" dirty="0"/>
              <a:t>“Fetch origin” </a:t>
            </a:r>
            <a:r>
              <a:rPr lang="en-US" sz="2000" dirty="0"/>
              <a:t>from GitHub desktop  and update his workspace on daily basis.</a:t>
            </a:r>
            <a:br>
              <a:rPr lang="en-US" sz="2000" dirty="0"/>
            </a:br>
            <a:br>
              <a:rPr lang="en-US" sz="2000" dirty="0"/>
            </a:br>
            <a:r>
              <a:rPr lang="en-US" sz="2000" dirty="0"/>
              <a:t>2. Developer will create his own </a:t>
            </a:r>
            <a:r>
              <a:rPr lang="en-US" sz="2000" b="1" dirty="0"/>
              <a:t>feature</a:t>
            </a:r>
            <a:r>
              <a:rPr lang="en-US" sz="2000" dirty="0"/>
              <a:t> branch by updating development branch from GitHub desktop</a:t>
            </a:r>
            <a:br>
              <a:rPr lang="en-US" sz="2000" dirty="0"/>
            </a:br>
            <a:br>
              <a:rPr lang="en-US" sz="2000" dirty="0"/>
            </a:br>
            <a:r>
              <a:rPr lang="en-US" sz="2000" dirty="0"/>
              <a:t>3. Developer will merge his code into development  branch by comparing from Beyond compare.</a:t>
            </a:r>
            <a:br>
              <a:rPr lang="en-US" sz="2000" dirty="0"/>
            </a:br>
            <a:br>
              <a:rPr lang="en-US" sz="2000" dirty="0"/>
            </a:br>
            <a:r>
              <a:rPr lang="en-US" sz="2000" dirty="0"/>
              <a:t>	</a:t>
            </a:r>
            <a:r>
              <a:rPr lang="en-US" sz="2000" b="1" dirty="0"/>
              <a:t>a. </a:t>
            </a:r>
            <a:r>
              <a:rPr lang="en-US" sz="2000" dirty="0"/>
              <a:t>execute </a:t>
            </a:r>
            <a:r>
              <a:rPr lang="en-US" sz="2000" b="1" dirty="0"/>
              <a:t>“Fetch origin”</a:t>
            </a:r>
            <a:r>
              <a:rPr lang="en-US" sz="2000" dirty="0"/>
              <a:t> (Before any merge its mandatory to update branch by git pull)</a:t>
            </a:r>
            <a:br>
              <a:rPr lang="en-US" sz="2000" dirty="0"/>
            </a:br>
            <a:br>
              <a:rPr lang="en-US" sz="2000" dirty="0"/>
            </a:br>
            <a:r>
              <a:rPr lang="en-US" sz="2000" dirty="0"/>
              <a:t>	</a:t>
            </a:r>
            <a:r>
              <a:rPr lang="en-US" sz="2000" b="1" dirty="0"/>
              <a:t>b.</a:t>
            </a:r>
            <a:r>
              <a:rPr lang="en-US" sz="2000" dirty="0"/>
              <a:t> Compare your code using beyond compare and merge only your changes into your </a:t>
            </a:r>
            <a:r>
              <a:rPr lang="en-US" sz="2000" b="1" dirty="0"/>
              <a:t>“feature”</a:t>
            </a:r>
            <a:r>
              <a:rPr lang="en-US" sz="2000" dirty="0"/>
              <a:t>.</a:t>
            </a:r>
            <a:br>
              <a:rPr lang="en-US" sz="2000" dirty="0"/>
            </a:br>
            <a:br>
              <a:rPr lang="en-US" sz="2000" dirty="0"/>
            </a:br>
            <a:r>
              <a:rPr lang="en-US" sz="2000" dirty="0"/>
              <a:t>	</a:t>
            </a:r>
            <a:r>
              <a:rPr lang="en-US" sz="2000" b="1" dirty="0"/>
              <a:t>C.</a:t>
            </a:r>
            <a:r>
              <a:rPr lang="en-US" sz="2000" dirty="0"/>
              <a:t> Add proper comments before you commit your code (Ex: Defect/req: &lt;Description&gt;)</a:t>
            </a:r>
            <a:br>
              <a:rPr lang="en-US" sz="2000" dirty="0"/>
            </a:br>
            <a:br>
              <a:rPr lang="en-US" sz="2000" dirty="0"/>
            </a:br>
            <a:r>
              <a:rPr lang="en-US" sz="2000" dirty="0"/>
              <a:t>	</a:t>
            </a:r>
            <a:r>
              <a:rPr lang="en-US" sz="2000" b="1" dirty="0"/>
              <a:t>d.</a:t>
            </a:r>
            <a:r>
              <a:rPr lang="en-US" sz="2000" dirty="0"/>
              <a:t> Execute git push command to push your code to “</a:t>
            </a:r>
            <a:r>
              <a:rPr lang="en-US" sz="2000" b="1" dirty="0"/>
              <a:t>feature</a:t>
            </a:r>
            <a:r>
              <a:rPr lang="en-US" sz="2000" dirty="0"/>
              <a:t>” branch</a:t>
            </a:r>
            <a:br>
              <a:rPr lang="en-US" sz="2000" dirty="0"/>
            </a:br>
            <a:br>
              <a:rPr lang="en-US" sz="2000" dirty="0"/>
            </a:br>
            <a:r>
              <a:rPr lang="en-US" sz="2000" dirty="0"/>
              <a:t>4. click on “Create Pull request” or Navigate to github.pg.com and </a:t>
            </a:r>
            <a:r>
              <a:rPr lang="en-US" sz="2000" b="1" dirty="0"/>
              <a:t>“compare &amp; pull request”</a:t>
            </a:r>
            <a:r>
              <a:rPr lang="en-US" sz="2000" dirty="0"/>
              <a:t>. One reviewer is mandatory to merge/commit the </a:t>
            </a:r>
            <a:r>
              <a:rPr lang="en-US" sz="2000" b="1" dirty="0"/>
              <a:t>feature</a:t>
            </a:r>
            <a:r>
              <a:rPr lang="en-US" sz="2000" dirty="0"/>
              <a:t>. Before creating pull request always please validate source and destination branches. Developer will communicate to Lead to review/approve the pull request</a:t>
            </a:r>
            <a:br>
              <a:rPr lang="en-US" sz="2000" dirty="0"/>
            </a:br>
            <a:br>
              <a:rPr lang="en-US" sz="2000" dirty="0"/>
            </a:br>
            <a:r>
              <a:rPr lang="en-US" sz="2000" dirty="0"/>
              <a:t>5. Using azure pipeline Development branch will deploy into DEV2 environment.</a:t>
            </a:r>
            <a:br>
              <a:rPr lang="en-US" sz="2000" dirty="0"/>
            </a:br>
            <a:br>
              <a:rPr lang="en-US" sz="2000" dirty="0"/>
            </a:br>
            <a:r>
              <a:rPr lang="en-US" sz="2000" dirty="0"/>
              <a:t>6. Developer will perform the Unit Testing/Internal Testing                                     </a:t>
            </a:r>
            <a:br>
              <a:rPr lang="en-US" sz="2000" dirty="0"/>
            </a:br>
            <a:br>
              <a:rPr lang="en-US" sz="2000" dirty="0"/>
            </a:br>
            <a:r>
              <a:rPr lang="en-US" sz="2000" dirty="0"/>
              <a:t>7. SIT/QA/PROD Deployment by DevOps Engineer</a:t>
            </a:r>
            <a:br>
              <a:rPr lang="en-US" sz="2000" dirty="0"/>
            </a:br>
            <a:br>
              <a:rPr lang="en-US" sz="2000" dirty="0"/>
            </a:br>
            <a:br>
              <a:rPr lang="en-US" sz="2000" dirty="0"/>
            </a:br>
            <a:br>
              <a:rPr lang="en-US" sz="2000" dirty="0"/>
            </a:br>
            <a:br>
              <a:rPr lang="en-US" dirty="0"/>
            </a:br>
            <a:endParaRPr lang="en-US" dirty="0"/>
          </a:p>
        </p:txBody>
      </p:sp>
    </p:spTree>
    <p:extLst>
      <p:ext uri="{BB962C8B-B14F-4D97-AF65-F5344CB8AC3E}">
        <p14:creationId xmlns:p14="http://schemas.microsoft.com/office/powerpoint/2010/main" val="185215654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71AFE-9D84-4F20-A917-4AF165DCDCFF}"/>
              </a:ext>
            </a:extLst>
          </p:cNvPr>
          <p:cNvSpPr>
            <a:spLocks noGrp="1"/>
          </p:cNvSpPr>
          <p:nvPr>
            <p:ph type="title"/>
          </p:nvPr>
        </p:nvSpPr>
        <p:spPr>
          <a:xfrm>
            <a:off x="162873" y="594247"/>
            <a:ext cx="11630733" cy="5890959"/>
          </a:xfrm>
        </p:spPr>
        <p:txBody>
          <a:bodyPr/>
          <a:lstStyle/>
          <a:p>
            <a:r>
              <a:rPr lang="en-US" sz="2800" u="sng" dirty="0"/>
              <a:t>DevOps POC on AWS:</a:t>
            </a:r>
            <a:br>
              <a:rPr lang="en-US" sz="2800" u="sng" dirty="0"/>
            </a:br>
            <a:br>
              <a:rPr lang="en-US" sz="2800" u="sng" dirty="0"/>
            </a:br>
            <a:r>
              <a:rPr lang="en-US" sz="2800" i="1" u="sng" dirty="0"/>
              <a:t>EC2(</a:t>
            </a:r>
            <a:r>
              <a:rPr lang="en-US" i="1" u="sng" dirty="0"/>
              <a:t>Elastic Compute </a:t>
            </a:r>
            <a:r>
              <a:rPr lang="en-US" i="1" u="sng"/>
              <a:t>Cloud</a:t>
            </a:r>
            <a:r>
              <a:rPr lang="en-US" sz="2800" i="1" u="sng"/>
              <a:t>)</a:t>
            </a:r>
            <a:br>
              <a:rPr lang="en-US" sz="2800" i="1" u="sng"/>
            </a:br>
            <a:endParaRPr lang="en-US" sz="2800" i="1" u="sng" dirty="0"/>
          </a:p>
        </p:txBody>
      </p:sp>
      <p:pic>
        <p:nvPicPr>
          <p:cNvPr id="4" name="Picture 3">
            <a:extLst>
              <a:ext uri="{FF2B5EF4-FFF2-40B4-BE49-F238E27FC236}">
                <a16:creationId xmlns:a16="http://schemas.microsoft.com/office/drawing/2014/main" id="{EC995BFB-C6E6-4E1F-BE07-FE4F4C9747C2}"/>
              </a:ext>
            </a:extLst>
          </p:cNvPr>
          <p:cNvPicPr>
            <a:picLocks noChangeAspect="1"/>
          </p:cNvPicPr>
          <p:nvPr/>
        </p:nvPicPr>
        <p:blipFill>
          <a:blip r:embed="rId2"/>
          <a:stretch>
            <a:fillRect/>
          </a:stretch>
        </p:blipFill>
        <p:spPr>
          <a:xfrm>
            <a:off x="10499279" y="-55723"/>
            <a:ext cx="1692721" cy="794277"/>
          </a:xfrm>
          <a:prstGeom prst="rect">
            <a:avLst/>
          </a:prstGeom>
        </p:spPr>
      </p:pic>
    </p:spTree>
    <p:extLst>
      <p:ext uri="{BB962C8B-B14F-4D97-AF65-F5344CB8AC3E}">
        <p14:creationId xmlns:p14="http://schemas.microsoft.com/office/powerpoint/2010/main" val="2630871928"/>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3694</TotalTime>
  <Words>1057</Words>
  <Application>Microsoft Office PowerPoint</Application>
  <PresentationFormat>Widescreen</PresentationFormat>
  <Paragraphs>93</Paragraphs>
  <Slides>10</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Office Theme</vt:lpstr>
      <vt:lpstr>Document</vt:lpstr>
      <vt:lpstr>Spec Reader GIT Commit Process</vt:lpstr>
      <vt:lpstr>Before we being.. </vt:lpstr>
      <vt:lpstr>1. Developer updates his local git repo by “Fetch origin” from GitHub desktop  and update his workspace on daily basis.  2. Developer will create his own feature branch by updating development branch from GitHub desktop  3. Developer will merge his code into development  branch by comparing from Beyond compare.  a. execute “Fetch origin” (Before any merge its mandatory to update branch by git pull)  b. Compare your code using beyond compare and merge only your changes into your “feature”.  c. Add proper comments before you commit your code (Ex: Defect/req: &lt;Description&gt;)  d. Execute git push command to push your code to “feature” branch  4. click on “Create Pull request” or Navigate to github.pg.com and “compare &amp; pull request”. One reviewer is mandatory to merge/commit the feature. Before creating pull request always please validate source and destination branches. Developer will communicate to Lead to review/approve the pull request  5. Using azure pipeline Development branch will deploy into DEV2 environment.  6. Developer will perform the Unit Testing/Internal Testing                                       7. SIT/QA/PROD Deployment by DevOps Engineer   </vt:lpstr>
      <vt:lpstr>Attached the Word document which explains below points:  1. Git Desktop installation and set up  2. Updating latest workspace, create branch, code merge and create pull request with screenshots  P&amp;G Specs Reader git repo:  https://github.com/procter-gamble/SpecAnywhere.git    </vt:lpstr>
      <vt:lpstr>Thank you!</vt:lpstr>
      <vt:lpstr>PowerPoint Presentation</vt:lpstr>
      <vt:lpstr>PowerPoint Presentation</vt:lpstr>
      <vt:lpstr>PowerPoint Presentation</vt:lpstr>
      <vt:lpstr>1. Developer will update his local git repo by “Fetch origin” from GitHub desktop  and update his workspace on daily basis.  2. Developer will create his own feature branch by updating development branch from GitHub desktop  3. Developer will merge his code into development  branch by comparing from Beyond compare.   a. execute “Fetch origin” (Before any merge its mandatory to update branch by git pull)   b. Compare your code using beyond compare and merge only your changes into your “feature”.   C. Add proper comments before you commit your code (Ex: Defect/req: &lt;Description&gt;)   d. Execute git push command to push your code to “feature” branch  4. click on “Create Pull request” or Navigate to github.pg.com and “compare &amp; pull request”. One reviewer is mandatory to merge/commit the feature. Before creating pull request always please validate source and destination branches. Developer will communicate to Lead to review/approve the pull request  5. Using azure pipeline Development branch will deploy into DEV2 environment.  6. Developer will perform the Unit Testing/Internal Testing                                       7. SIT/QA/PROD Deployment by DevOps Engineer     </vt:lpstr>
      <vt:lpstr>DevOps POC on AWS:  EC2(Elastic Compute Cloud) </vt:lpstr>
    </vt:vector>
  </TitlesOfParts>
  <Company>Infosys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Davinci Architecture Review</dc:title>
  <dc:creator>Krishna Markande</dc:creator>
  <cp:lastModifiedBy>Jwala Narasimha Rao Unnam</cp:lastModifiedBy>
  <cp:revision>229</cp:revision>
  <dcterms:created xsi:type="dcterms:W3CDTF">2020-12-12T16:48:22Z</dcterms:created>
  <dcterms:modified xsi:type="dcterms:W3CDTF">2021-06-30T15:55:34Z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4b3411-284d-4d31-bd4f-bc13ef7f1fd6_Enabled">
    <vt:lpwstr>True</vt:lpwstr>
  </property>
  <property fmtid="{D5CDD505-2E9C-101B-9397-08002B2CF9AE}" pid="3" name="MSIP_Label_be4b3411-284d-4d31-bd4f-bc13ef7f1fd6_SiteId">
    <vt:lpwstr>63ce7d59-2f3e-42cd-a8cc-be764cff5eb6</vt:lpwstr>
  </property>
  <property fmtid="{D5CDD505-2E9C-101B-9397-08002B2CF9AE}" pid="4" name="MSIP_Label_be4b3411-284d-4d31-bd4f-bc13ef7f1fd6_Owner">
    <vt:lpwstr>Krishna_Markande@ad.infosys.com</vt:lpwstr>
  </property>
  <property fmtid="{D5CDD505-2E9C-101B-9397-08002B2CF9AE}" pid="5" name="MSIP_Label_be4b3411-284d-4d31-bd4f-bc13ef7f1fd6_SetDate">
    <vt:lpwstr>2020-12-12T16:48:45.2325189Z</vt:lpwstr>
  </property>
  <property fmtid="{D5CDD505-2E9C-101B-9397-08002B2CF9AE}" pid="6" name="MSIP_Label_be4b3411-284d-4d31-bd4f-bc13ef7f1fd6_Name">
    <vt:lpwstr>Internal</vt:lpwstr>
  </property>
  <property fmtid="{D5CDD505-2E9C-101B-9397-08002B2CF9AE}" pid="7" name="MSIP_Label_be4b3411-284d-4d31-bd4f-bc13ef7f1fd6_Application">
    <vt:lpwstr>Microsoft Azure Information Protection</vt:lpwstr>
  </property>
  <property fmtid="{D5CDD505-2E9C-101B-9397-08002B2CF9AE}" pid="8" name="MSIP_Label_be4b3411-284d-4d31-bd4f-bc13ef7f1fd6_ActionId">
    <vt:lpwstr>4e09705b-c94a-4bc2-973a-cfe3de9cfdee</vt:lpwstr>
  </property>
  <property fmtid="{D5CDD505-2E9C-101B-9397-08002B2CF9AE}" pid="9" name="MSIP_Label_be4b3411-284d-4d31-bd4f-bc13ef7f1fd6_Extended_MSFT_Method">
    <vt:lpwstr>Automatic</vt:lpwstr>
  </property>
  <property fmtid="{D5CDD505-2E9C-101B-9397-08002B2CF9AE}" pid="10" name="MSIP_Label_a0819fa7-4367-4500-ba88-dd630d977609_Enabled">
    <vt:lpwstr>True</vt:lpwstr>
  </property>
  <property fmtid="{D5CDD505-2E9C-101B-9397-08002B2CF9AE}" pid="11" name="MSIP_Label_a0819fa7-4367-4500-ba88-dd630d977609_SiteId">
    <vt:lpwstr>63ce7d59-2f3e-42cd-a8cc-be764cff5eb6</vt:lpwstr>
  </property>
  <property fmtid="{D5CDD505-2E9C-101B-9397-08002B2CF9AE}" pid="12" name="MSIP_Label_a0819fa7-4367-4500-ba88-dd630d977609_Owner">
    <vt:lpwstr>Krishna_Markande@ad.infosys.com</vt:lpwstr>
  </property>
  <property fmtid="{D5CDD505-2E9C-101B-9397-08002B2CF9AE}" pid="13" name="MSIP_Label_a0819fa7-4367-4500-ba88-dd630d977609_SetDate">
    <vt:lpwstr>2020-12-12T16:48:45.2325189Z</vt:lpwstr>
  </property>
  <property fmtid="{D5CDD505-2E9C-101B-9397-08002B2CF9AE}" pid="14" name="MSIP_Label_a0819fa7-4367-4500-ba88-dd630d977609_Name">
    <vt:lpwstr>Companywide usage</vt:lpwstr>
  </property>
  <property fmtid="{D5CDD505-2E9C-101B-9397-08002B2CF9AE}" pid="15" name="MSIP_Label_a0819fa7-4367-4500-ba88-dd630d977609_Application">
    <vt:lpwstr>Microsoft Azure Information Protection</vt:lpwstr>
  </property>
  <property fmtid="{D5CDD505-2E9C-101B-9397-08002B2CF9AE}" pid="16" name="MSIP_Label_a0819fa7-4367-4500-ba88-dd630d977609_ActionId">
    <vt:lpwstr>4e09705b-c94a-4bc2-973a-cfe3de9cfdee</vt:lpwstr>
  </property>
  <property fmtid="{D5CDD505-2E9C-101B-9397-08002B2CF9AE}" pid="17" name="MSIP_Label_a0819fa7-4367-4500-ba88-dd630d977609_Parent">
    <vt:lpwstr>be4b3411-284d-4d31-bd4f-bc13ef7f1fd6</vt:lpwstr>
  </property>
  <property fmtid="{D5CDD505-2E9C-101B-9397-08002B2CF9AE}" pid="18" name="MSIP_Label_a0819fa7-4367-4500-ba88-dd630d977609_Extended_MSFT_Method">
    <vt:lpwstr>Automatic</vt:lpwstr>
  </property>
  <property fmtid="{D5CDD505-2E9C-101B-9397-08002B2CF9AE}" pid="19" name="Sensitivity">
    <vt:lpwstr>Internal Companywide usage</vt:lpwstr>
  </property>
</Properties>
</file>