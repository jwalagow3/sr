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70" r:id="rId5"/>
    <p:sldId id="271" r:id="rId6"/>
    <p:sldId id="26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D5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4D58D0-C46A-4571-9CCD-50138D1FF3D7}" v="3" dt="2023-01-12T22:00:53.5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00" autoAdjust="0"/>
    <p:restoredTop sz="94660"/>
  </p:normalViewPr>
  <p:slideViewPr>
    <p:cSldViewPr snapToGrid="0">
      <p:cViewPr>
        <p:scale>
          <a:sx n="75" d="100"/>
          <a:sy n="75" d="100"/>
        </p:scale>
        <p:origin x="642"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9FF6-66E8-46B1-B156-1EA7C3D0A5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6C8146-9FAE-4A47-87D2-03A8747BDC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2DA536-A1D8-488E-A782-D8EB9908A70F}"/>
              </a:ext>
            </a:extLst>
          </p:cNvPr>
          <p:cNvSpPr>
            <a:spLocks noGrp="1"/>
          </p:cNvSpPr>
          <p:nvPr>
            <p:ph type="dt" sz="half" idx="10"/>
          </p:nvPr>
        </p:nvSpPr>
        <p:spPr/>
        <p:txBody>
          <a:bodyPr/>
          <a:lstStyle/>
          <a:p>
            <a:fld id="{5074D19A-0946-429D-84FF-DA94D4DC5E91}" type="datetimeFigureOut">
              <a:rPr lang="en-US" smtClean="0"/>
              <a:t>3/6/2024</a:t>
            </a:fld>
            <a:endParaRPr lang="en-US"/>
          </a:p>
        </p:txBody>
      </p:sp>
      <p:sp>
        <p:nvSpPr>
          <p:cNvPr id="5" name="Footer Placeholder 4">
            <a:extLst>
              <a:ext uri="{FF2B5EF4-FFF2-40B4-BE49-F238E27FC236}">
                <a16:creationId xmlns:a16="http://schemas.microsoft.com/office/drawing/2014/main" id="{DBD5F374-A7E2-42FE-86A7-8FAF129494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573902-B05A-4133-97E8-897D4415972B}"/>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1417228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95C6F-928B-4BF1-B933-C8B91FDCB6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085685-9933-4164-9EA5-EAC7D33918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6C4554-DCD5-4918-BAA4-DA03B557554A}"/>
              </a:ext>
            </a:extLst>
          </p:cNvPr>
          <p:cNvSpPr>
            <a:spLocks noGrp="1"/>
          </p:cNvSpPr>
          <p:nvPr>
            <p:ph type="dt" sz="half" idx="10"/>
          </p:nvPr>
        </p:nvSpPr>
        <p:spPr/>
        <p:txBody>
          <a:bodyPr/>
          <a:lstStyle/>
          <a:p>
            <a:fld id="{5074D19A-0946-429D-84FF-DA94D4DC5E91}" type="datetimeFigureOut">
              <a:rPr lang="en-US" smtClean="0"/>
              <a:t>3/6/2024</a:t>
            </a:fld>
            <a:endParaRPr lang="en-US"/>
          </a:p>
        </p:txBody>
      </p:sp>
      <p:sp>
        <p:nvSpPr>
          <p:cNvPr id="5" name="Footer Placeholder 4">
            <a:extLst>
              <a:ext uri="{FF2B5EF4-FFF2-40B4-BE49-F238E27FC236}">
                <a16:creationId xmlns:a16="http://schemas.microsoft.com/office/drawing/2014/main" id="{032EE581-5AA5-493B-9B5B-DF7D43CC81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6DBA90-1495-4EE0-81CB-845774621D4E}"/>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3844103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F5266-9FE5-49AB-B6DB-45B2B51115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ABF754-369F-49C7-8B90-618E59DBC5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2711CC-0302-4D29-963D-670F20F77811}"/>
              </a:ext>
            </a:extLst>
          </p:cNvPr>
          <p:cNvSpPr>
            <a:spLocks noGrp="1"/>
          </p:cNvSpPr>
          <p:nvPr>
            <p:ph type="dt" sz="half" idx="10"/>
          </p:nvPr>
        </p:nvSpPr>
        <p:spPr/>
        <p:txBody>
          <a:bodyPr/>
          <a:lstStyle/>
          <a:p>
            <a:fld id="{5074D19A-0946-429D-84FF-DA94D4DC5E91}" type="datetimeFigureOut">
              <a:rPr lang="en-US" smtClean="0"/>
              <a:t>3/6/2024</a:t>
            </a:fld>
            <a:endParaRPr lang="en-US"/>
          </a:p>
        </p:txBody>
      </p:sp>
      <p:sp>
        <p:nvSpPr>
          <p:cNvPr id="5" name="Footer Placeholder 4">
            <a:extLst>
              <a:ext uri="{FF2B5EF4-FFF2-40B4-BE49-F238E27FC236}">
                <a16:creationId xmlns:a16="http://schemas.microsoft.com/office/drawing/2014/main" id="{AC36F519-980C-4FDF-8A76-E875CC3575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CB302E-8555-41A3-980B-5B77DB23425E}"/>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3267902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97C07-39A4-4F0E-8E65-B8CEFFDD7A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95B6DF-39B5-466E-8AF3-577F80CD8D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8478A8-6ADF-40F8-98F4-DF5085B55C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DF5BF1-B117-4A65-87DB-D0477B3A10E7}"/>
              </a:ext>
            </a:extLst>
          </p:cNvPr>
          <p:cNvSpPr>
            <a:spLocks noGrp="1"/>
          </p:cNvSpPr>
          <p:nvPr>
            <p:ph type="dt" sz="half" idx="10"/>
          </p:nvPr>
        </p:nvSpPr>
        <p:spPr/>
        <p:txBody>
          <a:bodyPr/>
          <a:lstStyle/>
          <a:p>
            <a:fld id="{5074D19A-0946-429D-84FF-DA94D4DC5E91}" type="datetimeFigureOut">
              <a:rPr lang="en-US" smtClean="0"/>
              <a:t>3/6/2024</a:t>
            </a:fld>
            <a:endParaRPr lang="en-US"/>
          </a:p>
        </p:txBody>
      </p:sp>
      <p:sp>
        <p:nvSpPr>
          <p:cNvPr id="6" name="Footer Placeholder 5">
            <a:extLst>
              <a:ext uri="{FF2B5EF4-FFF2-40B4-BE49-F238E27FC236}">
                <a16:creationId xmlns:a16="http://schemas.microsoft.com/office/drawing/2014/main" id="{030489E6-09BE-4E1C-9A6B-431ADAF566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970F99-EB54-44B6-B44C-F3D9F7BA1A79}"/>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1241331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C0E1B-398D-479D-8084-1ADC0B57648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0802EC-E0FA-4DC8-8F81-234649A37C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6F0C3F-393C-41B4-B1B3-7B27FB0FBB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487772-40A6-431D-BD20-77E7A31C7C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2BCE68-03A6-4863-AF81-6916D9B791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E672B6-11D2-48EE-AE1E-8B341931EAE6}"/>
              </a:ext>
            </a:extLst>
          </p:cNvPr>
          <p:cNvSpPr>
            <a:spLocks noGrp="1"/>
          </p:cNvSpPr>
          <p:nvPr>
            <p:ph type="dt" sz="half" idx="10"/>
          </p:nvPr>
        </p:nvSpPr>
        <p:spPr/>
        <p:txBody>
          <a:bodyPr/>
          <a:lstStyle/>
          <a:p>
            <a:fld id="{5074D19A-0946-429D-84FF-DA94D4DC5E91}" type="datetimeFigureOut">
              <a:rPr lang="en-US" smtClean="0"/>
              <a:t>3/6/2024</a:t>
            </a:fld>
            <a:endParaRPr lang="en-US"/>
          </a:p>
        </p:txBody>
      </p:sp>
      <p:sp>
        <p:nvSpPr>
          <p:cNvPr id="8" name="Footer Placeholder 7">
            <a:extLst>
              <a:ext uri="{FF2B5EF4-FFF2-40B4-BE49-F238E27FC236}">
                <a16:creationId xmlns:a16="http://schemas.microsoft.com/office/drawing/2014/main" id="{21222BFC-4CE1-41E7-A4D2-CEB3B0E56ED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E122B4-D822-41EF-9FE9-E2F63C748209}"/>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202883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4A004-4381-4B22-9D76-C3D9BBD4017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7B997C-04A1-4C4D-926C-A9484C92C735}"/>
              </a:ext>
            </a:extLst>
          </p:cNvPr>
          <p:cNvSpPr>
            <a:spLocks noGrp="1"/>
          </p:cNvSpPr>
          <p:nvPr>
            <p:ph type="dt" sz="half" idx="10"/>
          </p:nvPr>
        </p:nvSpPr>
        <p:spPr/>
        <p:txBody>
          <a:bodyPr/>
          <a:lstStyle/>
          <a:p>
            <a:fld id="{5074D19A-0946-429D-84FF-DA94D4DC5E91}" type="datetimeFigureOut">
              <a:rPr lang="en-US" smtClean="0"/>
              <a:t>3/6/2024</a:t>
            </a:fld>
            <a:endParaRPr lang="en-US"/>
          </a:p>
        </p:txBody>
      </p:sp>
      <p:sp>
        <p:nvSpPr>
          <p:cNvPr id="4" name="Footer Placeholder 3">
            <a:extLst>
              <a:ext uri="{FF2B5EF4-FFF2-40B4-BE49-F238E27FC236}">
                <a16:creationId xmlns:a16="http://schemas.microsoft.com/office/drawing/2014/main" id="{49480FA0-861F-41B5-A662-9EDCB3FC16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6DE2BF-1EDE-4408-A272-AC87C683BC34}"/>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1962639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FC93B0-67AA-4038-9997-9085D1D51487}"/>
              </a:ext>
            </a:extLst>
          </p:cNvPr>
          <p:cNvSpPr>
            <a:spLocks noGrp="1"/>
          </p:cNvSpPr>
          <p:nvPr>
            <p:ph type="dt" sz="half" idx="10"/>
          </p:nvPr>
        </p:nvSpPr>
        <p:spPr/>
        <p:txBody>
          <a:bodyPr/>
          <a:lstStyle/>
          <a:p>
            <a:fld id="{5074D19A-0946-429D-84FF-DA94D4DC5E91}" type="datetimeFigureOut">
              <a:rPr lang="en-US" smtClean="0"/>
              <a:t>3/6/2024</a:t>
            </a:fld>
            <a:endParaRPr lang="en-US"/>
          </a:p>
        </p:txBody>
      </p:sp>
      <p:sp>
        <p:nvSpPr>
          <p:cNvPr id="3" name="Footer Placeholder 2">
            <a:extLst>
              <a:ext uri="{FF2B5EF4-FFF2-40B4-BE49-F238E27FC236}">
                <a16:creationId xmlns:a16="http://schemas.microsoft.com/office/drawing/2014/main" id="{29E1B5F7-2DC6-4334-9C01-A4005614A3D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55B62B3-4BE4-4FF9-945C-6FE5654D5542}"/>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30970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177DF-1942-45D4-A156-0A9BE84D28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5D198F-9D0D-4329-9537-6C5F173901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AFDCB3-8635-43DB-B3D4-850C1C862C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B57A42-670A-412A-932B-49846D0A850D}"/>
              </a:ext>
            </a:extLst>
          </p:cNvPr>
          <p:cNvSpPr>
            <a:spLocks noGrp="1"/>
          </p:cNvSpPr>
          <p:nvPr>
            <p:ph type="dt" sz="half" idx="10"/>
          </p:nvPr>
        </p:nvSpPr>
        <p:spPr/>
        <p:txBody>
          <a:bodyPr/>
          <a:lstStyle/>
          <a:p>
            <a:fld id="{5074D19A-0946-429D-84FF-DA94D4DC5E91}" type="datetimeFigureOut">
              <a:rPr lang="en-US" smtClean="0"/>
              <a:t>3/6/2024</a:t>
            </a:fld>
            <a:endParaRPr lang="en-US"/>
          </a:p>
        </p:txBody>
      </p:sp>
      <p:sp>
        <p:nvSpPr>
          <p:cNvPr id="6" name="Footer Placeholder 5">
            <a:extLst>
              <a:ext uri="{FF2B5EF4-FFF2-40B4-BE49-F238E27FC236}">
                <a16:creationId xmlns:a16="http://schemas.microsoft.com/office/drawing/2014/main" id="{304ECD36-9FC9-4E89-BEFF-71E37670E1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C4E5DD-FA80-4938-8EFC-103CF90B875B}"/>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3143938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7C2BE-6520-4338-B6D2-F8DF833D0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69F43D-332B-4757-B8DD-CC3FE95DCA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CFCF72-7CDD-4EEC-A6AC-360D620EF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A65B91-3A26-4106-BEA0-535572DF5447}"/>
              </a:ext>
            </a:extLst>
          </p:cNvPr>
          <p:cNvSpPr>
            <a:spLocks noGrp="1"/>
          </p:cNvSpPr>
          <p:nvPr>
            <p:ph type="dt" sz="half" idx="10"/>
          </p:nvPr>
        </p:nvSpPr>
        <p:spPr/>
        <p:txBody>
          <a:bodyPr/>
          <a:lstStyle/>
          <a:p>
            <a:fld id="{5074D19A-0946-429D-84FF-DA94D4DC5E91}" type="datetimeFigureOut">
              <a:rPr lang="en-US" smtClean="0"/>
              <a:t>3/6/2024</a:t>
            </a:fld>
            <a:endParaRPr lang="en-US"/>
          </a:p>
        </p:txBody>
      </p:sp>
      <p:sp>
        <p:nvSpPr>
          <p:cNvPr id="6" name="Footer Placeholder 5">
            <a:extLst>
              <a:ext uri="{FF2B5EF4-FFF2-40B4-BE49-F238E27FC236}">
                <a16:creationId xmlns:a16="http://schemas.microsoft.com/office/drawing/2014/main" id="{8E978FB3-B085-45C8-898F-5A43C3A926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839DC0-4F2B-4A5D-B14B-ED2FCAE28E6E}"/>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1858773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D35C7-5F6C-48DC-BDC2-831928A727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3C042A-6D2A-43CB-B36C-C4DB126D24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B19518-3281-4736-960A-81819651587D}"/>
              </a:ext>
            </a:extLst>
          </p:cNvPr>
          <p:cNvSpPr>
            <a:spLocks noGrp="1"/>
          </p:cNvSpPr>
          <p:nvPr>
            <p:ph type="dt" sz="half" idx="10"/>
          </p:nvPr>
        </p:nvSpPr>
        <p:spPr/>
        <p:txBody>
          <a:bodyPr/>
          <a:lstStyle/>
          <a:p>
            <a:fld id="{5074D19A-0946-429D-84FF-DA94D4DC5E91}" type="datetimeFigureOut">
              <a:rPr lang="en-US" smtClean="0"/>
              <a:t>3/6/2024</a:t>
            </a:fld>
            <a:endParaRPr lang="en-US"/>
          </a:p>
        </p:txBody>
      </p:sp>
      <p:sp>
        <p:nvSpPr>
          <p:cNvPr id="5" name="Footer Placeholder 4">
            <a:extLst>
              <a:ext uri="{FF2B5EF4-FFF2-40B4-BE49-F238E27FC236}">
                <a16:creationId xmlns:a16="http://schemas.microsoft.com/office/drawing/2014/main" id="{48A93B42-D4F2-4D10-9EAF-E808BB944C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408CFB-734A-4EEB-A54B-5113C0211F0E}"/>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1904113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02476A-90AC-4E34-8EE6-3EAEEBC62E3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CDA4FE-AE68-4982-BE78-4A56D85943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0F62B8-8D1D-47F0-8802-E97986E76997}"/>
              </a:ext>
            </a:extLst>
          </p:cNvPr>
          <p:cNvSpPr>
            <a:spLocks noGrp="1"/>
          </p:cNvSpPr>
          <p:nvPr>
            <p:ph type="dt" sz="half" idx="10"/>
          </p:nvPr>
        </p:nvSpPr>
        <p:spPr/>
        <p:txBody>
          <a:bodyPr/>
          <a:lstStyle/>
          <a:p>
            <a:fld id="{5074D19A-0946-429D-84FF-DA94D4DC5E91}" type="datetimeFigureOut">
              <a:rPr lang="en-US" smtClean="0"/>
              <a:t>3/6/2024</a:t>
            </a:fld>
            <a:endParaRPr lang="en-US"/>
          </a:p>
        </p:txBody>
      </p:sp>
      <p:sp>
        <p:nvSpPr>
          <p:cNvPr id="5" name="Footer Placeholder 4">
            <a:extLst>
              <a:ext uri="{FF2B5EF4-FFF2-40B4-BE49-F238E27FC236}">
                <a16:creationId xmlns:a16="http://schemas.microsoft.com/office/drawing/2014/main" id="{F99D29AE-6A8E-46FD-98E0-CE1D99525C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F787BC-826B-4FE8-976E-D0692CEE7DE6}"/>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3940973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89000" b="-1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E4A727-A7FA-4086-892D-B761A7AD26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006629-B0AF-4878-AB62-B38B095B50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F79CCB-1C45-43B3-A0CF-E43B4C9E22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74D19A-0946-429D-84FF-DA94D4DC5E91}" type="datetimeFigureOut">
              <a:rPr lang="en-US" smtClean="0"/>
              <a:t>3/6/2024</a:t>
            </a:fld>
            <a:endParaRPr lang="en-US"/>
          </a:p>
        </p:txBody>
      </p:sp>
      <p:sp>
        <p:nvSpPr>
          <p:cNvPr id="5" name="Footer Placeholder 4">
            <a:extLst>
              <a:ext uri="{FF2B5EF4-FFF2-40B4-BE49-F238E27FC236}">
                <a16:creationId xmlns:a16="http://schemas.microsoft.com/office/drawing/2014/main" id="{64FFEE54-BB1B-423F-A835-F4E49986AE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D4C394E-7898-4A8C-A68F-B1C4A05A7F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0124C5-3094-43E8-9244-DDB0C972A448}" type="slidenum">
              <a:rPr lang="en-US" smtClean="0"/>
              <a:t>‹#›</a:t>
            </a:fld>
            <a:endParaRPr lang="en-US"/>
          </a:p>
        </p:txBody>
      </p:sp>
    </p:spTree>
    <p:extLst>
      <p:ext uri="{BB962C8B-B14F-4D97-AF65-F5344CB8AC3E}">
        <p14:creationId xmlns:p14="http://schemas.microsoft.com/office/powerpoint/2010/main" val="18040792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8A3221-E4B4-4B51-9259-F9A7A343970F}"/>
              </a:ext>
            </a:extLst>
          </p:cNvPr>
          <p:cNvPicPr>
            <a:picLocks noChangeAspect="1"/>
          </p:cNvPicPr>
          <p:nvPr/>
        </p:nvPicPr>
        <p:blipFill rotWithShape="1">
          <a:blip r:embed="rId2"/>
          <a:srcRect l="10713" r="7572"/>
          <a:stretch/>
        </p:blipFill>
        <p:spPr>
          <a:xfrm>
            <a:off x="1366391" y="0"/>
            <a:ext cx="9459218" cy="6858000"/>
          </a:xfrm>
          <a:custGeom>
            <a:avLst/>
            <a:gdLst/>
            <a:ahLst/>
            <a:cxnLst/>
            <a:rect l="l" t="t" r="r" b="b"/>
            <a:pathLst>
              <a:path w="7761924" h="5343065">
                <a:moveTo>
                  <a:pt x="3025687" y="76"/>
                </a:moveTo>
                <a:cubicBezTo>
                  <a:pt x="3140786" y="756"/>
                  <a:pt x="3256631" y="6055"/>
                  <a:pt x="3372722" y="16088"/>
                </a:cubicBezTo>
                <a:cubicBezTo>
                  <a:pt x="5230178" y="176616"/>
                  <a:pt x="7761924" y="1424594"/>
                  <a:pt x="7761924" y="3316816"/>
                </a:cubicBezTo>
                <a:cubicBezTo>
                  <a:pt x="7646022" y="5237647"/>
                  <a:pt x="4988715" y="5423921"/>
                  <a:pt x="3701109" y="5320611"/>
                </a:cubicBezTo>
                <a:cubicBezTo>
                  <a:pt x="2413504" y="5217301"/>
                  <a:pt x="351800" y="4486992"/>
                  <a:pt x="36290" y="2696959"/>
                </a:cubicBezTo>
                <a:cubicBezTo>
                  <a:pt x="-259500" y="1018804"/>
                  <a:pt x="1299198" y="-10133"/>
                  <a:pt x="3025687" y="76"/>
                </a:cubicBezTo>
                <a:close/>
              </a:path>
            </a:pathLst>
          </a:custGeom>
        </p:spPr>
      </p:pic>
      <p:sp>
        <p:nvSpPr>
          <p:cNvPr id="3" name="Shape 374">
            <a:extLst>
              <a:ext uri="{FF2B5EF4-FFF2-40B4-BE49-F238E27FC236}">
                <a16:creationId xmlns:a16="http://schemas.microsoft.com/office/drawing/2014/main" id="{A53C9277-1C2D-4215-A110-D2C2B78ED685}"/>
              </a:ext>
            </a:extLst>
          </p:cNvPr>
          <p:cNvSpPr txBox="1">
            <a:spLocks/>
          </p:cNvSpPr>
          <p:nvPr/>
        </p:nvSpPr>
        <p:spPr>
          <a:xfrm>
            <a:off x="196701" y="1018440"/>
            <a:ext cx="4267200" cy="1106905"/>
          </a:xfrm>
        </p:spPr>
        <p:txBody>
          <a:bodyPr anchor="t">
            <a:normAutofit lnSpcReduction="10000"/>
          </a:bodyPr>
          <a:lstStyle>
            <a:lvl1pPr marL="0" marR="0" indent="0" algn="ctr" defTabSz="609585" rtl="0" latinLnBrk="0">
              <a:lnSpc>
                <a:spcPct val="100000"/>
              </a:lnSpc>
              <a:spcBef>
                <a:spcPts val="0"/>
              </a:spcBef>
              <a:spcAft>
                <a:spcPts val="0"/>
              </a:spcAft>
              <a:buClrTx/>
              <a:buSzTx/>
              <a:buFontTx/>
              <a:buNone/>
              <a:tabLst/>
              <a:defRPr sz="2500" b="0" i="0" u="none" strike="noStrike" cap="none" spc="0" baseline="0">
                <a:ln>
                  <a:noFill/>
                </a:ln>
                <a:solidFill>
                  <a:srgbClr val="2670C3"/>
                </a:solidFill>
                <a:uFillTx/>
                <a:latin typeface="Arial"/>
                <a:ea typeface="Arial"/>
                <a:cs typeface="Arial"/>
                <a:sym typeface="Arial"/>
              </a:defRPr>
            </a:lvl1pPr>
            <a:lvl2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2pPr>
            <a:lvl3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3pPr>
            <a:lvl4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4pPr>
            <a:lvl5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5pPr>
            <a:lvl6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6pPr>
            <a:lvl7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7pPr>
            <a:lvl8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8pPr>
            <a:lvl9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9pPr>
          </a:lstStyle>
          <a:p>
            <a:r>
              <a:rPr lang="en-US" sz="4250" dirty="0">
                <a:ea typeface="+mn-ea"/>
              </a:rPr>
              <a:t>Spec Reader</a:t>
            </a:r>
            <a:br>
              <a:rPr lang="en-US" sz="4250" dirty="0">
                <a:ea typeface="+mn-ea"/>
              </a:rPr>
            </a:br>
            <a:endParaRPr lang="en-US" sz="2800" kern="0" dirty="0">
              <a:ea typeface="+mn-ea"/>
            </a:endParaRPr>
          </a:p>
        </p:txBody>
      </p:sp>
    </p:spTree>
    <p:extLst>
      <p:ext uri="{BB962C8B-B14F-4D97-AF65-F5344CB8AC3E}">
        <p14:creationId xmlns:p14="http://schemas.microsoft.com/office/powerpoint/2010/main" val="2500933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DB4034CB-D333-4818-AFF9-71626D2BAAB6}"/>
              </a:ext>
            </a:extLst>
          </p:cNvPr>
          <p:cNvSpPr>
            <a:spLocks noGrp="1"/>
          </p:cNvSpPr>
          <p:nvPr>
            <p:ph type="title"/>
          </p:nvPr>
        </p:nvSpPr>
        <p:spPr>
          <a:xfrm>
            <a:off x="48356" y="55065"/>
            <a:ext cx="12143644" cy="822630"/>
          </a:xfrm>
        </p:spPr>
        <p:txBody>
          <a:bodyPr>
            <a:normAutofit fontScale="90000"/>
          </a:bodyPr>
          <a:lstStyle/>
          <a:p>
            <a:r>
              <a:rPr lang="en-US" sz="2400" b="1" dirty="0">
                <a:solidFill>
                  <a:schemeClr val="accent1"/>
                </a:solidFill>
                <a:latin typeface="Arial" panose="020B0604020202020204" pitchFamily="34" charset="0"/>
                <a:cs typeface="Arial" panose="020B0604020202020204" pitchFamily="34" charset="0"/>
              </a:rPr>
              <a:t> </a:t>
            </a:r>
            <a:r>
              <a:rPr lang="en-US" sz="2200" b="1" dirty="0">
                <a:solidFill>
                  <a:schemeClr val="accent1"/>
                </a:solidFill>
                <a:latin typeface="Arial" panose="020B0604020202020204" pitchFamily="34" charset="0"/>
                <a:cs typeface="Arial" panose="020B0604020202020204" pitchFamily="34" charset="0"/>
              </a:rPr>
              <a:t>Approach on handling deleted EBP Summary Objects in SR after Plant Disconnection (1/4)</a:t>
            </a:r>
            <a:br>
              <a:rPr lang="en-US" sz="2400" b="1" dirty="0">
                <a:solidFill>
                  <a:schemeClr val="accent1"/>
                </a:solidFill>
                <a:latin typeface="Arial" panose="020B0604020202020204" pitchFamily="34" charset="0"/>
                <a:cs typeface="Arial" panose="020B0604020202020204" pitchFamily="34" charset="0"/>
              </a:rPr>
            </a:br>
            <a:endParaRPr lang="en-IN" sz="2400" b="1" dirty="0">
              <a:solidFill>
                <a:schemeClr val="accent1"/>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C70C0907-6E9D-EE75-11C2-988E9BF66E3E}"/>
              </a:ext>
            </a:extLst>
          </p:cNvPr>
          <p:cNvSpPr txBox="1"/>
          <p:nvPr/>
        </p:nvSpPr>
        <p:spPr>
          <a:xfrm>
            <a:off x="318868" y="809659"/>
            <a:ext cx="11526129" cy="1754326"/>
          </a:xfrm>
          <a:prstGeom prst="rect">
            <a:avLst/>
          </a:prstGeom>
          <a:noFill/>
          <a:ln>
            <a:noFill/>
          </a:ln>
        </p:spPr>
        <p:txBody>
          <a:bodyPr wrap="square" rtlCol="0">
            <a:spAutoFit/>
          </a:bodyPr>
          <a:lstStyle/>
          <a:p>
            <a:r>
              <a:rPr lang="en-US" b="1" dirty="0"/>
              <a:t>REQ 34462 </a:t>
            </a:r>
            <a:r>
              <a:rPr lang="en-US" dirty="0"/>
              <a:t>: When a plant(s) is removed from a part or specification, that part or specification shall be removed from the unauthorized plant/company’s EBP Views . Below are 2 use cases where the disconnection of plant happens on a part</a:t>
            </a:r>
          </a:p>
          <a:p>
            <a:pPr marL="742950" lvl="1" indent="-285750">
              <a:buFont typeface="Wingdings" panose="05000000000000000000" pitchFamily="2" charset="2"/>
              <a:buChar char="§"/>
            </a:pPr>
            <a:r>
              <a:rPr lang="en-US" b="1" dirty="0"/>
              <a:t>UC1 : </a:t>
            </a:r>
            <a:r>
              <a:rPr lang="en-US" dirty="0"/>
              <a:t>When part is moved to Obsolete State</a:t>
            </a:r>
          </a:p>
          <a:p>
            <a:pPr marL="742950" lvl="1" indent="-285750">
              <a:buFont typeface="Wingdings" panose="05000000000000000000" pitchFamily="2" charset="2"/>
              <a:buChar char="§"/>
            </a:pPr>
            <a:endParaRPr lang="en-US" dirty="0"/>
          </a:p>
          <a:p>
            <a:pPr marL="742950" lvl="1" indent="-285750">
              <a:buFont typeface="Wingdings" panose="05000000000000000000" pitchFamily="2" charset="2"/>
              <a:buChar char="§"/>
            </a:pPr>
            <a:r>
              <a:rPr lang="en-US" b="1" dirty="0"/>
              <a:t>UC2</a:t>
            </a:r>
            <a:r>
              <a:rPr lang="en-US" dirty="0"/>
              <a:t> : When plant is removed from the part</a:t>
            </a:r>
          </a:p>
          <a:p>
            <a:pPr lvl="1"/>
            <a:endParaRPr lang="en-US" dirty="0"/>
          </a:p>
        </p:txBody>
      </p:sp>
      <p:sp>
        <p:nvSpPr>
          <p:cNvPr id="8" name="TextBox 7">
            <a:extLst>
              <a:ext uri="{FF2B5EF4-FFF2-40B4-BE49-F238E27FC236}">
                <a16:creationId xmlns:a16="http://schemas.microsoft.com/office/drawing/2014/main" id="{AA0FF80C-E0BA-556B-D08D-75DFBB9C5281}"/>
              </a:ext>
            </a:extLst>
          </p:cNvPr>
          <p:cNvSpPr txBox="1"/>
          <p:nvPr/>
        </p:nvSpPr>
        <p:spPr>
          <a:xfrm>
            <a:off x="323557" y="2862855"/>
            <a:ext cx="11521440" cy="2862322"/>
          </a:xfrm>
          <a:prstGeom prst="rect">
            <a:avLst/>
          </a:prstGeom>
          <a:noFill/>
        </p:spPr>
        <p:txBody>
          <a:bodyPr wrap="square" rtlCol="0">
            <a:spAutoFit/>
          </a:bodyPr>
          <a:lstStyle/>
          <a:p>
            <a:r>
              <a:rPr lang="en-US" b="1" dirty="0"/>
              <a:t>RCA : </a:t>
            </a:r>
            <a:r>
              <a:rPr lang="en-US" dirty="0"/>
              <a:t>In either of the scenarios when a part was disconnected in Enovia the part was re-indexed in SR object index after being replicated in SR DB. However, the external view index was not being updated. </a:t>
            </a:r>
          </a:p>
          <a:p>
            <a:endParaRPr lang="en-US" dirty="0"/>
          </a:p>
          <a:p>
            <a:r>
              <a:rPr lang="en-US" b="1" dirty="0"/>
              <a:t>High level approach for requirement: </a:t>
            </a:r>
          </a:p>
          <a:p>
            <a:r>
              <a:rPr lang="en-US" b="1" dirty="0"/>
              <a:t>Step 1</a:t>
            </a:r>
            <a:r>
              <a:rPr lang="en-US" dirty="0"/>
              <a:t> : Existing EBP Object indexing TCL script fetches all the modified EBP objects (was done earlier)</a:t>
            </a:r>
          </a:p>
          <a:p>
            <a:r>
              <a:rPr lang="en-US" b="1" dirty="0"/>
              <a:t>Step 2</a:t>
            </a:r>
            <a:r>
              <a:rPr lang="en-US" dirty="0"/>
              <a:t>: Expands on relationship </a:t>
            </a:r>
            <a:r>
              <a:rPr lang="en-US" dirty="0" err="1"/>
              <a:t>pgIPMSummaryProductData</a:t>
            </a:r>
            <a:r>
              <a:rPr lang="en-US" dirty="0"/>
              <a:t> (condition present in existing script)  </a:t>
            </a:r>
          </a:p>
          <a:p>
            <a:r>
              <a:rPr lang="en-US" b="1" dirty="0"/>
              <a:t>Step 3</a:t>
            </a:r>
            <a:r>
              <a:rPr lang="en-US" dirty="0"/>
              <a:t>: If no results are returned (EBP object is orphan after disconnection from part) generate CSV file which is fed to ES.</a:t>
            </a:r>
          </a:p>
          <a:p>
            <a:endParaRPr lang="en-US" dirty="0"/>
          </a:p>
          <a:p>
            <a:r>
              <a:rPr lang="en-US" dirty="0"/>
              <a:t>Previously there was no action taken in case of orphan EBP objects. Hence the EBP view still reflected the details of the disconnected part.</a:t>
            </a:r>
          </a:p>
        </p:txBody>
      </p:sp>
    </p:spTree>
    <p:extLst>
      <p:ext uri="{BB962C8B-B14F-4D97-AF65-F5344CB8AC3E}">
        <p14:creationId xmlns:p14="http://schemas.microsoft.com/office/powerpoint/2010/main" val="892492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DB4034CB-D333-4818-AFF9-71626D2BAAB6}"/>
              </a:ext>
            </a:extLst>
          </p:cNvPr>
          <p:cNvSpPr>
            <a:spLocks noGrp="1"/>
          </p:cNvSpPr>
          <p:nvPr>
            <p:ph type="title"/>
          </p:nvPr>
        </p:nvSpPr>
        <p:spPr>
          <a:xfrm>
            <a:off x="48356" y="55065"/>
            <a:ext cx="12143644" cy="822630"/>
          </a:xfrm>
        </p:spPr>
        <p:txBody>
          <a:bodyPr>
            <a:normAutofit fontScale="90000"/>
          </a:bodyPr>
          <a:lstStyle/>
          <a:p>
            <a:r>
              <a:rPr lang="en-US" sz="2400" b="1" dirty="0">
                <a:solidFill>
                  <a:schemeClr val="accent1"/>
                </a:solidFill>
                <a:latin typeface="Arial" panose="020B0604020202020204" pitchFamily="34" charset="0"/>
                <a:cs typeface="Arial" panose="020B0604020202020204" pitchFamily="34" charset="0"/>
              </a:rPr>
              <a:t> </a:t>
            </a:r>
            <a:r>
              <a:rPr lang="en-US" sz="2200" b="1" dirty="0">
                <a:solidFill>
                  <a:schemeClr val="accent1"/>
                </a:solidFill>
                <a:latin typeface="Arial" panose="020B0604020202020204" pitchFamily="34" charset="0"/>
                <a:cs typeface="Arial" panose="020B0604020202020204" pitchFamily="34" charset="0"/>
              </a:rPr>
              <a:t>Approach on handling deleted EBP Summary Objects in SR after Plant Disconnection (2/4)</a:t>
            </a:r>
            <a:br>
              <a:rPr lang="en-US" sz="2400" b="1" dirty="0">
                <a:solidFill>
                  <a:schemeClr val="accent1"/>
                </a:solidFill>
                <a:latin typeface="Arial" panose="020B0604020202020204" pitchFamily="34" charset="0"/>
                <a:cs typeface="Arial" panose="020B0604020202020204" pitchFamily="34" charset="0"/>
              </a:rPr>
            </a:br>
            <a:endParaRPr lang="en-IN" sz="2400" b="1" dirty="0">
              <a:solidFill>
                <a:schemeClr val="accent1"/>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C70C0907-6E9D-EE75-11C2-988E9BF66E3E}"/>
              </a:ext>
            </a:extLst>
          </p:cNvPr>
          <p:cNvSpPr txBox="1"/>
          <p:nvPr/>
        </p:nvSpPr>
        <p:spPr>
          <a:xfrm>
            <a:off x="206327" y="739321"/>
            <a:ext cx="11526129" cy="646331"/>
          </a:xfrm>
          <a:prstGeom prst="rect">
            <a:avLst/>
          </a:prstGeom>
          <a:noFill/>
          <a:ln>
            <a:noFill/>
          </a:ln>
        </p:spPr>
        <p:txBody>
          <a:bodyPr wrap="square" rtlCol="0">
            <a:spAutoFit/>
          </a:bodyPr>
          <a:lstStyle/>
          <a:p>
            <a:r>
              <a:rPr lang="en-US" b="1" dirty="0"/>
              <a:t>The existing approach handles the UC1 (</a:t>
            </a:r>
            <a:r>
              <a:rPr lang="en-US" dirty="0"/>
              <a:t>When part is moved to Obsolete State</a:t>
            </a:r>
            <a:r>
              <a:rPr lang="en-US" b="1" dirty="0"/>
              <a:t>)</a:t>
            </a:r>
          </a:p>
          <a:p>
            <a:pPr lvl="1"/>
            <a:endParaRPr lang="en-US" dirty="0"/>
          </a:p>
        </p:txBody>
      </p:sp>
      <p:sp>
        <p:nvSpPr>
          <p:cNvPr id="8" name="TextBox 7">
            <a:extLst>
              <a:ext uri="{FF2B5EF4-FFF2-40B4-BE49-F238E27FC236}">
                <a16:creationId xmlns:a16="http://schemas.microsoft.com/office/drawing/2014/main" id="{AA0FF80C-E0BA-556B-D08D-75DFBB9C5281}"/>
              </a:ext>
            </a:extLst>
          </p:cNvPr>
          <p:cNvSpPr txBox="1"/>
          <p:nvPr/>
        </p:nvSpPr>
        <p:spPr>
          <a:xfrm>
            <a:off x="206327" y="915746"/>
            <a:ext cx="11521440" cy="1754326"/>
          </a:xfrm>
          <a:prstGeom prst="rect">
            <a:avLst/>
          </a:prstGeom>
          <a:noFill/>
        </p:spPr>
        <p:txBody>
          <a:bodyPr wrap="square" rtlCol="0">
            <a:spAutoFit/>
          </a:bodyPr>
          <a:lstStyle/>
          <a:p>
            <a:endParaRPr lang="en-US" dirty="0"/>
          </a:p>
          <a:p>
            <a:r>
              <a:rPr lang="en-US" b="1" dirty="0"/>
              <a:t>High level approach for requirement: </a:t>
            </a:r>
          </a:p>
          <a:p>
            <a:r>
              <a:rPr lang="en-US" b="1" dirty="0"/>
              <a:t>Step 1</a:t>
            </a:r>
            <a:r>
              <a:rPr lang="en-US" dirty="0"/>
              <a:t> : Existing EBP Object indexing TCL script fetches all the modified EBP objects (was done earlier)</a:t>
            </a:r>
          </a:p>
          <a:p>
            <a:r>
              <a:rPr lang="en-US" b="1" dirty="0"/>
              <a:t>Step 2</a:t>
            </a:r>
            <a:r>
              <a:rPr lang="en-US" dirty="0"/>
              <a:t>: Expands on relationship </a:t>
            </a:r>
            <a:r>
              <a:rPr lang="en-US" dirty="0" err="1"/>
              <a:t>pgIPMSummaryProductData</a:t>
            </a:r>
            <a:r>
              <a:rPr lang="en-US" dirty="0"/>
              <a:t> (condition present in existing script)  </a:t>
            </a:r>
          </a:p>
          <a:p>
            <a:r>
              <a:rPr lang="en-US" b="1" dirty="0"/>
              <a:t>Step 3</a:t>
            </a:r>
            <a:r>
              <a:rPr lang="en-US" dirty="0"/>
              <a:t>: If no results are returned (EBP object is orphan after disconnection from part) generate CSV file which is fed to ES.</a:t>
            </a:r>
          </a:p>
          <a:p>
            <a:endParaRPr lang="en-US" dirty="0"/>
          </a:p>
        </p:txBody>
      </p:sp>
      <p:pic>
        <p:nvPicPr>
          <p:cNvPr id="4" name="Picture 3">
            <a:extLst>
              <a:ext uri="{FF2B5EF4-FFF2-40B4-BE49-F238E27FC236}">
                <a16:creationId xmlns:a16="http://schemas.microsoft.com/office/drawing/2014/main" id="{7F662063-AD67-E802-8AD7-EEFF43A81034}"/>
              </a:ext>
            </a:extLst>
          </p:cNvPr>
          <p:cNvPicPr>
            <a:picLocks noChangeAspect="1"/>
          </p:cNvPicPr>
          <p:nvPr/>
        </p:nvPicPr>
        <p:blipFill>
          <a:blip r:embed="rId2"/>
          <a:stretch>
            <a:fillRect/>
          </a:stretch>
        </p:blipFill>
        <p:spPr>
          <a:xfrm>
            <a:off x="464233" y="2670072"/>
            <a:ext cx="10972800" cy="732068"/>
          </a:xfrm>
          <a:prstGeom prst="rect">
            <a:avLst/>
          </a:prstGeom>
        </p:spPr>
      </p:pic>
      <p:pic>
        <p:nvPicPr>
          <p:cNvPr id="6" name="Picture 5">
            <a:extLst>
              <a:ext uri="{FF2B5EF4-FFF2-40B4-BE49-F238E27FC236}">
                <a16:creationId xmlns:a16="http://schemas.microsoft.com/office/drawing/2014/main" id="{7A151483-2DC0-97CE-C953-99390E5D57AB}"/>
              </a:ext>
            </a:extLst>
          </p:cNvPr>
          <p:cNvPicPr>
            <a:picLocks noChangeAspect="1"/>
          </p:cNvPicPr>
          <p:nvPr/>
        </p:nvPicPr>
        <p:blipFill>
          <a:blip r:embed="rId3"/>
          <a:stretch>
            <a:fillRect/>
          </a:stretch>
        </p:blipFill>
        <p:spPr>
          <a:xfrm>
            <a:off x="2467488" y="3455861"/>
            <a:ext cx="6581775" cy="1790700"/>
          </a:xfrm>
          <a:prstGeom prst="rect">
            <a:avLst/>
          </a:prstGeom>
        </p:spPr>
      </p:pic>
    </p:spTree>
    <p:extLst>
      <p:ext uri="{BB962C8B-B14F-4D97-AF65-F5344CB8AC3E}">
        <p14:creationId xmlns:p14="http://schemas.microsoft.com/office/powerpoint/2010/main" val="4114183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DB4034CB-D333-4818-AFF9-71626D2BAAB6}"/>
              </a:ext>
            </a:extLst>
          </p:cNvPr>
          <p:cNvSpPr>
            <a:spLocks noGrp="1"/>
          </p:cNvSpPr>
          <p:nvPr>
            <p:ph type="title"/>
          </p:nvPr>
        </p:nvSpPr>
        <p:spPr>
          <a:xfrm>
            <a:off x="48356" y="55065"/>
            <a:ext cx="12143644" cy="822630"/>
          </a:xfrm>
        </p:spPr>
        <p:txBody>
          <a:bodyPr>
            <a:normAutofit fontScale="90000"/>
          </a:bodyPr>
          <a:lstStyle/>
          <a:p>
            <a:r>
              <a:rPr lang="en-US" sz="2400" b="1" dirty="0">
                <a:solidFill>
                  <a:schemeClr val="accent1"/>
                </a:solidFill>
                <a:latin typeface="Arial" panose="020B0604020202020204" pitchFamily="34" charset="0"/>
                <a:cs typeface="Arial" panose="020B0604020202020204" pitchFamily="34" charset="0"/>
              </a:rPr>
              <a:t> </a:t>
            </a:r>
            <a:r>
              <a:rPr lang="en-US" sz="2200" b="1" dirty="0">
                <a:solidFill>
                  <a:schemeClr val="accent1"/>
                </a:solidFill>
                <a:latin typeface="Arial" panose="020B0604020202020204" pitchFamily="34" charset="0"/>
                <a:cs typeface="Arial" panose="020B0604020202020204" pitchFamily="34" charset="0"/>
              </a:rPr>
              <a:t>Approach on handling deleted EBP Summary Objects in SR after Plant Disconnection </a:t>
            </a:r>
            <a:r>
              <a:rPr lang="en-US" sz="2200" b="1">
                <a:solidFill>
                  <a:schemeClr val="accent1"/>
                </a:solidFill>
                <a:latin typeface="Arial" panose="020B0604020202020204" pitchFamily="34" charset="0"/>
                <a:cs typeface="Arial" panose="020B0604020202020204" pitchFamily="34" charset="0"/>
              </a:rPr>
              <a:t>(3/4)</a:t>
            </a:r>
            <a:br>
              <a:rPr lang="en-US" sz="2400" b="1" dirty="0">
                <a:solidFill>
                  <a:schemeClr val="accent1"/>
                </a:solidFill>
                <a:latin typeface="Arial" panose="020B0604020202020204" pitchFamily="34" charset="0"/>
                <a:cs typeface="Arial" panose="020B0604020202020204" pitchFamily="34" charset="0"/>
              </a:rPr>
            </a:br>
            <a:endParaRPr lang="en-IN" sz="2400" b="1" dirty="0">
              <a:solidFill>
                <a:schemeClr val="accent1"/>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C70C0907-6E9D-EE75-11C2-988E9BF66E3E}"/>
              </a:ext>
            </a:extLst>
          </p:cNvPr>
          <p:cNvSpPr txBox="1"/>
          <p:nvPr/>
        </p:nvSpPr>
        <p:spPr>
          <a:xfrm>
            <a:off x="206327" y="739321"/>
            <a:ext cx="11526129" cy="646331"/>
          </a:xfrm>
          <a:prstGeom prst="rect">
            <a:avLst/>
          </a:prstGeom>
          <a:noFill/>
          <a:ln>
            <a:noFill/>
          </a:ln>
        </p:spPr>
        <p:txBody>
          <a:bodyPr wrap="square" rtlCol="0">
            <a:spAutoFit/>
          </a:bodyPr>
          <a:lstStyle/>
          <a:p>
            <a:r>
              <a:rPr lang="en-US" b="1" dirty="0"/>
              <a:t>Issue with UC2 with existing implemented solution (</a:t>
            </a:r>
            <a:r>
              <a:rPr lang="en-US" dirty="0"/>
              <a:t>When plant is disconnected from a part</a:t>
            </a:r>
            <a:r>
              <a:rPr lang="en-US" b="1" dirty="0"/>
              <a:t>)</a:t>
            </a:r>
          </a:p>
          <a:p>
            <a:pPr lvl="1"/>
            <a:endParaRPr lang="en-US" dirty="0"/>
          </a:p>
        </p:txBody>
      </p:sp>
      <p:sp>
        <p:nvSpPr>
          <p:cNvPr id="8" name="TextBox 7">
            <a:extLst>
              <a:ext uri="{FF2B5EF4-FFF2-40B4-BE49-F238E27FC236}">
                <a16:creationId xmlns:a16="http://schemas.microsoft.com/office/drawing/2014/main" id="{AA0FF80C-E0BA-556B-D08D-75DFBB9C5281}"/>
              </a:ext>
            </a:extLst>
          </p:cNvPr>
          <p:cNvSpPr txBox="1"/>
          <p:nvPr/>
        </p:nvSpPr>
        <p:spPr>
          <a:xfrm>
            <a:off x="211016" y="1062486"/>
            <a:ext cx="11521440" cy="2308324"/>
          </a:xfrm>
          <a:prstGeom prst="rect">
            <a:avLst/>
          </a:prstGeom>
          <a:noFill/>
        </p:spPr>
        <p:txBody>
          <a:bodyPr wrap="square" rtlCol="0">
            <a:spAutoFit/>
          </a:bodyPr>
          <a:lstStyle/>
          <a:p>
            <a:endParaRPr lang="en-US" dirty="0"/>
          </a:p>
          <a:p>
            <a:r>
              <a:rPr lang="en-US" b="1" dirty="0"/>
              <a:t>High level approach for requirement: </a:t>
            </a:r>
          </a:p>
          <a:p>
            <a:r>
              <a:rPr lang="en-US" b="1" dirty="0"/>
              <a:t>Step 1</a:t>
            </a:r>
            <a:r>
              <a:rPr lang="en-US" dirty="0"/>
              <a:t> : Existing EBP Object indexing TCL script fetches all the modified EBP objects (was done earlier)</a:t>
            </a:r>
          </a:p>
          <a:p>
            <a:endParaRPr lang="en-US" dirty="0"/>
          </a:p>
          <a:p>
            <a:r>
              <a:rPr lang="en-US" dirty="0"/>
              <a:t>Since there is no modified time stamps added to the EBP object these objects are not being identified by the indexing TCL scripts. Also, since the EBP objects are being deleted at SR we are not able to trace back to these objects for further action.</a:t>
            </a:r>
          </a:p>
          <a:p>
            <a:endParaRPr lang="en-US" dirty="0"/>
          </a:p>
        </p:txBody>
      </p:sp>
      <p:pic>
        <p:nvPicPr>
          <p:cNvPr id="5" name="Picture 4">
            <a:extLst>
              <a:ext uri="{FF2B5EF4-FFF2-40B4-BE49-F238E27FC236}">
                <a16:creationId xmlns:a16="http://schemas.microsoft.com/office/drawing/2014/main" id="{6D734A31-DB25-D21A-53EB-254323077D41}"/>
              </a:ext>
            </a:extLst>
          </p:cNvPr>
          <p:cNvPicPr>
            <a:picLocks noChangeAspect="1"/>
          </p:cNvPicPr>
          <p:nvPr/>
        </p:nvPicPr>
        <p:blipFill>
          <a:blip r:embed="rId2"/>
          <a:stretch>
            <a:fillRect/>
          </a:stretch>
        </p:blipFill>
        <p:spPr>
          <a:xfrm>
            <a:off x="206327" y="3189668"/>
            <a:ext cx="11715750" cy="809625"/>
          </a:xfrm>
          <a:prstGeom prst="rect">
            <a:avLst/>
          </a:prstGeom>
        </p:spPr>
      </p:pic>
      <p:pic>
        <p:nvPicPr>
          <p:cNvPr id="10" name="Picture 9">
            <a:extLst>
              <a:ext uri="{FF2B5EF4-FFF2-40B4-BE49-F238E27FC236}">
                <a16:creationId xmlns:a16="http://schemas.microsoft.com/office/drawing/2014/main" id="{A9C604B4-3AF1-29F6-A093-31E14D65B0C4}"/>
              </a:ext>
            </a:extLst>
          </p:cNvPr>
          <p:cNvPicPr>
            <a:picLocks noChangeAspect="1"/>
          </p:cNvPicPr>
          <p:nvPr/>
        </p:nvPicPr>
        <p:blipFill>
          <a:blip r:embed="rId3"/>
          <a:stretch>
            <a:fillRect/>
          </a:stretch>
        </p:blipFill>
        <p:spPr>
          <a:xfrm>
            <a:off x="1942587" y="4211693"/>
            <a:ext cx="7286625" cy="762000"/>
          </a:xfrm>
          <a:prstGeom prst="rect">
            <a:avLst/>
          </a:prstGeom>
        </p:spPr>
      </p:pic>
    </p:spTree>
    <p:extLst>
      <p:ext uri="{BB962C8B-B14F-4D97-AF65-F5344CB8AC3E}">
        <p14:creationId xmlns:p14="http://schemas.microsoft.com/office/powerpoint/2010/main" val="2607208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DB4034CB-D333-4818-AFF9-71626D2BAAB6}"/>
              </a:ext>
            </a:extLst>
          </p:cNvPr>
          <p:cNvSpPr>
            <a:spLocks noGrp="1"/>
          </p:cNvSpPr>
          <p:nvPr>
            <p:ph type="title"/>
          </p:nvPr>
        </p:nvSpPr>
        <p:spPr>
          <a:xfrm>
            <a:off x="48356" y="55065"/>
            <a:ext cx="12143644" cy="822630"/>
          </a:xfrm>
        </p:spPr>
        <p:txBody>
          <a:bodyPr>
            <a:normAutofit fontScale="90000"/>
          </a:bodyPr>
          <a:lstStyle/>
          <a:p>
            <a:r>
              <a:rPr lang="en-US" sz="2400" b="1" dirty="0">
                <a:solidFill>
                  <a:schemeClr val="accent1"/>
                </a:solidFill>
                <a:latin typeface="Arial" panose="020B0604020202020204" pitchFamily="34" charset="0"/>
                <a:cs typeface="Arial" panose="020B0604020202020204" pitchFamily="34" charset="0"/>
              </a:rPr>
              <a:t> </a:t>
            </a:r>
            <a:r>
              <a:rPr lang="en-US" sz="2200" b="1" dirty="0">
                <a:solidFill>
                  <a:schemeClr val="accent1"/>
                </a:solidFill>
                <a:latin typeface="Arial" panose="020B0604020202020204" pitchFamily="34" charset="0"/>
                <a:cs typeface="Arial" panose="020B0604020202020204" pitchFamily="34" charset="0"/>
              </a:rPr>
              <a:t>Approach on handling deleted EBP Summary Objects in SR after Plant Disconnection (4/4)</a:t>
            </a:r>
            <a:br>
              <a:rPr lang="en-US" sz="2400" b="1" dirty="0">
                <a:solidFill>
                  <a:schemeClr val="accent1"/>
                </a:solidFill>
                <a:latin typeface="Arial" panose="020B0604020202020204" pitchFamily="34" charset="0"/>
                <a:cs typeface="Arial" panose="020B0604020202020204" pitchFamily="34" charset="0"/>
              </a:rPr>
            </a:br>
            <a:endParaRPr lang="en-IN" sz="2400" b="1" dirty="0">
              <a:solidFill>
                <a:schemeClr val="accent1"/>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C70C0907-6E9D-EE75-11C2-988E9BF66E3E}"/>
              </a:ext>
            </a:extLst>
          </p:cNvPr>
          <p:cNvSpPr txBox="1"/>
          <p:nvPr/>
        </p:nvSpPr>
        <p:spPr>
          <a:xfrm>
            <a:off x="206327" y="763368"/>
            <a:ext cx="11526129" cy="2031325"/>
          </a:xfrm>
          <a:prstGeom prst="rect">
            <a:avLst/>
          </a:prstGeom>
          <a:noFill/>
          <a:ln>
            <a:noFill/>
          </a:ln>
        </p:spPr>
        <p:txBody>
          <a:bodyPr wrap="square" rtlCol="0">
            <a:spAutoFit/>
          </a:bodyPr>
          <a:lstStyle/>
          <a:p>
            <a:r>
              <a:rPr lang="en-US" b="1" dirty="0"/>
              <a:t>Approach 1 to handle UC2 (</a:t>
            </a:r>
            <a:r>
              <a:rPr lang="en-US" dirty="0"/>
              <a:t>When plant is removed from the part</a:t>
            </a:r>
            <a:r>
              <a:rPr lang="en-US" b="1" dirty="0"/>
              <a:t>)</a:t>
            </a:r>
          </a:p>
          <a:p>
            <a:endParaRPr lang="en-US" b="1" dirty="0"/>
          </a:p>
          <a:p>
            <a:r>
              <a:rPr lang="en-US" dirty="0"/>
              <a:t>Add modified timestamp on the disconnected EBP Summary Objects at Enovia. </a:t>
            </a:r>
          </a:p>
          <a:p>
            <a:endParaRPr lang="en-US" dirty="0"/>
          </a:p>
          <a:p>
            <a:r>
              <a:rPr lang="en-US" b="1" dirty="0"/>
              <a:t>Pros</a:t>
            </a:r>
            <a:r>
              <a:rPr lang="en-US" dirty="0"/>
              <a:t>  : Will be able to trigger data modification to SR and will be identified by indexing TCLs</a:t>
            </a:r>
          </a:p>
          <a:p>
            <a:r>
              <a:rPr lang="en-US" b="1" dirty="0"/>
              <a:t>Cons</a:t>
            </a:r>
            <a:r>
              <a:rPr lang="en-US" dirty="0"/>
              <a:t> :  Dependency on Enovia CW and Timelines</a:t>
            </a:r>
          </a:p>
          <a:p>
            <a:pPr lvl="1"/>
            <a:endParaRPr lang="en-US" dirty="0"/>
          </a:p>
        </p:txBody>
      </p:sp>
      <p:sp>
        <p:nvSpPr>
          <p:cNvPr id="3" name="TextBox 2">
            <a:extLst>
              <a:ext uri="{FF2B5EF4-FFF2-40B4-BE49-F238E27FC236}">
                <a16:creationId xmlns:a16="http://schemas.microsoft.com/office/drawing/2014/main" id="{A0C999E0-EBDA-5847-50A4-76876D10831B}"/>
              </a:ext>
            </a:extLst>
          </p:cNvPr>
          <p:cNvSpPr txBox="1"/>
          <p:nvPr/>
        </p:nvSpPr>
        <p:spPr>
          <a:xfrm>
            <a:off x="206327" y="2674772"/>
            <a:ext cx="11710853" cy="3970318"/>
          </a:xfrm>
          <a:prstGeom prst="rect">
            <a:avLst/>
          </a:prstGeom>
          <a:noFill/>
          <a:ln>
            <a:noFill/>
          </a:ln>
        </p:spPr>
        <p:txBody>
          <a:bodyPr wrap="square" rtlCol="0">
            <a:spAutoFit/>
          </a:bodyPr>
          <a:lstStyle/>
          <a:p>
            <a:r>
              <a:rPr lang="en-US" b="1" dirty="0"/>
              <a:t>Approach 2 to handle UC2 (</a:t>
            </a:r>
            <a:r>
              <a:rPr lang="en-US" dirty="0"/>
              <a:t>When plant is removed from the part</a:t>
            </a:r>
            <a:r>
              <a:rPr lang="en-US" b="1" dirty="0"/>
              <a:t>)</a:t>
            </a:r>
          </a:p>
          <a:p>
            <a:endParaRPr lang="en-US" b="1" dirty="0"/>
          </a:p>
          <a:p>
            <a:r>
              <a:rPr lang="en-US" dirty="0"/>
              <a:t>Step 1: Write a </a:t>
            </a:r>
            <a:r>
              <a:rPr lang="en-US" dirty="0" err="1"/>
              <a:t>cron</a:t>
            </a:r>
            <a:r>
              <a:rPr lang="en-US" dirty="0"/>
              <a:t>-job to fetch the parts where ‘</a:t>
            </a:r>
            <a:r>
              <a:rPr lang="en-US" b="0" i="0" dirty="0" err="1">
                <a:solidFill>
                  <a:srgbClr val="242424"/>
                </a:solidFill>
                <a:effectLst/>
                <a:latin typeface="-apple-system"/>
              </a:rPr>
              <a:t>pgIPMConnectionSummaryMark</a:t>
            </a:r>
            <a:r>
              <a:rPr lang="en-US" b="0" i="0" dirty="0">
                <a:solidFill>
                  <a:srgbClr val="242424"/>
                </a:solidFill>
                <a:effectLst/>
                <a:latin typeface="-apple-system"/>
              </a:rPr>
              <a:t>’ is marked ‘TRUE’.</a:t>
            </a:r>
          </a:p>
          <a:p>
            <a:r>
              <a:rPr lang="en-US" dirty="0">
                <a:solidFill>
                  <a:srgbClr val="242424"/>
                </a:solidFill>
                <a:latin typeface="-apple-system"/>
              </a:rPr>
              <a:t>Step 2: Fetch the </a:t>
            </a:r>
            <a:r>
              <a:rPr lang="en-US" b="0" i="0" dirty="0" err="1">
                <a:solidFill>
                  <a:srgbClr val="242424"/>
                </a:solidFill>
                <a:effectLst/>
                <a:latin typeface="-apple-system"/>
              </a:rPr>
              <a:t>pgIPMConnectionSummaryPlant</a:t>
            </a:r>
            <a:r>
              <a:rPr lang="en-US" dirty="0">
                <a:solidFill>
                  <a:srgbClr val="242424"/>
                </a:solidFill>
                <a:latin typeface="-apple-system"/>
              </a:rPr>
              <a:t> attribute value and check the value set has ‘</a:t>
            </a:r>
            <a:r>
              <a:rPr lang="it-IT" b="0" i="0" dirty="0">
                <a:solidFill>
                  <a:srgbClr val="242424"/>
                </a:solidFill>
                <a:effectLst/>
                <a:latin typeface="-apple-system"/>
              </a:rPr>
              <a:t>ResetdisconnectPlant@</a:t>
            </a:r>
            <a:r>
              <a:rPr lang="en-US" b="0" i="0" dirty="0">
                <a:solidFill>
                  <a:srgbClr val="242424"/>
                </a:solidFill>
                <a:effectLst/>
                <a:latin typeface="-apple-system"/>
              </a:rPr>
              <a:t>PLANT_NAME’</a:t>
            </a:r>
          </a:p>
          <a:p>
            <a:r>
              <a:rPr lang="en-US" dirty="0">
                <a:solidFill>
                  <a:srgbClr val="242424"/>
                </a:solidFill>
                <a:latin typeface="-apple-system"/>
              </a:rPr>
              <a:t>Step 3: Prepare list of the </a:t>
            </a:r>
            <a:r>
              <a:rPr lang="en-US" dirty="0" err="1">
                <a:solidFill>
                  <a:srgbClr val="242424"/>
                </a:solidFill>
                <a:latin typeface="-apple-system"/>
              </a:rPr>
              <a:t>ebsumary</a:t>
            </a:r>
            <a:r>
              <a:rPr lang="en-US" dirty="0">
                <a:solidFill>
                  <a:srgbClr val="242424"/>
                </a:solidFill>
                <a:latin typeface="-apple-system"/>
              </a:rPr>
              <a:t> objects for such parts.</a:t>
            </a:r>
          </a:p>
          <a:p>
            <a:r>
              <a:rPr lang="en-US" dirty="0">
                <a:solidFill>
                  <a:srgbClr val="242424"/>
                </a:solidFill>
                <a:latin typeface="-apple-system"/>
              </a:rPr>
              <a:t>Step 4: Execute the list of parts in ES to update the EBP summary objects.</a:t>
            </a:r>
          </a:p>
          <a:p>
            <a:endParaRPr lang="en-US" dirty="0"/>
          </a:p>
          <a:p>
            <a:r>
              <a:rPr lang="en-US" b="1" dirty="0"/>
              <a:t>Pros</a:t>
            </a:r>
            <a:r>
              <a:rPr lang="en-US" dirty="0"/>
              <a:t>  : No dependency on Enovia can be maintained within SR scope</a:t>
            </a:r>
          </a:p>
          <a:p>
            <a:r>
              <a:rPr lang="en-US" b="1" dirty="0"/>
              <a:t>Cons</a:t>
            </a:r>
            <a:r>
              <a:rPr lang="en-US" dirty="0"/>
              <a:t> : </a:t>
            </a:r>
          </a:p>
          <a:p>
            <a:pPr marL="285750" indent="-285750">
              <a:buFont typeface="Arial" panose="020B0604020202020204" pitchFamily="34" charset="0"/>
              <a:buChar char="•"/>
            </a:pPr>
            <a:r>
              <a:rPr lang="en-US" dirty="0"/>
              <a:t>Sync Dependency between gplm093 job execution and SR newly created </a:t>
            </a:r>
            <a:r>
              <a:rPr lang="en-US" dirty="0" err="1"/>
              <a:t>cron</a:t>
            </a:r>
            <a:r>
              <a:rPr lang="en-US" dirty="0"/>
              <a:t> job</a:t>
            </a:r>
          </a:p>
          <a:p>
            <a:pPr marL="285750" indent="-285750">
              <a:buFont typeface="Arial" panose="020B0604020202020204" pitchFamily="34" charset="0"/>
              <a:buChar char="•"/>
            </a:pPr>
            <a:r>
              <a:rPr lang="en-US" dirty="0"/>
              <a:t> Need time to build and test the logic</a:t>
            </a:r>
          </a:p>
          <a:p>
            <a:r>
              <a:rPr lang="en-US" dirty="0"/>
              <a:t>            </a:t>
            </a:r>
          </a:p>
          <a:p>
            <a:pPr lvl="1"/>
            <a:endParaRPr lang="en-US" dirty="0"/>
          </a:p>
        </p:txBody>
      </p:sp>
    </p:spTree>
    <p:extLst>
      <p:ext uri="{BB962C8B-B14F-4D97-AF65-F5344CB8AC3E}">
        <p14:creationId xmlns:p14="http://schemas.microsoft.com/office/powerpoint/2010/main" val="197295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6" name="Shape 374">
            <a:extLst>
              <a:ext uri="{FF2B5EF4-FFF2-40B4-BE49-F238E27FC236}">
                <a16:creationId xmlns:a16="http://schemas.microsoft.com/office/drawing/2014/main" id="{6B311332-C76B-4746-AFA3-7709FDD0E4D3}"/>
              </a:ext>
            </a:extLst>
          </p:cNvPr>
          <p:cNvSpPr txBox="1">
            <a:spLocks/>
          </p:cNvSpPr>
          <p:nvPr/>
        </p:nvSpPr>
        <p:spPr>
          <a:xfrm>
            <a:off x="753292" y="1336492"/>
            <a:ext cx="4267200" cy="1106905"/>
          </a:xfrm>
        </p:spPr>
        <p:txBody>
          <a:bodyPr anchor="t">
            <a:normAutofit/>
          </a:bodyPr>
          <a:lstStyle>
            <a:lvl1pPr marL="0" marR="0" indent="0" algn="ctr" defTabSz="609585" rtl="0" latinLnBrk="0">
              <a:lnSpc>
                <a:spcPct val="100000"/>
              </a:lnSpc>
              <a:spcBef>
                <a:spcPts val="0"/>
              </a:spcBef>
              <a:spcAft>
                <a:spcPts val="0"/>
              </a:spcAft>
              <a:buClrTx/>
              <a:buSzTx/>
              <a:buFontTx/>
              <a:buNone/>
              <a:tabLst/>
              <a:defRPr sz="2500" b="0" i="0" u="none" strike="noStrike" cap="none" spc="0" baseline="0">
                <a:ln>
                  <a:noFill/>
                </a:ln>
                <a:solidFill>
                  <a:srgbClr val="2670C3"/>
                </a:solidFill>
                <a:uFillTx/>
                <a:latin typeface="Arial"/>
                <a:ea typeface="Arial"/>
                <a:cs typeface="Arial"/>
                <a:sym typeface="Arial"/>
              </a:defRPr>
            </a:lvl1pPr>
            <a:lvl2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2pPr>
            <a:lvl3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3pPr>
            <a:lvl4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4pPr>
            <a:lvl5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5pPr>
            <a:lvl6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6pPr>
            <a:lvl7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7pPr>
            <a:lvl8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8pPr>
            <a:lvl9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9pPr>
          </a:lstStyle>
          <a:p>
            <a:r>
              <a:rPr lang="en-US" sz="4250" dirty="0">
                <a:ea typeface="+mn-ea"/>
              </a:rPr>
              <a:t>Thank You</a:t>
            </a:r>
            <a:endParaRPr lang="en-US" sz="2800" kern="0" dirty="0">
              <a:ea typeface="+mn-ea"/>
            </a:endParaRPr>
          </a:p>
        </p:txBody>
      </p:sp>
    </p:spTree>
    <p:extLst>
      <p:ext uri="{BB962C8B-B14F-4D97-AF65-F5344CB8AC3E}">
        <p14:creationId xmlns:p14="http://schemas.microsoft.com/office/powerpoint/2010/main" val="34333419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10346</TotalTime>
  <Words>616</Words>
  <Application>Microsoft Office PowerPoint</Application>
  <PresentationFormat>Widescreen</PresentationFormat>
  <Paragraphs>48</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-apple-system</vt:lpstr>
      <vt:lpstr>Arial</vt:lpstr>
      <vt:lpstr>Calibri</vt:lpstr>
      <vt:lpstr>Calibri Light</vt:lpstr>
      <vt:lpstr>Wingdings</vt:lpstr>
      <vt:lpstr>Office Theme</vt:lpstr>
      <vt:lpstr>PowerPoint Presentation</vt:lpstr>
      <vt:lpstr> Approach on handling deleted EBP Summary Objects in SR after Plant Disconnection (1/4) </vt:lpstr>
      <vt:lpstr> Approach on handling deleted EBP Summary Objects in SR after Plant Disconnection (2/4) </vt:lpstr>
      <vt:lpstr> Approach on handling deleted EBP Summary Objects in SR after Plant Disconnection (3/4) </vt:lpstr>
      <vt:lpstr> Approach on handling deleted EBP Summary Objects in SR after Plant Disconnection (4/4)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Sharmila Banerjee</dc:creator>
  <cp:lastModifiedBy>unnam.nr@pg.com</cp:lastModifiedBy>
  <cp:revision>1291</cp:revision>
  <dcterms:created xsi:type="dcterms:W3CDTF">2022-05-06T07:08:38Z</dcterms:created>
  <dcterms:modified xsi:type="dcterms:W3CDTF">2024-03-07T18:27:10Z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0819fa7-4367-4500-ba88-dd630d977609_Enabled">
    <vt:lpwstr>true</vt:lpwstr>
  </property>
  <property fmtid="{D5CDD505-2E9C-101B-9397-08002B2CF9AE}" pid="3" name="MSIP_Label_a0819fa7-4367-4500-ba88-dd630d977609_SetDate">
    <vt:lpwstr>2022-05-06T07:08:38Z</vt:lpwstr>
  </property>
  <property fmtid="{D5CDD505-2E9C-101B-9397-08002B2CF9AE}" pid="4" name="MSIP_Label_a0819fa7-4367-4500-ba88-dd630d977609_Method">
    <vt:lpwstr>Standard</vt:lpwstr>
  </property>
  <property fmtid="{D5CDD505-2E9C-101B-9397-08002B2CF9AE}" pid="5" name="MSIP_Label_a0819fa7-4367-4500-ba88-dd630d977609_Name">
    <vt:lpwstr>a0819fa7-4367-4500-ba88-dd630d977609</vt:lpwstr>
  </property>
  <property fmtid="{D5CDD505-2E9C-101B-9397-08002B2CF9AE}" pid="6" name="MSIP_Label_a0819fa7-4367-4500-ba88-dd630d977609_SiteId">
    <vt:lpwstr>63ce7d59-2f3e-42cd-a8cc-be764cff5eb6</vt:lpwstr>
  </property>
  <property fmtid="{D5CDD505-2E9C-101B-9397-08002B2CF9AE}" pid="7" name="MSIP_Label_a0819fa7-4367-4500-ba88-dd630d977609_ActionId">
    <vt:lpwstr>903f42d2-e07d-4393-868f-9de30ab9dbaa</vt:lpwstr>
  </property>
  <property fmtid="{D5CDD505-2E9C-101B-9397-08002B2CF9AE}" pid="8" name="MSIP_Label_a0819fa7-4367-4500-ba88-dd630d977609_ContentBits">
    <vt:lpwstr>0</vt:lpwstr>
  </property>
</Properties>
</file>