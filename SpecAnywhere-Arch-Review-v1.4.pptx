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69" r:id="rId4"/>
    <p:sldId id="270" r:id="rId5"/>
    <p:sldId id="265" r:id="rId6"/>
    <p:sldId id="266" r:id="rId7"/>
    <p:sldId id="267" r:id="rId8"/>
    <p:sldId id="268" r:id="rId9"/>
    <p:sldId id="263" r:id="rId10"/>
    <p:sldId id="264"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845339-7173-4CF2-839D-35CB5725F67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8D0847FA-3697-427B-9E40-2BD38912E799}">
      <dgm:prSet phldrT="[Text]" custT="1"/>
      <dgm:spPr/>
      <dgm:t>
        <a:bodyPr/>
        <a:lstStyle/>
        <a:p>
          <a:r>
            <a:rPr lang="en-US" sz="1800" dirty="0"/>
            <a:t>Security implementation</a:t>
          </a:r>
        </a:p>
      </dgm:t>
    </dgm:pt>
    <dgm:pt modelId="{C0909538-B63D-487B-AE24-B40EC10F1CC0}" type="parTrans" cxnId="{DBE51B65-92A8-401F-B46B-C4EB1F5170AF}">
      <dgm:prSet/>
      <dgm:spPr/>
      <dgm:t>
        <a:bodyPr/>
        <a:lstStyle/>
        <a:p>
          <a:endParaRPr lang="en-US"/>
        </a:p>
      </dgm:t>
    </dgm:pt>
    <dgm:pt modelId="{0160E8CE-4A3E-450D-AAB9-C7719F347F57}" type="sibTrans" cxnId="{DBE51B65-92A8-401F-B46B-C4EB1F5170AF}">
      <dgm:prSet/>
      <dgm:spPr/>
      <dgm:t>
        <a:bodyPr/>
        <a:lstStyle/>
        <a:p>
          <a:endParaRPr lang="en-US"/>
        </a:p>
      </dgm:t>
    </dgm:pt>
    <dgm:pt modelId="{CD55A558-53A8-4CC8-9439-82096E4FD9DA}">
      <dgm:prSet phldrT="[Text]"/>
      <dgm:spPr/>
      <dgm:t>
        <a:bodyPr/>
        <a:lstStyle/>
        <a:p>
          <a:endParaRPr lang="en-US" dirty="0">
            <a:solidFill>
              <a:srgbClr val="FF0000"/>
            </a:solidFill>
          </a:endParaRPr>
        </a:p>
      </dgm:t>
    </dgm:pt>
    <dgm:pt modelId="{4232568C-5E9B-41A8-BB1A-36F1E685844A}" type="parTrans" cxnId="{4D510D60-7B52-439D-ADDF-2676C7435A27}">
      <dgm:prSet/>
      <dgm:spPr/>
      <dgm:t>
        <a:bodyPr/>
        <a:lstStyle/>
        <a:p>
          <a:endParaRPr lang="en-US"/>
        </a:p>
      </dgm:t>
    </dgm:pt>
    <dgm:pt modelId="{5094D121-E625-4270-955A-ED6F30E37DD1}" type="sibTrans" cxnId="{4D510D60-7B52-439D-ADDF-2676C7435A27}">
      <dgm:prSet/>
      <dgm:spPr/>
      <dgm:t>
        <a:bodyPr/>
        <a:lstStyle/>
        <a:p>
          <a:endParaRPr lang="en-US"/>
        </a:p>
      </dgm:t>
    </dgm:pt>
    <dgm:pt modelId="{ECF62C95-BCA2-4DB7-901E-0F1F92123B00}">
      <dgm:prSet phldrT="[Text]" custT="1"/>
      <dgm:spPr/>
      <dgm:t>
        <a:bodyPr/>
        <a:lstStyle/>
        <a:p>
          <a:r>
            <a:rPr lang="en-US" sz="2000" dirty="0"/>
            <a:t>Search indexing and efficiency</a:t>
          </a:r>
        </a:p>
      </dgm:t>
    </dgm:pt>
    <dgm:pt modelId="{39D810D8-5942-4B24-9611-C65217C6C2F0}" type="parTrans" cxnId="{B2395391-80E3-4724-9871-A203B539AA86}">
      <dgm:prSet/>
      <dgm:spPr/>
      <dgm:t>
        <a:bodyPr/>
        <a:lstStyle/>
        <a:p>
          <a:endParaRPr lang="en-US"/>
        </a:p>
      </dgm:t>
    </dgm:pt>
    <dgm:pt modelId="{631BE9DE-126E-457D-B874-C62B84EB0D1F}" type="sibTrans" cxnId="{B2395391-80E3-4724-9871-A203B539AA86}">
      <dgm:prSet/>
      <dgm:spPr/>
      <dgm:t>
        <a:bodyPr/>
        <a:lstStyle/>
        <a:p>
          <a:endParaRPr lang="en-US"/>
        </a:p>
      </dgm:t>
    </dgm:pt>
    <dgm:pt modelId="{7C096118-243E-49D8-A3ED-CE307FB48618}">
      <dgm:prSet phldrT="[Text]" custT="1"/>
      <dgm:spPr/>
      <dgm:t>
        <a:bodyPr/>
        <a:lstStyle/>
        <a:p>
          <a:pPr>
            <a:buFont typeface="Arial" panose="020B0604020202020204" pitchFamily="34" charset="0"/>
            <a:buChar char="•"/>
          </a:pPr>
          <a:r>
            <a:rPr lang="en-US" sz="1200" dirty="0">
              <a:solidFill>
                <a:schemeClr val="tx1"/>
              </a:solidFill>
            </a:rPr>
            <a:t>Text search in Elastic Search not returning all records/returning incorrect records. </a:t>
          </a:r>
        </a:p>
      </dgm:t>
    </dgm:pt>
    <dgm:pt modelId="{76D35193-8745-48E9-B690-7B1AD31351D8}" type="parTrans" cxnId="{2677017E-E0FD-4F93-A4FB-17FFC136CB31}">
      <dgm:prSet/>
      <dgm:spPr/>
      <dgm:t>
        <a:bodyPr/>
        <a:lstStyle/>
        <a:p>
          <a:endParaRPr lang="en-US"/>
        </a:p>
      </dgm:t>
    </dgm:pt>
    <dgm:pt modelId="{5ADF3B4E-CA0F-4ECD-AAFE-706615869A59}" type="sibTrans" cxnId="{2677017E-E0FD-4F93-A4FB-17FFC136CB31}">
      <dgm:prSet/>
      <dgm:spPr/>
      <dgm:t>
        <a:bodyPr/>
        <a:lstStyle/>
        <a:p>
          <a:endParaRPr lang="en-US"/>
        </a:p>
      </dgm:t>
    </dgm:pt>
    <dgm:pt modelId="{5F6FE2F8-0FF6-4692-8619-D5E87D8A570D}">
      <dgm:prSet phldrT="[Text]" custT="1"/>
      <dgm:spPr/>
      <dgm:t>
        <a:bodyPr/>
        <a:lstStyle/>
        <a:p>
          <a:r>
            <a:rPr lang="en-US" sz="2000" dirty="0"/>
            <a:t>Data pipeline implementation</a:t>
          </a:r>
        </a:p>
      </dgm:t>
    </dgm:pt>
    <dgm:pt modelId="{42FC9C87-EAD7-4380-954B-F6F4CAC4CB08}" type="parTrans" cxnId="{43DFA50D-17D9-4E84-BA1F-83B3430C9D66}">
      <dgm:prSet/>
      <dgm:spPr/>
      <dgm:t>
        <a:bodyPr/>
        <a:lstStyle/>
        <a:p>
          <a:endParaRPr lang="en-US"/>
        </a:p>
      </dgm:t>
    </dgm:pt>
    <dgm:pt modelId="{2E5099B1-5D82-412E-A5D3-C54F13A66424}" type="sibTrans" cxnId="{43DFA50D-17D9-4E84-BA1F-83B3430C9D66}">
      <dgm:prSet/>
      <dgm:spPr/>
      <dgm:t>
        <a:bodyPr/>
        <a:lstStyle/>
        <a:p>
          <a:endParaRPr lang="en-US"/>
        </a:p>
      </dgm:t>
    </dgm:pt>
    <dgm:pt modelId="{8317D6A7-8E0F-446F-A3C8-528A9A2FAC1B}">
      <dgm:prSet phldrT="[Text]" custT="1"/>
      <dgm:spPr/>
      <dgm:t>
        <a:bodyPr/>
        <a:lstStyle/>
        <a:p>
          <a:r>
            <a:rPr lang="en-US" sz="1200" kern="1200" dirty="0">
              <a:solidFill>
                <a:prstClr val="black"/>
              </a:solidFill>
              <a:latin typeface="Calibri" panose="020F0502020204030204"/>
              <a:ea typeface="+mn-ea"/>
              <a:cs typeface="+mn-cs"/>
            </a:rPr>
            <a:t>Metadata that is extracted using </a:t>
          </a:r>
          <a:r>
            <a:rPr lang="en-US" sz="1200" kern="1200" dirty="0" err="1">
              <a:solidFill>
                <a:prstClr val="black"/>
              </a:solidFill>
              <a:latin typeface="Calibri" panose="020F0502020204030204"/>
              <a:ea typeface="+mn-ea"/>
              <a:cs typeface="+mn-cs"/>
            </a:rPr>
            <a:t>tcl</a:t>
          </a:r>
          <a:r>
            <a:rPr lang="en-US" sz="1200" kern="1200" dirty="0">
              <a:solidFill>
                <a:prstClr val="black"/>
              </a:solidFill>
              <a:latin typeface="Calibri" panose="020F0502020204030204"/>
              <a:ea typeface="+mn-ea"/>
              <a:cs typeface="+mn-cs"/>
            </a:rPr>
            <a:t> script extracts the data for the last 24 </a:t>
          </a:r>
          <a:r>
            <a:rPr lang="en-US" sz="1200" kern="1200" dirty="0" err="1">
              <a:solidFill>
                <a:prstClr val="black"/>
              </a:solidFill>
              <a:latin typeface="Calibri" panose="020F0502020204030204"/>
              <a:ea typeface="+mn-ea"/>
              <a:cs typeface="+mn-cs"/>
            </a:rPr>
            <a:t>hrs</a:t>
          </a:r>
          <a:r>
            <a:rPr lang="en-US" sz="1200" kern="1200" dirty="0">
              <a:solidFill>
                <a:prstClr val="black"/>
              </a:solidFill>
              <a:latin typeface="Calibri" panose="020F0502020204030204"/>
              <a:ea typeface="+mn-ea"/>
              <a:cs typeface="+mn-cs"/>
            </a:rPr>
            <a:t> </a:t>
          </a:r>
          <a:r>
            <a:rPr lang="en-US" sz="1200" kern="1200" dirty="0" err="1">
              <a:solidFill>
                <a:prstClr val="black"/>
              </a:solidFill>
              <a:latin typeface="Calibri" panose="020F0502020204030204"/>
              <a:ea typeface="+mn-ea"/>
              <a:cs typeface="+mn-cs"/>
            </a:rPr>
            <a:t>everytime</a:t>
          </a:r>
          <a:r>
            <a:rPr lang="en-US" sz="1200" kern="1200" dirty="0">
              <a:solidFill>
                <a:prstClr val="black"/>
              </a:solidFill>
              <a:latin typeface="Calibri" panose="020F0502020204030204"/>
              <a:ea typeface="+mn-ea"/>
              <a:cs typeface="+mn-cs"/>
            </a:rPr>
            <a:t> it runs. </a:t>
          </a:r>
        </a:p>
      </dgm:t>
    </dgm:pt>
    <dgm:pt modelId="{8B816549-D398-477F-8E9D-D529677E95CA}" type="parTrans" cxnId="{3B0B4C85-24F5-4F28-86DB-CBD1FEE1FAEF}">
      <dgm:prSet/>
      <dgm:spPr/>
      <dgm:t>
        <a:bodyPr/>
        <a:lstStyle/>
        <a:p>
          <a:endParaRPr lang="en-US"/>
        </a:p>
      </dgm:t>
    </dgm:pt>
    <dgm:pt modelId="{48E0C213-BA86-4715-996F-88DB985A585A}" type="sibTrans" cxnId="{3B0B4C85-24F5-4F28-86DB-CBD1FEE1FAEF}">
      <dgm:prSet/>
      <dgm:spPr/>
      <dgm:t>
        <a:bodyPr/>
        <a:lstStyle/>
        <a:p>
          <a:endParaRPr lang="en-US"/>
        </a:p>
      </dgm:t>
    </dgm:pt>
    <dgm:pt modelId="{75D6A29C-5028-4565-86C8-90A2846BE9AE}">
      <dgm:prSet phldrT="[Text]" custT="1"/>
      <dgm:spPr/>
      <dgm:t>
        <a:bodyPr/>
        <a:lstStyle/>
        <a:p>
          <a:pPr>
            <a:buFont typeface="Arial" panose="020B0604020202020204" pitchFamily="34" charset="0"/>
            <a:buChar char="•"/>
          </a:pPr>
          <a:r>
            <a:rPr lang="en-US" sz="1200" dirty="0">
              <a:solidFill>
                <a:schemeClr val="tx1"/>
              </a:solidFill>
            </a:rPr>
            <a:t>Running multiple queries and then processing that will bring in performance issues as well as duplication of elastic search functionality</a:t>
          </a:r>
        </a:p>
      </dgm:t>
    </dgm:pt>
    <dgm:pt modelId="{FA14D213-08FB-4825-AE29-EF859A6E522D}" type="parTrans" cxnId="{7858D379-44D3-4A26-B008-6CA02D3E5E96}">
      <dgm:prSet/>
      <dgm:spPr/>
      <dgm:t>
        <a:bodyPr/>
        <a:lstStyle/>
        <a:p>
          <a:endParaRPr lang="en-US"/>
        </a:p>
      </dgm:t>
    </dgm:pt>
    <dgm:pt modelId="{2580F124-B875-4E01-9BA0-1FF72D73175A}" type="sibTrans" cxnId="{7858D379-44D3-4A26-B008-6CA02D3E5E96}">
      <dgm:prSet/>
      <dgm:spPr/>
      <dgm:t>
        <a:bodyPr/>
        <a:lstStyle/>
        <a:p>
          <a:endParaRPr lang="en-US"/>
        </a:p>
      </dgm:t>
    </dgm:pt>
    <dgm:pt modelId="{F8A1503E-22E6-43F2-9170-7C7251BDCB17}">
      <dgm:prSet phldrT="[Text]" custT="1"/>
      <dgm:spPr/>
      <dgm:t>
        <a:bodyPr/>
        <a:lstStyle/>
        <a:p>
          <a:pPr>
            <a:buFont typeface="Arial" panose="020B0604020202020204" pitchFamily="34" charset="0"/>
            <a:buChar char="•"/>
          </a:pPr>
          <a:r>
            <a:rPr lang="en-US" sz="1200" dirty="0">
              <a:solidFill>
                <a:schemeClr val="tx1"/>
              </a:solidFill>
            </a:rPr>
            <a:t>To address this multiple types of search queries are created for a single search, compared against the input programmatically. The data from these queries are combined and duplicates removed</a:t>
          </a:r>
        </a:p>
      </dgm:t>
    </dgm:pt>
    <dgm:pt modelId="{E3E3F90E-4BDA-47C2-85E0-C8317E6F45CE}" type="parTrans" cxnId="{AC1DBDD4-635F-4595-BF7C-EB929D4F6E9C}">
      <dgm:prSet/>
      <dgm:spPr/>
      <dgm:t>
        <a:bodyPr/>
        <a:lstStyle/>
        <a:p>
          <a:endParaRPr lang="en-US"/>
        </a:p>
      </dgm:t>
    </dgm:pt>
    <dgm:pt modelId="{BAD2C839-51C3-488A-9E4F-97C8BA75C524}" type="sibTrans" cxnId="{AC1DBDD4-635F-4595-BF7C-EB929D4F6E9C}">
      <dgm:prSet/>
      <dgm:spPr/>
      <dgm:t>
        <a:bodyPr/>
        <a:lstStyle/>
        <a:p>
          <a:endParaRPr lang="en-US"/>
        </a:p>
      </dgm:t>
    </dgm:pt>
    <dgm:pt modelId="{69DE65FF-2284-4175-A4FF-9D4CDFE3F9B7}">
      <dgm:prSet phldrT="[Text]" custT="1"/>
      <dgm:spPr/>
      <dgm:t>
        <a:bodyPr/>
        <a:lstStyle/>
        <a:p>
          <a:r>
            <a:rPr lang="en-US" sz="1200" kern="1200" dirty="0">
              <a:solidFill>
                <a:prstClr val="black"/>
              </a:solidFill>
              <a:latin typeface="Calibri" panose="020F0502020204030204"/>
              <a:ea typeface="+mn-ea"/>
              <a:cs typeface="+mn-cs"/>
            </a:rPr>
            <a:t>This script runs every 3 mins, which means the scripts process a lot of duplicate data, at the extraction side and at the processing side</a:t>
          </a:r>
        </a:p>
      </dgm:t>
    </dgm:pt>
    <dgm:pt modelId="{AB12C823-5668-46B6-92B8-0F738DB9D5AA}" type="parTrans" cxnId="{60393882-885D-4194-9BDD-F9BBA165501A}">
      <dgm:prSet/>
      <dgm:spPr/>
      <dgm:t>
        <a:bodyPr/>
        <a:lstStyle/>
        <a:p>
          <a:endParaRPr lang="en-US"/>
        </a:p>
      </dgm:t>
    </dgm:pt>
    <dgm:pt modelId="{EC33FD9D-7455-4B0B-B806-E84921FDE4E5}" type="sibTrans" cxnId="{60393882-885D-4194-9BDD-F9BBA165501A}">
      <dgm:prSet/>
      <dgm:spPr/>
      <dgm:t>
        <a:bodyPr/>
        <a:lstStyle/>
        <a:p>
          <a:endParaRPr lang="en-US"/>
        </a:p>
      </dgm:t>
    </dgm:pt>
    <dgm:pt modelId="{5D3EB4BF-88BA-4760-80F3-DB7254BE144C}">
      <dgm:prSet phldrT="[Text]" custT="1"/>
      <dgm:spPr/>
      <dgm:t>
        <a:bodyPr/>
        <a:lstStyle/>
        <a:p>
          <a:r>
            <a:rPr lang="en-US" sz="1200" kern="1200" dirty="0">
              <a:solidFill>
                <a:prstClr val="black"/>
              </a:solidFill>
              <a:latin typeface="Calibri" panose="020F0502020204030204"/>
              <a:ea typeface="+mn-ea"/>
              <a:cs typeface="+mn-cs"/>
            </a:rPr>
            <a:t>There have been issues with the </a:t>
          </a:r>
          <a:r>
            <a:rPr lang="en-US" sz="1200" kern="1200" dirty="0" err="1">
              <a:solidFill>
                <a:prstClr val="black"/>
              </a:solidFill>
              <a:latin typeface="Calibri" panose="020F0502020204030204"/>
              <a:ea typeface="+mn-ea"/>
              <a:cs typeface="+mn-cs"/>
            </a:rPr>
            <a:t>tcl</a:t>
          </a:r>
          <a:r>
            <a:rPr lang="en-US" sz="1200" kern="1200" dirty="0">
              <a:solidFill>
                <a:prstClr val="black"/>
              </a:solidFill>
              <a:latin typeface="Calibri" panose="020F0502020204030204"/>
              <a:ea typeface="+mn-ea"/>
              <a:cs typeface="+mn-cs"/>
            </a:rPr>
            <a:t> script execution, where the script itself was deleted</a:t>
          </a:r>
        </a:p>
      </dgm:t>
    </dgm:pt>
    <dgm:pt modelId="{04C25982-3745-49D7-8056-4C61A536F8C3}" type="parTrans" cxnId="{51D12907-DC0C-48C5-BC19-9440BDE12405}">
      <dgm:prSet/>
      <dgm:spPr/>
      <dgm:t>
        <a:bodyPr/>
        <a:lstStyle/>
        <a:p>
          <a:endParaRPr lang="en-US"/>
        </a:p>
      </dgm:t>
    </dgm:pt>
    <dgm:pt modelId="{512B81E9-3D37-4810-9611-58A15074A2E2}" type="sibTrans" cxnId="{51D12907-DC0C-48C5-BC19-9440BDE12405}">
      <dgm:prSet/>
      <dgm:spPr/>
      <dgm:t>
        <a:bodyPr/>
        <a:lstStyle/>
        <a:p>
          <a:endParaRPr lang="en-US"/>
        </a:p>
      </dgm:t>
    </dgm:pt>
    <dgm:pt modelId="{7904101B-7CF9-4D13-B3D3-9DE2D74AB77A}" type="pres">
      <dgm:prSet presAssocID="{E6845339-7173-4CF2-839D-35CB5725F678}" presName="Name0" presStyleCnt="0">
        <dgm:presLayoutVars>
          <dgm:dir/>
          <dgm:animLvl val="lvl"/>
          <dgm:resizeHandles val="exact"/>
        </dgm:presLayoutVars>
      </dgm:prSet>
      <dgm:spPr/>
      <dgm:t>
        <a:bodyPr/>
        <a:lstStyle/>
        <a:p>
          <a:endParaRPr lang="en-US"/>
        </a:p>
      </dgm:t>
    </dgm:pt>
    <dgm:pt modelId="{79EBE265-36E1-4260-AA08-31DFF2787862}" type="pres">
      <dgm:prSet presAssocID="{8D0847FA-3697-427B-9E40-2BD38912E799}" presName="composite" presStyleCnt="0"/>
      <dgm:spPr/>
    </dgm:pt>
    <dgm:pt modelId="{FBD3A0EA-7492-4E99-AA38-763840FFF59C}" type="pres">
      <dgm:prSet presAssocID="{8D0847FA-3697-427B-9E40-2BD38912E799}" presName="parTx" presStyleLbl="alignNode1" presStyleIdx="0" presStyleCnt="3">
        <dgm:presLayoutVars>
          <dgm:chMax val="0"/>
          <dgm:chPref val="0"/>
          <dgm:bulletEnabled val="1"/>
        </dgm:presLayoutVars>
      </dgm:prSet>
      <dgm:spPr/>
      <dgm:t>
        <a:bodyPr/>
        <a:lstStyle/>
        <a:p>
          <a:endParaRPr lang="en-US"/>
        </a:p>
      </dgm:t>
    </dgm:pt>
    <dgm:pt modelId="{3811502A-EFC7-487C-9C18-32C97D8FB1C8}" type="pres">
      <dgm:prSet presAssocID="{8D0847FA-3697-427B-9E40-2BD38912E799}" presName="desTx" presStyleLbl="alignAccFollowNode1" presStyleIdx="0" presStyleCnt="3">
        <dgm:presLayoutVars>
          <dgm:bulletEnabled val="1"/>
        </dgm:presLayoutVars>
      </dgm:prSet>
      <dgm:spPr/>
      <dgm:t>
        <a:bodyPr/>
        <a:lstStyle/>
        <a:p>
          <a:endParaRPr lang="en-US"/>
        </a:p>
      </dgm:t>
    </dgm:pt>
    <dgm:pt modelId="{F19CF7D2-B86F-4789-9951-A58777DC569E}" type="pres">
      <dgm:prSet presAssocID="{0160E8CE-4A3E-450D-AAB9-C7719F347F57}" presName="space" presStyleCnt="0"/>
      <dgm:spPr/>
    </dgm:pt>
    <dgm:pt modelId="{D5992B9B-0A77-4C12-9ACE-C2EF5CC4D597}" type="pres">
      <dgm:prSet presAssocID="{ECF62C95-BCA2-4DB7-901E-0F1F92123B00}" presName="composite" presStyleCnt="0"/>
      <dgm:spPr/>
    </dgm:pt>
    <dgm:pt modelId="{702A8861-CF10-452F-9C1D-744D45BEA16A}" type="pres">
      <dgm:prSet presAssocID="{ECF62C95-BCA2-4DB7-901E-0F1F92123B00}" presName="parTx" presStyleLbl="alignNode1" presStyleIdx="1" presStyleCnt="3">
        <dgm:presLayoutVars>
          <dgm:chMax val="0"/>
          <dgm:chPref val="0"/>
          <dgm:bulletEnabled val="1"/>
        </dgm:presLayoutVars>
      </dgm:prSet>
      <dgm:spPr/>
      <dgm:t>
        <a:bodyPr/>
        <a:lstStyle/>
        <a:p>
          <a:endParaRPr lang="en-US"/>
        </a:p>
      </dgm:t>
    </dgm:pt>
    <dgm:pt modelId="{99EEC5B4-109C-4017-A37A-23F0FDC49707}" type="pres">
      <dgm:prSet presAssocID="{ECF62C95-BCA2-4DB7-901E-0F1F92123B00}" presName="desTx" presStyleLbl="alignAccFollowNode1" presStyleIdx="1" presStyleCnt="3">
        <dgm:presLayoutVars>
          <dgm:bulletEnabled val="1"/>
        </dgm:presLayoutVars>
      </dgm:prSet>
      <dgm:spPr/>
      <dgm:t>
        <a:bodyPr/>
        <a:lstStyle/>
        <a:p>
          <a:endParaRPr lang="en-US"/>
        </a:p>
      </dgm:t>
    </dgm:pt>
    <dgm:pt modelId="{8C77E970-B414-482F-8F3A-4FDC075DEBC1}" type="pres">
      <dgm:prSet presAssocID="{631BE9DE-126E-457D-B874-C62B84EB0D1F}" presName="space" presStyleCnt="0"/>
      <dgm:spPr/>
    </dgm:pt>
    <dgm:pt modelId="{9350A420-2561-43F2-B54D-7D9A4E578662}" type="pres">
      <dgm:prSet presAssocID="{5F6FE2F8-0FF6-4692-8619-D5E87D8A570D}" presName="composite" presStyleCnt="0"/>
      <dgm:spPr/>
    </dgm:pt>
    <dgm:pt modelId="{13A172BF-202B-43E5-9104-ABB56E18BDB6}" type="pres">
      <dgm:prSet presAssocID="{5F6FE2F8-0FF6-4692-8619-D5E87D8A570D}" presName="parTx" presStyleLbl="alignNode1" presStyleIdx="2" presStyleCnt="3">
        <dgm:presLayoutVars>
          <dgm:chMax val="0"/>
          <dgm:chPref val="0"/>
          <dgm:bulletEnabled val="1"/>
        </dgm:presLayoutVars>
      </dgm:prSet>
      <dgm:spPr/>
      <dgm:t>
        <a:bodyPr/>
        <a:lstStyle/>
        <a:p>
          <a:endParaRPr lang="en-US"/>
        </a:p>
      </dgm:t>
    </dgm:pt>
    <dgm:pt modelId="{2C01B3CE-891A-4364-B0F0-0B61B01B1327}" type="pres">
      <dgm:prSet presAssocID="{5F6FE2F8-0FF6-4692-8619-D5E87D8A570D}" presName="desTx" presStyleLbl="alignAccFollowNode1" presStyleIdx="2" presStyleCnt="3">
        <dgm:presLayoutVars>
          <dgm:bulletEnabled val="1"/>
        </dgm:presLayoutVars>
      </dgm:prSet>
      <dgm:spPr/>
      <dgm:t>
        <a:bodyPr/>
        <a:lstStyle/>
        <a:p>
          <a:endParaRPr lang="en-US"/>
        </a:p>
      </dgm:t>
    </dgm:pt>
  </dgm:ptLst>
  <dgm:cxnLst>
    <dgm:cxn modelId="{53AB14A0-51B1-44AB-87EB-70C411A0DC35}" type="presOf" srcId="{E6845339-7173-4CF2-839D-35CB5725F678}" destId="{7904101B-7CF9-4D13-B3D3-9DE2D74AB77A}" srcOrd="0" destOrd="0" presId="urn:microsoft.com/office/officeart/2005/8/layout/hList1"/>
    <dgm:cxn modelId="{663A55CF-7BC8-4A43-8FA0-47BD40F9C04C}" type="presOf" srcId="{8317D6A7-8E0F-446F-A3C8-528A9A2FAC1B}" destId="{2C01B3CE-891A-4364-B0F0-0B61B01B1327}" srcOrd="0" destOrd="0" presId="urn:microsoft.com/office/officeart/2005/8/layout/hList1"/>
    <dgm:cxn modelId="{FEEA7BC7-EA8E-4B1C-AEDD-2E0F8BB43FD1}" type="presOf" srcId="{CD55A558-53A8-4CC8-9439-82096E4FD9DA}" destId="{3811502A-EFC7-487C-9C18-32C97D8FB1C8}" srcOrd="0" destOrd="0" presId="urn:microsoft.com/office/officeart/2005/8/layout/hList1"/>
    <dgm:cxn modelId="{91E73945-6DF7-452C-895F-BA838D761E4D}" type="presOf" srcId="{75D6A29C-5028-4565-86C8-90A2846BE9AE}" destId="{99EEC5B4-109C-4017-A37A-23F0FDC49707}" srcOrd="0" destOrd="2" presId="urn:microsoft.com/office/officeart/2005/8/layout/hList1"/>
    <dgm:cxn modelId="{ED16829A-FD81-4DCB-A3F3-F6855BD42806}" type="presOf" srcId="{8D0847FA-3697-427B-9E40-2BD38912E799}" destId="{FBD3A0EA-7492-4E99-AA38-763840FFF59C}" srcOrd="0" destOrd="0" presId="urn:microsoft.com/office/officeart/2005/8/layout/hList1"/>
    <dgm:cxn modelId="{D7743532-B276-44A5-A70D-13E804C60A81}" type="presOf" srcId="{69DE65FF-2284-4175-A4FF-9D4CDFE3F9B7}" destId="{2C01B3CE-891A-4364-B0F0-0B61B01B1327}" srcOrd="0" destOrd="1" presId="urn:microsoft.com/office/officeart/2005/8/layout/hList1"/>
    <dgm:cxn modelId="{3B0B4C85-24F5-4F28-86DB-CBD1FEE1FAEF}" srcId="{5F6FE2F8-0FF6-4692-8619-D5E87D8A570D}" destId="{8317D6A7-8E0F-446F-A3C8-528A9A2FAC1B}" srcOrd="0" destOrd="0" parTransId="{8B816549-D398-477F-8E9D-D529677E95CA}" sibTransId="{48E0C213-BA86-4715-996F-88DB985A585A}"/>
    <dgm:cxn modelId="{51D12907-DC0C-48C5-BC19-9440BDE12405}" srcId="{5F6FE2F8-0FF6-4692-8619-D5E87D8A570D}" destId="{5D3EB4BF-88BA-4760-80F3-DB7254BE144C}" srcOrd="2" destOrd="0" parTransId="{04C25982-3745-49D7-8056-4C61A536F8C3}" sibTransId="{512B81E9-3D37-4810-9611-58A15074A2E2}"/>
    <dgm:cxn modelId="{FCD8F829-EE95-4048-9D18-D13A9EAD7C10}" type="presOf" srcId="{5D3EB4BF-88BA-4760-80F3-DB7254BE144C}" destId="{2C01B3CE-891A-4364-B0F0-0B61B01B1327}" srcOrd="0" destOrd="2" presId="urn:microsoft.com/office/officeart/2005/8/layout/hList1"/>
    <dgm:cxn modelId="{DBE51B65-92A8-401F-B46B-C4EB1F5170AF}" srcId="{E6845339-7173-4CF2-839D-35CB5725F678}" destId="{8D0847FA-3697-427B-9E40-2BD38912E799}" srcOrd="0" destOrd="0" parTransId="{C0909538-B63D-487B-AE24-B40EC10F1CC0}" sibTransId="{0160E8CE-4A3E-450D-AAB9-C7719F347F57}"/>
    <dgm:cxn modelId="{B2395391-80E3-4724-9871-A203B539AA86}" srcId="{E6845339-7173-4CF2-839D-35CB5725F678}" destId="{ECF62C95-BCA2-4DB7-901E-0F1F92123B00}" srcOrd="1" destOrd="0" parTransId="{39D810D8-5942-4B24-9611-C65217C6C2F0}" sibTransId="{631BE9DE-126E-457D-B874-C62B84EB0D1F}"/>
    <dgm:cxn modelId="{60E8DFEA-D97B-4238-81D8-F1D70D8D87B4}" type="presOf" srcId="{ECF62C95-BCA2-4DB7-901E-0F1F92123B00}" destId="{702A8861-CF10-452F-9C1D-744D45BEA16A}" srcOrd="0" destOrd="0" presId="urn:microsoft.com/office/officeart/2005/8/layout/hList1"/>
    <dgm:cxn modelId="{2F240339-F096-4987-AE3B-773AAA02D4F9}" type="presOf" srcId="{F8A1503E-22E6-43F2-9170-7C7251BDCB17}" destId="{99EEC5B4-109C-4017-A37A-23F0FDC49707}" srcOrd="0" destOrd="1" presId="urn:microsoft.com/office/officeart/2005/8/layout/hList1"/>
    <dgm:cxn modelId="{4D510D60-7B52-439D-ADDF-2676C7435A27}" srcId="{8D0847FA-3697-427B-9E40-2BD38912E799}" destId="{CD55A558-53A8-4CC8-9439-82096E4FD9DA}" srcOrd="0" destOrd="0" parTransId="{4232568C-5E9B-41A8-BB1A-36F1E685844A}" sibTransId="{5094D121-E625-4270-955A-ED6F30E37DD1}"/>
    <dgm:cxn modelId="{AC1DBDD4-635F-4595-BF7C-EB929D4F6E9C}" srcId="{ECF62C95-BCA2-4DB7-901E-0F1F92123B00}" destId="{F8A1503E-22E6-43F2-9170-7C7251BDCB17}" srcOrd="1" destOrd="0" parTransId="{E3E3F90E-4BDA-47C2-85E0-C8317E6F45CE}" sibTransId="{BAD2C839-51C3-488A-9E4F-97C8BA75C524}"/>
    <dgm:cxn modelId="{60393882-885D-4194-9BDD-F9BBA165501A}" srcId="{5F6FE2F8-0FF6-4692-8619-D5E87D8A570D}" destId="{69DE65FF-2284-4175-A4FF-9D4CDFE3F9B7}" srcOrd="1" destOrd="0" parTransId="{AB12C823-5668-46B6-92B8-0F738DB9D5AA}" sibTransId="{EC33FD9D-7455-4B0B-B806-E84921FDE4E5}"/>
    <dgm:cxn modelId="{7858D379-44D3-4A26-B008-6CA02D3E5E96}" srcId="{ECF62C95-BCA2-4DB7-901E-0F1F92123B00}" destId="{75D6A29C-5028-4565-86C8-90A2846BE9AE}" srcOrd="2" destOrd="0" parTransId="{FA14D213-08FB-4825-AE29-EF859A6E522D}" sibTransId="{2580F124-B875-4E01-9BA0-1FF72D73175A}"/>
    <dgm:cxn modelId="{F338534B-2399-4704-9F1E-81A342178BE6}" type="presOf" srcId="{7C096118-243E-49D8-A3ED-CE307FB48618}" destId="{99EEC5B4-109C-4017-A37A-23F0FDC49707}" srcOrd="0" destOrd="0" presId="urn:microsoft.com/office/officeart/2005/8/layout/hList1"/>
    <dgm:cxn modelId="{2677017E-E0FD-4F93-A4FB-17FFC136CB31}" srcId="{ECF62C95-BCA2-4DB7-901E-0F1F92123B00}" destId="{7C096118-243E-49D8-A3ED-CE307FB48618}" srcOrd="0" destOrd="0" parTransId="{76D35193-8745-48E9-B690-7B1AD31351D8}" sibTransId="{5ADF3B4E-CA0F-4ECD-AAFE-706615869A59}"/>
    <dgm:cxn modelId="{43DFA50D-17D9-4E84-BA1F-83B3430C9D66}" srcId="{E6845339-7173-4CF2-839D-35CB5725F678}" destId="{5F6FE2F8-0FF6-4692-8619-D5E87D8A570D}" srcOrd="2" destOrd="0" parTransId="{42FC9C87-EAD7-4380-954B-F6F4CAC4CB08}" sibTransId="{2E5099B1-5D82-412E-A5D3-C54F13A66424}"/>
    <dgm:cxn modelId="{EE8381AF-4253-41C1-B476-FCA51336234A}" type="presOf" srcId="{5F6FE2F8-0FF6-4692-8619-D5E87D8A570D}" destId="{13A172BF-202B-43E5-9104-ABB56E18BDB6}" srcOrd="0" destOrd="0" presId="urn:microsoft.com/office/officeart/2005/8/layout/hList1"/>
    <dgm:cxn modelId="{5642BC62-82D3-48C2-8CA9-8FFBF523BF94}" type="presParOf" srcId="{7904101B-7CF9-4D13-B3D3-9DE2D74AB77A}" destId="{79EBE265-36E1-4260-AA08-31DFF2787862}" srcOrd="0" destOrd="0" presId="urn:microsoft.com/office/officeart/2005/8/layout/hList1"/>
    <dgm:cxn modelId="{6D4ACC52-636C-42C1-948A-7E344C99C283}" type="presParOf" srcId="{79EBE265-36E1-4260-AA08-31DFF2787862}" destId="{FBD3A0EA-7492-4E99-AA38-763840FFF59C}" srcOrd="0" destOrd="0" presId="urn:microsoft.com/office/officeart/2005/8/layout/hList1"/>
    <dgm:cxn modelId="{1E37B436-25C7-44DF-83B7-1E619B8279E9}" type="presParOf" srcId="{79EBE265-36E1-4260-AA08-31DFF2787862}" destId="{3811502A-EFC7-487C-9C18-32C97D8FB1C8}" srcOrd="1" destOrd="0" presId="urn:microsoft.com/office/officeart/2005/8/layout/hList1"/>
    <dgm:cxn modelId="{C242A424-E98B-4E31-8150-CFEE726E41B8}" type="presParOf" srcId="{7904101B-7CF9-4D13-B3D3-9DE2D74AB77A}" destId="{F19CF7D2-B86F-4789-9951-A58777DC569E}" srcOrd="1" destOrd="0" presId="urn:microsoft.com/office/officeart/2005/8/layout/hList1"/>
    <dgm:cxn modelId="{8A8C997E-5306-4457-B5DB-D8CD563C7DC3}" type="presParOf" srcId="{7904101B-7CF9-4D13-B3D3-9DE2D74AB77A}" destId="{D5992B9B-0A77-4C12-9ACE-C2EF5CC4D597}" srcOrd="2" destOrd="0" presId="urn:microsoft.com/office/officeart/2005/8/layout/hList1"/>
    <dgm:cxn modelId="{6CA47DB9-AEF9-42CC-A607-CA2104268CEE}" type="presParOf" srcId="{D5992B9B-0A77-4C12-9ACE-C2EF5CC4D597}" destId="{702A8861-CF10-452F-9C1D-744D45BEA16A}" srcOrd="0" destOrd="0" presId="urn:microsoft.com/office/officeart/2005/8/layout/hList1"/>
    <dgm:cxn modelId="{E28C98B1-CEAB-40A7-BC62-372E2CAD82BF}" type="presParOf" srcId="{D5992B9B-0A77-4C12-9ACE-C2EF5CC4D597}" destId="{99EEC5B4-109C-4017-A37A-23F0FDC49707}" srcOrd="1" destOrd="0" presId="urn:microsoft.com/office/officeart/2005/8/layout/hList1"/>
    <dgm:cxn modelId="{26E75A39-7750-413C-B702-07BEE3547B81}" type="presParOf" srcId="{7904101B-7CF9-4D13-B3D3-9DE2D74AB77A}" destId="{8C77E970-B414-482F-8F3A-4FDC075DEBC1}" srcOrd="3" destOrd="0" presId="urn:microsoft.com/office/officeart/2005/8/layout/hList1"/>
    <dgm:cxn modelId="{F56C2D7C-7C44-46AF-A760-649D76DDCECA}" type="presParOf" srcId="{7904101B-7CF9-4D13-B3D3-9DE2D74AB77A}" destId="{9350A420-2561-43F2-B54D-7D9A4E578662}" srcOrd="4" destOrd="0" presId="urn:microsoft.com/office/officeart/2005/8/layout/hList1"/>
    <dgm:cxn modelId="{09AF4585-532C-45DA-8904-F252A24BD560}" type="presParOf" srcId="{9350A420-2561-43F2-B54D-7D9A4E578662}" destId="{13A172BF-202B-43E5-9104-ABB56E18BDB6}" srcOrd="0" destOrd="0" presId="urn:microsoft.com/office/officeart/2005/8/layout/hList1"/>
    <dgm:cxn modelId="{5AAFE5A3-8FE8-4D67-A557-ACCB20A49A6A}" type="presParOf" srcId="{9350A420-2561-43F2-B54D-7D9A4E578662}" destId="{2C01B3CE-891A-4364-B0F0-0B61B01B132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3A0EA-7492-4E99-AA38-763840FFF59C}">
      <dsp:nvSpPr>
        <dsp:cNvPr id="0" name=""/>
        <dsp:cNvSpPr/>
      </dsp:nvSpPr>
      <dsp:spPr>
        <a:xfrm>
          <a:off x="3483" y="414"/>
          <a:ext cx="3396516"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a:t>Security implementation</a:t>
          </a:r>
        </a:p>
      </dsp:txBody>
      <dsp:txXfrm>
        <a:off x="3483" y="414"/>
        <a:ext cx="3396516" cy="604800"/>
      </dsp:txXfrm>
    </dsp:sp>
    <dsp:sp modelId="{3811502A-EFC7-487C-9C18-32C97D8FB1C8}">
      <dsp:nvSpPr>
        <dsp:cNvPr id="0" name=""/>
        <dsp:cNvSpPr/>
      </dsp:nvSpPr>
      <dsp:spPr>
        <a:xfrm>
          <a:off x="3483" y="605214"/>
          <a:ext cx="3396516" cy="17293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endParaRPr lang="en-US" sz="2100" kern="1200" dirty="0">
            <a:solidFill>
              <a:srgbClr val="FF0000"/>
            </a:solidFill>
          </a:endParaRPr>
        </a:p>
      </dsp:txBody>
      <dsp:txXfrm>
        <a:off x="3483" y="605214"/>
        <a:ext cx="3396516" cy="1729350"/>
      </dsp:txXfrm>
    </dsp:sp>
    <dsp:sp modelId="{702A8861-CF10-452F-9C1D-744D45BEA16A}">
      <dsp:nvSpPr>
        <dsp:cNvPr id="0" name=""/>
        <dsp:cNvSpPr/>
      </dsp:nvSpPr>
      <dsp:spPr>
        <a:xfrm>
          <a:off x="3875512" y="414"/>
          <a:ext cx="3396516"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a:t>Search indexing and efficiency</a:t>
          </a:r>
        </a:p>
      </dsp:txBody>
      <dsp:txXfrm>
        <a:off x="3875512" y="414"/>
        <a:ext cx="3396516" cy="604800"/>
      </dsp:txXfrm>
    </dsp:sp>
    <dsp:sp modelId="{99EEC5B4-109C-4017-A37A-23F0FDC49707}">
      <dsp:nvSpPr>
        <dsp:cNvPr id="0" name=""/>
        <dsp:cNvSpPr/>
      </dsp:nvSpPr>
      <dsp:spPr>
        <a:xfrm>
          <a:off x="3875512" y="605214"/>
          <a:ext cx="3396516" cy="17293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rPr>
            <a:t>Text search in Elastic Search not returning all records/returning incorrect records. </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rPr>
            <a:t>To address this multiple types of search queries are created for a single search, compared against the input programmatically. The data from these queries are combined and duplicates removed</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rPr>
            <a:t>Running multiple queries and then processing that will bring in performance issues as well as duplication of elastic search functionality</a:t>
          </a:r>
        </a:p>
      </dsp:txBody>
      <dsp:txXfrm>
        <a:off x="3875512" y="605214"/>
        <a:ext cx="3396516" cy="1729350"/>
      </dsp:txXfrm>
    </dsp:sp>
    <dsp:sp modelId="{13A172BF-202B-43E5-9104-ABB56E18BDB6}">
      <dsp:nvSpPr>
        <dsp:cNvPr id="0" name=""/>
        <dsp:cNvSpPr/>
      </dsp:nvSpPr>
      <dsp:spPr>
        <a:xfrm>
          <a:off x="7747540" y="414"/>
          <a:ext cx="3396516"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a:t>Data pipeline implementation</a:t>
          </a:r>
        </a:p>
      </dsp:txBody>
      <dsp:txXfrm>
        <a:off x="7747540" y="414"/>
        <a:ext cx="3396516" cy="604800"/>
      </dsp:txXfrm>
    </dsp:sp>
    <dsp:sp modelId="{2C01B3CE-891A-4364-B0F0-0B61B01B1327}">
      <dsp:nvSpPr>
        <dsp:cNvPr id="0" name=""/>
        <dsp:cNvSpPr/>
      </dsp:nvSpPr>
      <dsp:spPr>
        <a:xfrm>
          <a:off x="7747540" y="605214"/>
          <a:ext cx="3396516" cy="17293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prstClr val="black"/>
              </a:solidFill>
              <a:latin typeface="Calibri" panose="020F0502020204030204"/>
              <a:ea typeface="+mn-ea"/>
              <a:cs typeface="+mn-cs"/>
            </a:rPr>
            <a:t>Metadata that is extracted using </a:t>
          </a:r>
          <a:r>
            <a:rPr lang="en-US" sz="1200" kern="1200" dirty="0" err="1">
              <a:solidFill>
                <a:prstClr val="black"/>
              </a:solidFill>
              <a:latin typeface="Calibri" panose="020F0502020204030204"/>
              <a:ea typeface="+mn-ea"/>
              <a:cs typeface="+mn-cs"/>
            </a:rPr>
            <a:t>tcl</a:t>
          </a:r>
          <a:r>
            <a:rPr lang="en-US" sz="1200" kern="1200" dirty="0">
              <a:solidFill>
                <a:prstClr val="black"/>
              </a:solidFill>
              <a:latin typeface="Calibri" panose="020F0502020204030204"/>
              <a:ea typeface="+mn-ea"/>
              <a:cs typeface="+mn-cs"/>
            </a:rPr>
            <a:t> script extracts the data for the last 24 </a:t>
          </a:r>
          <a:r>
            <a:rPr lang="en-US" sz="1200" kern="1200" dirty="0" err="1">
              <a:solidFill>
                <a:prstClr val="black"/>
              </a:solidFill>
              <a:latin typeface="Calibri" panose="020F0502020204030204"/>
              <a:ea typeface="+mn-ea"/>
              <a:cs typeface="+mn-cs"/>
            </a:rPr>
            <a:t>hrs</a:t>
          </a:r>
          <a:r>
            <a:rPr lang="en-US" sz="1200" kern="1200" dirty="0">
              <a:solidFill>
                <a:prstClr val="black"/>
              </a:solidFill>
              <a:latin typeface="Calibri" panose="020F0502020204030204"/>
              <a:ea typeface="+mn-ea"/>
              <a:cs typeface="+mn-cs"/>
            </a:rPr>
            <a:t> </a:t>
          </a:r>
          <a:r>
            <a:rPr lang="en-US" sz="1200" kern="1200" dirty="0" err="1">
              <a:solidFill>
                <a:prstClr val="black"/>
              </a:solidFill>
              <a:latin typeface="Calibri" panose="020F0502020204030204"/>
              <a:ea typeface="+mn-ea"/>
              <a:cs typeface="+mn-cs"/>
            </a:rPr>
            <a:t>everytime</a:t>
          </a:r>
          <a:r>
            <a:rPr lang="en-US" sz="1200" kern="1200" dirty="0">
              <a:solidFill>
                <a:prstClr val="black"/>
              </a:solidFill>
              <a:latin typeface="Calibri" panose="020F0502020204030204"/>
              <a:ea typeface="+mn-ea"/>
              <a:cs typeface="+mn-cs"/>
            </a:rPr>
            <a:t> it runs. </a:t>
          </a:r>
        </a:p>
        <a:p>
          <a:pPr marL="114300" lvl="1" indent="-114300" algn="l" defTabSz="533400">
            <a:lnSpc>
              <a:spcPct val="90000"/>
            </a:lnSpc>
            <a:spcBef>
              <a:spcPct val="0"/>
            </a:spcBef>
            <a:spcAft>
              <a:spcPct val="15000"/>
            </a:spcAft>
            <a:buChar char="••"/>
          </a:pPr>
          <a:r>
            <a:rPr lang="en-US" sz="1200" kern="1200" dirty="0">
              <a:solidFill>
                <a:prstClr val="black"/>
              </a:solidFill>
              <a:latin typeface="Calibri" panose="020F0502020204030204"/>
              <a:ea typeface="+mn-ea"/>
              <a:cs typeface="+mn-cs"/>
            </a:rPr>
            <a:t>This script runs every 3 mins, which means the scripts process a lot of duplicate data, at the extraction side and at the processing side</a:t>
          </a:r>
        </a:p>
        <a:p>
          <a:pPr marL="114300" lvl="1" indent="-114300" algn="l" defTabSz="533400">
            <a:lnSpc>
              <a:spcPct val="90000"/>
            </a:lnSpc>
            <a:spcBef>
              <a:spcPct val="0"/>
            </a:spcBef>
            <a:spcAft>
              <a:spcPct val="15000"/>
            </a:spcAft>
            <a:buChar char="••"/>
          </a:pPr>
          <a:r>
            <a:rPr lang="en-US" sz="1200" kern="1200" dirty="0">
              <a:solidFill>
                <a:prstClr val="black"/>
              </a:solidFill>
              <a:latin typeface="Calibri" panose="020F0502020204030204"/>
              <a:ea typeface="+mn-ea"/>
              <a:cs typeface="+mn-cs"/>
            </a:rPr>
            <a:t>There have been issues with the </a:t>
          </a:r>
          <a:r>
            <a:rPr lang="en-US" sz="1200" kern="1200" dirty="0" err="1">
              <a:solidFill>
                <a:prstClr val="black"/>
              </a:solidFill>
              <a:latin typeface="Calibri" panose="020F0502020204030204"/>
              <a:ea typeface="+mn-ea"/>
              <a:cs typeface="+mn-cs"/>
            </a:rPr>
            <a:t>tcl</a:t>
          </a:r>
          <a:r>
            <a:rPr lang="en-US" sz="1200" kern="1200" dirty="0">
              <a:solidFill>
                <a:prstClr val="black"/>
              </a:solidFill>
              <a:latin typeface="Calibri" panose="020F0502020204030204"/>
              <a:ea typeface="+mn-ea"/>
              <a:cs typeface="+mn-cs"/>
            </a:rPr>
            <a:t> script execution, where the script itself was deleted</a:t>
          </a:r>
        </a:p>
      </dsp:txBody>
      <dsp:txXfrm>
        <a:off x="7747540" y="605214"/>
        <a:ext cx="3396516" cy="172935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50A83-44E8-419F-885A-1D083DB7C9DB}" type="datetimeFigureOut">
              <a:rPr lang="en-US" smtClean="0"/>
              <a:t>12/17/2020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0DA49-440A-48CA-A170-831D49C9FC37}" type="slidenum">
              <a:rPr lang="en-US" smtClean="0"/>
              <a:t>‹#›</a:t>
            </a:fld>
            <a:endParaRPr lang="en-US"/>
          </a:p>
        </p:txBody>
      </p:sp>
    </p:spTree>
    <p:extLst>
      <p:ext uri="{BB962C8B-B14F-4D97-AF65-F5344CB8AC3E}">
        <p14:creationId xmlns:p14="http://schemas.microsoft.com/office/powerpoint/2010/main" val="1040608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381000" y="685800"/>
            <a:ext cx="6096000" cy="3429000"/>
          </a:xfrm>
          <a:prstGeom prst="rect">
            <a:avLst/>
          </a:prstGeom>
        </p:spPr>
        <p:txBody>
          <a:bodyPr/>
          <a:lstStyle/>
          <a:p>
            <a:endParaRPr/>
          </a:p>
        </p:txBody>
      </p:sp>
      <p:sp>
        <p:nvSpPr>
          <p:cNvPr id="379" name="Shape 379"/>
          <p:cNvSpPr>
            <a:spLocks noGrp="1"/>
          </p:cNvSpPr>
          <p:nvPr>
            <p:ph type="body" sz="quarter" idx="1"/>
          </p:nvPr>
        </p:nvSpPr>
        <p:spPr>
          <a:prstGeom prst="rect">
            <a:avLst/>
          </a:prstGeom>
        </p:spPr>
        <p:txBody>
          <a:bodyPr/>
          <a:lstStyle/>
          <a:p>
            <a:endParaRPr lang="en-US" sz="1200" dirty="0">
              <a:effectLst/>
              <a:latin typeface="+mn-lt"/>
              <a:ea typeface="+mn-ea"/>
              <a:cs typeface="+mn-cs"/>
              <a:sym typeface="Calibri"/>
            </a:endParaRPr>
          </a:p>
        </p:txBody>
      </p:sp>
    </p:spTree>
    <p:extLst>
      <p:ext uri="{BB962C8B-B14F-4D97-AF65-F5344CB8AC3E}">
        <p14:creationId xmlns:p14="http://schemas.microsoft.com/office/powerpoint/2010/main" val="899264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74D72C7-05F5-44DC-BD10-60D7E8894B42}" type="datetimeFigureOut">
              <a:rPr lang="en-US" smtClean="0"/>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4058816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4D72C7-05F5-44DC-BD10-60D7E8894B42}" type="datetimeFigureOut">
              <a:rPr lang="en-US" smtClean="0"/>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1288459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4D72C7-05F5-44DC-BD10-60D7E8894B42}" type="datetimeFigureOut">
              <a:rPr lang="en-US" smtClean="0"/>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3079997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74D72C7-05F5-44DC-BD10-60D7E8894B42}" type="datetimeFigureOut">
              <a:rPr lang="en-US" smtClean="0"/>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477521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74D72C7-05F5-44DC-BD10-60D7E8894B42}" type="datetimeFigureOut">
              <a:rPr lang="en-US" smtClean="0"/>
              <a:t>12/17/2020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417284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4D72C7-05F5-44DC-BD10-60D7E8894B42}" type="datetimeFigureOut">
              <a:rPr lang="en-US" smtClean="0"/>
              <a:t>12/17/2020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3800224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4D72C7-05F5-44DC-BD10-60D7E8894B42}" type="datetimeFigureOut">
              <a:rPr lang="en-US" smtClean="0"/>
              <a:t>12/17/2020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3974610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74D72C7-05F5-44DC-BD10-60D7E8894B42}" type="datetimeFigureOut">
              <a:rPr lang="en-US" smtClean="0"/>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2151308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74D72C7-05F5-44DC-BD10-60D7E8894B42}" type="datetimeFigureOut">
              <a:rPr lang="en-US" smtClean="0"/>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788039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4D72C7-05F5-44DC-BD10-60D7E8894B42}" type="datetimeFigureOut">
              <a:rPr lang="en-US" smtClean="0"/>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1417831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4D72C7-05F5-44DC-BD10-60D7E8894B42}" type="datetimeFigureOut">
              <a:rPr lang="en-US" smtClean="0"/>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spTree>
    <p:extLst>
      <p:ext uri="{BB962C8B-B14F-4D97-AF65-F5344CB8AC3E}">
        <p14:creationId xmlns:p14="http://schemas.microsoft.com/office/powerpoint/2010/main" val="4127020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11894" y="2872208"/>
            <a:ext cx="12215771" cy="1153909"/>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grpSp>
      <p:sp>
        <p:nvSpPr>
          <p:cNvPr id="22" name="Title 21"/>
          <p:cNvSpPr>
            <a:spLocks noGrp="1"/>
          </p:cNvSpPr>
          <p:nvPr>
            <p:ph type="title" hasCustomPrompt="1"/>
          </p:nvPr>
        </p:nvSpPr>
        <p:spPr>
          <a:xfrm>
            <a:off x="509273" y="4345490"/>
            <a:ext cx="4957031" cy="1562941"/>
          </a:xfrm>
          <a:prstGeom prst="rect">
            <a:avLst/>
          </a:prstGeom>
        </p:spPr>
        <p:txBody>
          <a:bodyPr vert="horz"/>
          <a:lstStyle>
            <a:lvl1pPr algn="l">
              <a:defRPr>
                <a:solidFill>
                  <a:srgbClr val="007DC3"/>
                </a:solidFill>
              </a:defRPr>
            </a:lvl1pPr>
          </a:lstStyle>
          <a:p>
            <a:r>
              <a:rPr lang="en-US" dirty="0"/>
              <a:t>CLICK TO EDIT MASTER TITLE STYLE</a:t>
            </a:r>
          </a:p>
        </p:txBody>
      </p:sp>
      <p:pic>
        <p:nvPicPr>
          <p:cNvPr id="21" name="Picture 20"/>
          <p:cNvPicPr>
            <a:picLocks noChangeAspect="1"/>
          </p:cNvPicPr>
          <p:nvPr userDrawn="1"/>
        </p:nvPicPr>
        <p:blipFill>
          <a:blip r:embed="rId2"/>
          <a:stretch>
            <a:fillRect/>
          </a:stretch>
        </p:blipFill>
        <p:spPr>
          <a:xfrm>
            <a:off x="10713113" y="6015481"/>
            <a:ext cx="1212887" cy="620353"/>
          </a:xfrm>
          <a:prstGeom prst="rect">
            <a:avLst/>
          </a:prstGeom>
        </p:spPr>
      </p:pic>
      <p:grpSp>
        <p:nvGrpSpPr>
          <p:cNvPr id="27" name="Group 26"/>
          <p:cNvGrpSpPr/>
          <p:nvPr userDrawn="1"/>
        </p:nvGrpSpPr>
        <p:grpSpPr>
          <a:xfrm>
            <a:off x="4338317" y="389892"/>
            <a:ext cx="3505808" cy="5365547"/>
            <a:chOff x="3253738" y="292419"/>
            <a:chExt cx="2629356" cy="4024160"/>
          </a:xfrm>
        </p:grpSpPr>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2400"/>
              </a:p>
            </p:txBody>
          </p:sp>
          <p:pic>
            <p:nvPicPr>
              <p:cNvPr id="24" name="Picture 2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120582171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1347" y="200352"/>
            <a:ext cx="11630733" cy="603981"/>
          </a:xfrm>
          <a:prstGeom prst="rect">
            <a:avLst/>
          </a:prstGeom>
        </p:spPr>
        <p:txBody>
          <a:bodyPr anchor="t">
            <a:noAutofit/>
          </a:bodyPr>
          <a:lstStyle>
            <a:lvl1pPr>
              <a:defRPr sz="2400" b="0">
                <a:solidFill>
                  <a:schemeClr val="accent1">
                    <a:lumMod val="75000"/>
                  </a:schemeClr>
                </a:solidFill>
                <a:latin typeface="+mn-lt"/>
              </a:defRPr>
            </a:lvl1pPr>
          </a:lstStyle>
          <a:p>
            <a:r>
              <a:rPr lang="en-US" dirty="0"/>
              <a:t>Title text</a:t>
            </a:r>
          </a:p>
        </p:txBody>
      </p:sp>
      <p:sp>
        <p:nvSpPr>
          <p:cNvPr id="8" name="Shape 42"/>
          <p:cNvSpPr>
            <a:spLocks noGrp="1"/>
          </p:cNvSpPr>
          <p:nvPr>
            <p:ph type="sldNum" sz="quarter" idx="2"/>
          </p:nvPr>
        </p:nvSpPr>
        <p:spPr>
          <a:xfrm>
            <a:off x="308518" y="6340177"/>
            <a:ext cx="624383" cy="372535"/>
          </a:xfrm>
          <a:prstGeom prst="rect">
            <a:avLst/>
          </a:prstGeom>
        </p:spPr>
        <p:txBody>
          <a:bodyPr/>
          <a:lstStyle>
            <a:lvl1pPr algn="l">
              <a:defRPr sz="1333">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9"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400" dirty="0"/>
          </a:p>
        </p:txBody>
      </p:sp>
      <p:sp>
        <p:nvSpPr>
          <p:cNvPr id="20" name="object 9"/>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400" dirty="0"/>
          </a:p>
        </p:txBody>
      </p:sp>
      <p:pic>
        <p:nvPicPr>
          <p:cNvPr id="9" name="Picture 8"/>
          <p:cNvPicPr>
            <a:picLocks noChangeAspect="1"/>
          </p:cNvPicPr>
          <p:nvPr userDrawn="1"/>
        </p:nvPicPr>
        <p:blipFill>
          <a:blip r:embed="rId2"/>
          <a:stretch>
            <a:fillRect/>
          </a:stretch>
        </p:blipFill>
        <p:spPr>
          <a:xfrm>
            <a:off x="10713113" y="6015481"/>
            <a:ext cx="1212887" cy="620353"/>
          </a:xfrm>
          <a:prstGeom prst="rect">
            <a:avLst/>
          </a:prstGeom>
        </p:spPr>
      </p:pic>
    </p:spTree>
    <p:extLst>
      <p:ext uri="{BB962C8B-B14F-4D97-AF65-F5344CB8AC3E}">
        <p14:creationId xmlns:p14="http://schemas.microsoft.com/office/powerpoint/2010/main" val="1487461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405723" y="1716478"/>
            <a:ext cx="4233863" cy="908189"/>
          </a:xfrm>
          <a:prstGeom prst="rect">
            <a:avLst/>
          </a:prstGeom>
        </p:spPr>
        <p:txBody>
          <a:bodyPr anchor="ctr">
            <a:noAutofit/>
          </a:bodyPr>
          <a:lstStyle>
            <a:lvl1pPr algn="l">
              <a:defRPr sz="2667">
                <a:solidFill>
                  <a:srgbClr val="007CC3"/>
                </a:solidFill>
              </a:defRPr>
            </a:lvl1pPr>
          </a:lstStyle>
          <a:p>
            <a:r>
              <a:rPr lang="en-US"/>
              <a:t>TITLE TEXT</a:t>
            </a:r>
          </a:p>
        </p:txBody>
      </p:sp>
      <p:sp>
        <p:nvSpPr>
          <p:cNvPr id="25" name="Text Placeholder 2"/>
          <p:cNvSpPr txBox="1">
            <a:spLocks/>
          </p:cNvSpPr>
          <p:nvPr userDrawn="1"/>
        </p:nvSpPr>
        <p:spPr>
          <a:xfrm>
            <a:off x="519600" y="6147181"/>
            <a:ext cx="803303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a:solidFill>
                  <a:schemeClr val="tx2">
                    <a:lumMod val="50000"/>
                  </a:schemeClr>
                </a:solidFill>
              </a:rPr>
              <a:t>© 2019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10713113" y="6015481"/>
            <a:ext cx="1212887" cy="620353"/>
          </a:xfrm>
          <a:prstGeom prst="rect">
            <a:avLst/>
          </a:prstGeom>
        </p:spPr>
      </p:pic>
      <p:grpSp>
        <p:nvGrpSpPr>
          <p:cNvPr id="37" name="Group 36"/>
          <p:cNvGrpSpPr/>
          <p:nvPr userDrawn="1"/>
        </p:nvGrpSpPr>
        <p:grpSpPr>
          <a:xfrm>
            <a:off x="-11894" y="2832016"/>
            <a:ext cx="12215771" cy="1153909"/>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grpSp>
    </p:spTree>
    <p:extLst>
      <p:ext uri="{BB962C8B-B14F-4D97-AF65-F5344CB8AC3E}">
        <p14:creationId xmlns:p14="http://schemas.microsoft.com/office/powerpoint/2010/main" val="347865438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4D72C7-05F5-44DC-BD10-60D7E8894B42}" type="datetimeFigureOut">
              <a:rPr lang="en-US" smtClean="0"/>
              <a:t>12/17/2020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C215F-B4D4-4C9A-AD26-CA4A9A2C27A4}" type="slidenum">
              <a:rPr lang="en-US" smtClean="0"/>
              <a:t>‹#›</a:t>
            </a:fld>
            <a:endParaRPr lang="en-US"/>
          </a:p>
        </p:txBody>
      </p:sp>
    </p:spTree>
    <p:extLst>
      <p:ext uri="{BB962C8B-B14F-4D97-AF65-F5344CB8AC3E}">
        <p14:creationId xmlns:p14="http://schemas.microsoft.com/office/powerpoint/2010/main" val="461158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97793" y="6018411"/>
            <a:ext cx="1191945" cy="612960"/>
          </a:xfrm>
          <a:prstGeom prst="rect">
            <a:avLst/>
          </a:prstGeom>
        </p:spPr>
      </p:pic>
      <p:sp>
        <p:nvSpPr>
          <p:cNvPr id="2" name="Title 1"/>
          <p:cNvSpPr>
            <a:spLocks noGrp="1"/>
          </p:cNvSpPr>
          <p:nvPr>
            <p:ph type="title"/>
          </p:nvPr>
        </p:nvSpPr>
        <p:spPr>
          <a:xfrm>
            <a:off x="509273" y="4345489"/>
            <a:ext cx="4957031" cy="2285883"/>
          </a:xfrm>
        </p:spPr>
        <p:txBody>
          <a:bodyPr/>
          <a:lstStyle/>
          <a:p>
            <a:r>
              <a:rPr lang="en-US" dirty="0" err="1" smtClean="0"/>
              <a:t>SpecReader</a:t>
            </a:r>
            <a:r>
              <a:rPr lang="en-US" dirty="0" smtClean="0"/>
              <a:t> </a:t>
            </a:r>
            <a:r>
              <a:rPr lang="en-US" dirty="0"/>
              <a:t>Architecture Review</a:t>
            </a:r>
          </a:p>
        </p:txBody>
      </p:sp>
    </p:spTree>
    <p:extLst>
      <p:ext uri="{BB962C8B-B14F-4D97-AF65-F5344CB8AC3E}">
        <p14:creationId xmlns:p14="http://schemas.microsoft.com/office/powerpoint/2010/main" val="378803707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p:txBody>
          <a:bodyPr/>
          <a:lstStyle/>
          <a:p>
            <a:r>
              <a:rPr lang="en-US" dirty="0"/>
              <a:t>Scope of Assessment</a:t>
            </a:r>
          </a:p>
        </p:txBody>
      </p:sp>
      <p:sp>
        <p:nvSpPr>
          <p:cNvPr id="4" name="Rectangle 3">
            <a:extLst>
              <a:ext uri="{FF2B5EF4-FFF2-40B4-BE49-F238E27FC236}">
                <a16:creationId xmlns:a16="http://schemas.microsoft.com/office/drawing/2014/main" id="{4D09B6A6-BDFD-4347-B64E-72ED5CA330F7}"/>
              </a:ext>
            </a:extLst>
          </p:cNvPr>
          <p:cNvSpPr/>
          <p:nvPr/>
        </p:nvSpPr>
        <p:spPr>
          <a:xfrm>
            <a:off x="974151" y="2033440"/>
            <a:ext cx="10598700" cy="3477875"/>
          </a:xfrm>
          <a:prstGeom prst="rect">
            <a:avLst/>
          </a:prstGeom>
        </p:spPr>
        <p:txBody>
          <a:bodyPr wrap="square">
            <a:spAutoFit/>
          </a:bodyPr>
          <a:lstStyle/>
          <a:p>
            <a:pPr lvl="0"/>
            <a:r>
              <a:rPr lang="en-US" sz="2000" dirty="0">
                <a:solidFill>
                  <a:srgbClr val="1F497D"/>
                </a:solidFill>
                <a:latin typeface="Calibri" panose="020F0502020204030204" pitchFamily="34" charset="0"/>
                <a:ea typeface="Calibri" panose="020F0502020204030204" pitchFamily="34" charset="0"/>
              </a:rPr>
              <a:t>1. Architecture/technology evaluation - Technical Architecture Review  focusing on </a:t>
            </a:r>
            <a:r>
              <a:rPr lang="en-US" sz="2000" b="1" dirty="0">
                <a:solidFill>
                  <a:srgbClr val="1F497D"/>
                </a:solidFill>
                <a:latin typeface="Calibri" panose="020F0502020204030204" pitchFamily="34" charset="0"/>
                <a:ea typeface="Calibri" panose="020F0502020204030204" pitchFamily="34" charset="0"/>
              </a:rPr>
              <a:t>Performance, Resiliency, Extensibility, Security, Maintainability and Operational efficiency</a:t>
            </a:r>
            <a:r>
              <a:rPr lang="en-US" sz="2000" dirty="0">
                <a:solidFill>
                  <a:srgbClr val="1F497D"/>
                </a:solidFill>
                <a:latin typeface="Calibri" panose="020F0502020204030204" pitchFamily="34" charset="0"/>
                <a:ea typeface="Calibri" panose="020F0502020204030204" pitchFamily="34" charset="0"/>
              </a:rPr>
              <a:t> in the following architecture areas</a:t>
            </a:r>
            <a:endParaRPr lang="en-US" sz="2000" dirty="0">
              <a:solidFill>
                <a:srgbClr val="1F497D"/>
              </a:solidFill>
              <a:latin typeface="Times New Roman" panose="02020603050405020304" pitchFamily="18" charset="0"/>
              <a:ea typeface="Calibri" panose="020F0502020204030204" pitchFamily="34" charset="0"/>
            </a:endParaRPr>
          </a:p>
          <a:p>
            <a:pPr marL="990575" lvl="7" indent="-380990">
              <a:buFont typeface="Courier New" panose="02070309020205020404" pitchFamily="49" charset="0"/>
              <a:buChar char="o"/>
            </a:pPr>
            <a:r>
              <a:rPr lang="en-US" sz="2000" dirty="0">
                <a:solidFill>
                  <a:srgbClr val="1F497D"/>
                </a:solidFill>
                <a:latin typeface="Calibri" panose="020F0502020204030204" pitchFamily="34" charset="0"/>
                <a:ea typeface="Calibri" panose="020F0502020204030204" pitchFamily="34" charset="0"/>
              </a:rPr>
              <a:t>Search Engine and Data pipeline</a:t>
            </a:r>
            <a:endParaRPr lang="en-US" sz="2000" dirty="0">
              <a:solidFill>
                <a:srgbClr val="1F497D"/>
              </a:solidFill>
              <a:latin typeface="Times New Roman" panose="02020603050405020304" pitchFamily="18" charset="0"/>
              <a:ea typeface="Calibri" panose="020F0502020204030204" pitchFamily="34" charset="0"/>
            </a:endParaRPr>
          </a:p>
          <a:p>
            <a:pPr marL="990575" lvl="7" indent="-380990">
              <a:buFont typeface="Courier New" panose="02070309020205020404" pitchFamily="49" charset="0"/>
              <a:buChar char="o"/>
            </a:pPr>
            <a:r>
              <a:rPr lang="en-US" sz="2000" dirty="0" smtClean="0">
                <a:solidFill>
                  <a:srgbClr val="1F497D"/>
                </a:solidFill>
                <a:latin typeface="Calibri" panose="020F0502020204030204" pitchFamily="34" charset="0"/>
                <a:ea typeface="Calibri" panose="020F0502020204030204" pitchFamily="34" charset="0"/>
              </a:rPr>
              <a:t>Role based access, data security </a:t>
            </a:r>
            <a:r>
              <a:rPr lang="en-US" sz="2000" dirty="0">
                <a:solidFill>
                  <a:srgbClr val="1F497D"/>
                </a:solidFill>
                <a:latin typeface="Calibri" panose="020F0502020204030204" pitchFamily="34" charset="0"/>
                <a:ea typeface="Calibri" panose="020F0502020204030204" pitchFamily="34" charset="0"/>
              </a:rPr>
              <a:t>implementation</a:t>
            </a:r>
          </a:p>
          <a:p>
            <a:pPr marL="990575" lvl="7" indent="-380990">
              <a:buFont typeface="Courier New" panose="02070309020205020404" pitchFamily="49" charset="0"/>
              <a:buChar char="o"/>
            </a:pPr>
            <a:r>
              <a:rPr lang="en-US" sz="2000" dirty="0">
                <a:solidFill>
                  <a:srgbClr val="1F497D"/>
                </a:solidFill>
                <a:latin typeface="Calibri" panose="020F0502020204030204" pitchFamily="34" charset="0"/>
                <a:ea typeface="Calibri" panose="020F0502020204030204" pitchFamily="34" charset="0"/>
              </a:rPr>
              <a:t>Business services and microservices implementation</a:t>
            </a:r>
          </a:p>
          <a:p>
            <a:pPr marL="990575" lvl="7" indent="-380990">
              <a:buFont typeface="Courier New" panose="02070309020205020404" pitchFamily="49" charset="0"/>
              <a:buChar char="o"/>
            </a:pPr>
            <a:r>
              <a:rPr lang="en-US" sz="2000" dirty="0">
                <a:solidFill>
                  <a:srgbClr val="1F497D"/>
                </a:solidFill>
                <a:latin typeface="Calibri" panose="020F0502020204030204" pitchFamily="34" charset="0"/>
                <a:ea typeface="Calibri" panose="020F0502020204030204" pitchFamily="34" charset="0"/>
              </a:rPr>
              <a:t>Data Replication</a:t>
            </a:r>
            <a:endParaRPr lang="en-US" sz="2000" dirty="0">
              <a:solidFill>
                <a:srgbClr val="1F497D"/>
              </a:solidFill>
              <a:latin typeface="Times New Roman" panose="02020603050405020304" pitchFamily="18" charset="0"/>
              <a:ea typeface="Calibri" panose="020F0502020204030204" pitchFamily="34" charset="0"/>
            </a:endParaRPr>
          </a:p>
          <a:p>
            <a:pPr lvl="0"/>
            <a:endParaRPr lang="en-US" sz="2000" dirty="0">
              <a:solidFill>
                <a:srgbClr val="1F497D"/>
              </a:solidFill>
              <a:latin typeface="Calibri" panose="020F0502020204030204" pitchFamily="34" charset="0"/>
              <a:ea typeface="Calibri" panose="020F0502020204030204" pitchFamily="34" charset="0"/>
            </a:endParaRPr>
          </a:p>
          <a:p>
            <a:pPr lvl="0"/>
            <a:r>
              <a:rPr lang="en-US" sz="2000" dirty="0">
                <a:solidFill>
                  <a:srgbClr val="1F497D"/>
                </a:solidFill>
                <a:latin typeface="Calibri" panose="020F0502020204030204" pitchFamily="34" charset="0"/>
                <a:ea typeface="Calibri" panose="020F0502020204030204" pitchFamily="34" charset="0"/>
              </a:rPr>
              <a:t>2. Development methodology, and Strategy focusing on-  </a:t>
            </a:r>
            <a:r>
              <a:rPr lang="en-US" sz="2000" b="1" dirty="0" smtClean="0">
                <a:solidFill>
                  <a:srgbClr val="1F497D"/>
                </a:solidFill>
                <a:latin typeface="Calibri" panose="020F0502020204030204" pitchFamily="34" charset="0"/>
                <a:ea typeface="Calibri" panose="020F0502020204030204" pitchFamily="34" charset="0"/>
              </a:rPr>
              <a:t>Development methodology, Tools </a:t>
            </a:r>
            <a:r>
              <a:rPr lang="en-US" sz="2000" b="1" dirty="0">
                <a:solidFill>
                  <a:srgbClr val="1F497D"/>
                </a:solidFill>
                <a:latin typeface="Calibri" panose="020F0502020204030204" pitchFamily="34" charset="0"/>
                <a:ea typeface="Calibri" panose="020F0502020204030204" pitchFamily="34" charset="0"/>
              </a:rPr>
              <a:t>Usage, performance/load testing, testing /test data </a:t>
            </a:r>
            <a:r>
              <a:rPr lang="en-US" sz="2000" b="1" dirty="0" smtClean="0">
                <a:solidFill>
                  <a:srgbClr val="1F497D"/>
                </a:solidFill>
                <a:latin typeface="Calibri" panose="020F0502020204030204" pitchFamily="34" charset="0"/>
                <a:ea typeface="Calibri" panose="020F0502020204030204" pitchFamily="34" charset="0"/>
              </a:rPr>
              <a:t>strategy</a:t>
            </a:r>
            <a:endParaRPr lang="en-US" sz="2000" b="1" dirty="0">
              <a:solidFill>
                <a:srgbClr val="1F497D"/>
              </a:solidFill>
              <a:latin typeface="Times New Roman" panose="02020603050405020304" pitchFamily="18" charset="0"/>
              <a:ea typeface="Calibri" panose="020F0502020204030204" pitchFamily="34" charset="0"/>
            </a:endParaRPr>
          </a:p>
          <a:p>
            <a:pPr lvl="0"/>
            <a:endParaRPr lang="en-US" sz="2000" dirty="0">
              <a:solidFill>
                <a:srgbClr val="1F497D"/>
              </a:solidFill>
              <a:latin typeface="Calibri" panose="020F0502020204030204" pitchFamily="34" charset="0"/>
              <a:ea typeface="Calibri" panose="020F0502020204030204" pitchFamily="34" charset="0"/>
            </a:endParaRPr>
          </a:p>
        </p:txBody>
      </p:sp>
      <p:sp>
        <p:nvSpPr>
          <p:cNvPr id="5" name="Oval 4"/>
          <p:cNvSpPr/>
          <p:nvPr/>
        </p:nvSpPr>
        <p:spPr>
          <a:xfrm>
            <a:off x="385414" y="2144277"/>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1</a:t>
            </a:r>
          </a:p>
        </p:txBody>
      </p:sp>
      <p:sp>
        <p:nvSpPr>
          <p:cNvPr id="6" name="Oval 5"/>
          <p:cNvSpPr/>
          <p:nvPr/>
        </p:nvSpPr>
        <p:spPr>
          <a:xfrm>
            <a:off x="385414" y="4821252"/>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2</a:t>
            </a:r>
          </a:p>
        </p:txBody>
      </p:sp>
      <p:sp>
        <p:nvSpPr>
          <p:cNvPr id="3" name="TextBox 2"/>
          <p:cNvSpPr txBox="1"/>
          <p:nvPr/>
        </p:nvSpPr>
        <p:spPr>
          <a:xfrm>
            <a:off x="1140196" y="946237"/>
            <a:ext cx="9873034" cy="830997"/>
          </a:xfrm>
          <a:prstGeom prst="rect">
            <a:avLst/>
          </a:prstGeom>
          <a:noFill/>
        </p:spPr>
        <p:txBody>
          <a:bodyPr wrap="square" rtlCol="0">
            <a:spAutoFit/>
          </a:bodyPr>
          <a:lstStyle/>
          <a:p>
            <a:pPr algn="ctr"/>
            <a:r>
              <a:rPr lang="en-US" sz="2400" dirty="0">
                <a:solidFill>
                  <a:srgbClr val="1F497D"/>
                </a:solidFill>
                <a:latin typeface="Calibri" panose="020F0502020204030204" pitchFamily="34" charset="0"/>
                <a:ea typeface="Calibri" panose="020F0502020204030204" pitchFamily="34" charset="0"/>
              </a:rPr>
              <a:t>Based on Priority issues, current state of the project and given architectural constraints, following areas have been prioritized for this assessment </a:t>
            </a:r>
          </a:p>
        </p:txBody>
      </p:sp>
    </p:spTree>
    <p:extLst>
      <p:ext uri="{BB962C8B-B14F-4D97-AF65-F5344CB8AC3E}">
        <p14:creationId xmlns:p14="http://schemas.microsoft.com/office/powerpoint/2010/main" val="3788297070"/>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p:txBody>
          <a:bodyPr/>
          <a:lstStyle/>
          <a:p>
            <a:r>
              <a:rPr lang="en-US" dirty="0" smtClean="0"/>
              <a:t>Executive Summary – Observations and recommendations</a:t>
            </a:r>
            <a:endParaRPr lang="en-US" dirty="0"/>
          </a:p>
        </p:txBody>
      </p:sp>
      <p:sp>
        <p:nvSpPr>
          <p:cNvPr id="13" name="TextBox 12"/>
          <p:cNvSpPr txBox="1"/>
          <p:nvPr/>
        </p:nvSpPr>
        <p:spPr>
          <a:xfrm>
            <a:off x="200290" y="1002874"/>
            <a:ext cx="11991710" cy="1015663"/>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rgbClr val="002060"/>
                </a:solidFill>
              </a:rPr>
              <a:t>Infosys brought independent architecture team for review of </a:t>
            </a:r>
            <a:r>
              <a:rPr lang="en-US" sz="1200" b="1" dirty="0">
                <a:solidFill>
                  <a:srgbClr val="002060"/>
                </a:solidFill>
              </a:rPr>
              <a:t>architecture, technologies , current challenges and development process &amp; tools</a:t>
            </a:r>
          </a:p>
          <a:p>
            <a:pPr marL="285750" indent="-285750">
              <a:buFont typeface="Arial" panose="020B0604020202020204" pitchFamily="34" charset="0"/>
              <a:buChar char="•"/>
            </a:pPr>
            <a:r>
              <a:rPr lang="en-US" sz="1200" dirty="0">
                <a:solidFill>
                  <a:srgbClr val="002060"/>
                </a:solidFill>
              </a:rPr>
              <a:t>Artifacts and process followed using </a:t>
            </a:r>
            <a:r>
              <a:rPr lang="en-US" sz="1200" b="1" dirty="0">
                <a:solidFill>
                  <a:srgbClr val="002060"/>
                </a:solidFill>
              </a:rPr>
              <a:t>Infosys QOS framework, tools </a:t>
            </a:r>
            <a:r>
              <a:rPr lang="en-US" sz="1200" dirty="0">
                <a:solidFill>
                  <a:srgbClr val="002060"/>
                </a:solidFill>
              </a:rPr>
              <a:t>and teams</a:t>
            </a:r>
          </a:p>
          <a:p>
            <a:pPr marL="742950" lvl="1" indent="-285750">
              <a:buFont typeface="Arial" panose="020B0604020202020204" pitchFamily="34" charset="0"/>
              <a:buChar char="•"/>
            </a:pPr>
            <a:r>
              <a:rPr lang="en-US" sz="1200" dirty="0">
                <a:solidFill>
                  <a:srgbClr val="002060"/>
                </a:solidFill>
              </a:rPr>
              <a:t>Documents review</a:t>
            </a:r>
          </a:p>
          <a:p>
            <a:pPr marL="742950" lvl="1" indent="-285750">
              <a:buFont typeface="Arial" panose="020B0604020202020204" pitchFamily="34" charset="0"/>
              <a:buChar char="•"/>
            </a:pPr>
            <a:r>
              <a:rPr lang="en-US" sz="1200" dirty="0">
                <a:solidFill>
                  <a:srgbClr val="002060"/>
                </a:solidFill>
              </a:rPr>
              <a:t>Discussion with team</a:t>
            </a:r>
          </a:p>
          <a:p>
            <a:pPr marL="742950" lvl="1" indent="-285750">
              <a:buFont typeface="Arial" panose="020B0604020202020204" pitchFamily="34" charset="0"/>
              <a:buChar char="•"/>
            </a:pPr>
            <a:r>
              <a:rPr lang="en-US" sz="1200" dirty="0">
                <a:solidFill>
                  <a:srgbClr val="002060"/>
                </a:solidFill>
              </a:rPr>
              <a:t>Code walkthrough</a:t>
            </a:r>
          </a:p>
        </p:txBody>
      </p:sp>
      <p:sp>
        <p:nvSpPr>
          <p:cNvPr id="14" name="TextBox 13"/>
          <p:cNvSpPr txBox="1"/>
          <p:nvPr/>
        </p:nvSpPr>
        <p:spPr>
          <a:xfrm>
            <a:off x="200290" y="684989"/>
            <a:ext cx="1010918" cy="338554"/>
          </a:xfrm>
          <a:prstGeom prst="rect">
            <a:avLst/>
          </a:prstGeom>
          <a:noFill/>
        </p:spPr>
        <p:txBody>
          <a:bodyPr wrap="none" rtlCol="0">
            <a:spAutoFit/>
          </a:bodyPr>
          <a:lstStyle/>
          <a:p>
            <a:r>
              <a:rPr lang="en-US" sz="1600" b="1" dirty="0">
                <a:solidFill>
                  <a:srgbClr val="002060"/>
                </a:solidFill>
              </a:rPr>
              <a:t>Approach</a:t>
            </a:r>
          </a:p>
        </p:txBody>
      </p:sp>
      <p:sp>
        <p:nvSpPr>
          <p:cNvPr id="15" name="TextBox 14"/>
          <p:cNvSpPr txBox="1"/>
          <p:nvPr/>
        </p:nvSpPr>
        <p:spPr>
          <a:xfrm>
            <a:off x="200290" y="2379496"/>
            <a:ext cx="11991710" cy="3600986"/>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rgbClr val="002060"/>
                </a:solidFill>
              </a:rPr>
              <a:t>Architecture/Design and Technology, and Validation strategy</a:t>
            </a:r>
          </a:p>
          <a:p>
            <a:pPr marL="742950" lvl="1" indent="-285750">
              <a:buFont typeface="Arial" panose="020B0604020202020204" pitchFamily="34" charset="0"/>
              <a:buChar char="•"/>
            </a:pPr>
            <a:r>
              <a:rPr lang="en-US" sz="1200" dirty="0">
                <a:solidFill>
                  <a:srgbClr val="002060"/>
                </a:solidFill>
              </a:rPr>
              <a:t>Overall no major issues areas of ‘extensibility’, ‘security’ maintainability’, ‘operational efficiency’ while ‘High/Medium’ areas of improvement in the areas of ‘performance’  and ‘reliability’ architecture areas of the </a:t>
            </a:r>
            <a:r>
              <a:rPr lang="en-US" sz="1200" dirty="0" err="1">
                <a:solidFill>
                  <a:srgbClr val="002060"/>
                </a:solidFill>
              </a:rPr>
              <a:t>SpecAnywhere</a:t>
            </a:r>
            <a:r>
              <a:rPr lang="en-US" sz="1200" dirty="0">
                <a:solidFill>
                  <a:srgbClr val="002060"/>
                </a:solidFill>
              </a:rPr>
              <a:t> system.</a:t>
            </a:r>
          </a:p>
          <a:p>
            <a:pPr marL="742950" lvl="1" indent="-285750">
              <a:buFont typeface="Arial" panose="020B0604020202020204" pitchFamily="34" charset="0"/>
              <a:buChar char="•"/>
            </a:pPr>
            <a:r>
              <a:rPr lang="en-US" sz="1200" dirty="0">
                <a:solidFill>
                  <a:srgbClr val="002060"/>
                </a:solidFill>
              </a:rPr>
              <a:t> System Stability/Reliability /Performance and Quality :</a:t>
            </a:r>
          </a:p>
          <a:p>
            <a:pPr marL="1200150" lvl="2" indent="-285750">
              <a:buFont typeface="Arial" panose="020B0604020202020204" pitchFamily="34" charset="0"/>
              <a:buChar char="•"/>
            </a:pPr>
            <a:r>
              <a:rPr lang="en-US" sz="1200" dirty="0">
                <a:solidFill>
                  <a:srgbClr val="002060"/>
                </a:solidFill>
              </a:rPr>
              <a:t>Performance, Reliability  and Quality were an issue due to :</a:t>
            </a:r>
          </a:p>
          <a:p>
            <a:pPr marL="1657350" lvl="3" indent="-285750">
              <a:buFont typeface="Arial" panose="020B0604020202020204" pitchFamily="34" charset="0"/>
              <a:buChar char="•"/>
            </a:pPr>
            <a:r>
              <a:rPr lang="en-US" sz="1200" dirty="0">
                <a:solidFill>
                  <a:srgbClr val="002060"/>
                </a:solidFill>
              </a:rPr>
              <a:t>Unstable scripts/</a:t>
            </a:r>
            <a:r>
              <a:rPr lang="en-US" sz="1200" dirty="0" err="1">
                <a:solidFill>
                  <a:srgbClr val="002060"/>
                </a:solidFill>
              </a:rPr>
              <a:t>cron</a:t>
            </a:r>
            <a:r>
              <a:rPr lang="en-US" sz="1200" dirty="0">
                <a:solidFill>
                  <a:srgbClr val="002060"/>
                </a:solidFill>
              </a:rPr>
              <a:t> jobs – Impacted System reliability </a:t>
            </a:r>
          </a:p>
          <a:p>
            <a:pPr marL="1657350" lvl="3" indent="-285750">
              <a:buFont typeface="Arial" panose="020B0604020202020204" pitchFamily="34" charset="0"/>
              <a:buChar char="•"/>
            </a:pPr>
            <a:r>
              <a:rPr lang="en-US" sz="1200" dirty="0">
                <a:solidFill>
                  <a:srgbClr val="002060"/>
                </a:solidFill>
              </a:rPr>
              <a:t>Lack of efficiency in test data and test scenarios – impacted test efficiency and hence system quality</a:t>
            </a:r>
          </a:p>
          <a:p>
            <a:pPr marL="1657350" lvl="3" indent="-285750">
              <a:buFont typeface="Arial" panose="020B0604020202020204" pitchFamily="34" charset="0"/>
              <a:buChar char="•"/>
            </a:pPr>
            <a:r>
              <a:rPr lang="en-US" sz="1200" dirty="0">
                <a:solidFill>
                  <a:srgbClr val="002060"/>
                </a:solidFill>
              </a:rPr>
              <a:t>Issues of design in Modularity and common services in few areas – impacted reopening of defects and hence system quality </a:t>
            </a:r>
          </a:p>
          <a:p>
            <a:pPr marL="1200150" lvl="2" indent="-285750">
              <a:buFont typeface="Arial" panose="020B0604020202020204" pitchFamily="34" charset="0"/>
              <a:buChar char="•"/>
            </a:pPr>
            <a:r>
              <a:rPr lang="en-US" sz="1200" dirty="0">
                <a:solidFill>
                  <a:srgbClr val="002060"/>
                </a:solidFill>
              </a:rPr>
              <a:t>Current steps team has taken to address some of the above</a:t>
            </a:r>
          </a:p>
          <a:p>
            <a:pPr marL="1657350" lvl="3" indent="-285750">
              <a:buFont typeface="Arial" panose="020B0604020202020204" pitchFamily="34" charset="0"/>
              <a:buChar char="•"/>
            </a:pPr>
            <a:r>
              <a:rPr lang="en-US" sz="1200" dirty="0">
                <a:solidFill>
                  <a:srgbClr val="002060"/>
                </a:solidFill>
              </a:rPr>
              <a:t>Team is already working on a few alternates such as </a:t>
            </a:r>
            <a:r>
              <a:rPr lang="en-US" sz="1200" dirty="0" err="1">
                <a:solidFill>
                  <a:srgbClr val="002060"/>
                </a:solidFill>
              </a:rPr>
              <a:t>ControlM</a:t>
            </a:r>
            <a:r>
              <a:rPr lang="en-US" sz="1200" dirty="0">
                <a:solidFill>
                  <a:srgbClr val="002060"/>
                </a:solidFill>
              </a:rPr>
              <a:t> for crone jobs execution, and better test data.</a:t>
            </a:r>
          </a:p>
          <a:p>
            <a:pPr marL="1200150" lvl="2" indent="-285750">
              <a:buFont typeface="Arial" panose="020B0604020202020204" pitchFamily="34" charset="0"/>
              <a:buChar char="•"/>
            </a:pPr>
            <a:r>
              <a:rPr lang="en-US" sz="1200" dirty="0">
                <a:solidFill>
                  <a:srgbClr val="002060"/>
                </a:solidFill>
              </a:rPr>
              <a:t>Additional recommendations</a:t>
            </a:r>
          </a:p>
          <a:p>
            <a:pPr marL="1657350" lvl="3" indent="-285750">
              <a:buFont typeface="Arial" panose="020B0604020202020204" pitchFamily="34" charset="0"/>
              <a:buChar char="•"/>
            </a:pPr>
            <a:r>
              <a:rPr lang="en-US" sz="1200" dirty="0">
                <a:solidFill>
                  <a:srgbClr val="002060"/>
                </a:solidFill>
              </a:rPr>
              <a:t>Recommended to explore alternates to </a:t>
            </a:r>
            <a:r>
              <a:rPr lang="en-US" sz="1200" dirty="0" err="1">
                <a:solidFill>
                  <a:srgbClr val="002060"/>
                </a:solidFill>
              </a:rPr>
              <a:t>FSCrwaler</a:t>
            </a:r>
            <a:r>
              <a:rPr lang="en-US" sz="1200" dirty="0">
                <a:solidFill>
                  <a:srgbClr val="002060"/>
                </a:solidFill>
              </a:rPr>
              <a:t> design and to explore Serverless deployment for system stability </a:t>
            </a:r>
          </a:p>
          <a:p>
            <a:pPr marL="1657350" lvl="3" indent="-285750">
              <a:buFont typeface="Arial" panose="020B0604020202020204" pitchFamily="34" charset="0"/>
              <a:buChar char="•"/>
            </a:pPr>
            <a:r>
              <a:rPr lang="en-US" sz="1200" dirty="0">
                <a:solidFill>
                  <a:srgbClr val="002060"/>
                </a:solidFill>
              </a:rPr>
              <a:t>Leveraging Elastic search 'text search' capability more efficiently instead of custom approach – for performance, scale and reliability</a:t>
            </a:r>
          </a:p>
          <a:p>
            <a:pPr marL="1657350" lvl="3" indent="-285750">
              <a:buFont typeface="Arial" panose="020B0604020202020204" pitchFamily="34" charset="0"/>
              <a:buChar char="•"/>
            </a:pPr>
            <a:r>
              <a:rPr lang="en-US" sz="1200" dirty="0">
                <a:solidFill>
                  <a:srgbClr val="002060"/>
                </a:solidFill>
              </a:rPr>
              <a:t>Test data strategy and end to end scenarios</a:t>
            </a:r>
          </a:p>
          <a:p>
            <a:pPr marL="1657350" lvl="3" indent="-285750">
              <a:buFont typeface="Arial" panose="020B0604020202020204" pitchFamily="34" charset="0"/>
              <a:buChar char="•"/>
            </a:pPr>
            <a:r>
              <a:rPr lang="en-US" sz="1200" dirty="0">
                <a:solidFill>
                  <a:srgbClr val="002060"/>
                </a:solidFill>
              </a:rPr>
              <a:t>Containerization and automated deployment and auto scaling – for efficient scaling, infra optimization and overall system stability</a:t>
            </a:r>
          </a:p>
          <a:p>
            <a:pPr marL="1657350" lvl="3" indent="-285750">
              <a:buFont typeface="Arial" panose="020B0604020202020204" pitchFamily="34" charset="0"/>
              <a:buChar char="•"/>
            </a:pPr>
            <a:r>
              <a:rPr lang="en-US" sz="1200" dirty="0">
                <a:solidFill>
                  <a:srgbClr val="002060"/>
                </a:solidFill>
              </a:rPr>
              <a:t>Performance bench marking and capacity planning for overall product roadmap and scale projected </a:t>
            </a:r>
          </a:p>
          <a:p>
            <a:pPr marL="285750" indent="-285750">
              <a:buFont typeface="Arial" panose="020B0604020202020204" pitchFamily="34" charset="0"/>
              <a:buChar char="•"/>
            </a:pPr>
            <a:r>
              <a:rPr lang="en-US" sz="1200" dirty="0">
                <a:solidFill>
                  <a:srgbClr val="002060"/>
                </a:solidFill>
              </a:rPr>
              <a:t>Development process &amp; tools – caused some of the defects and issues due to unavailability of near prod data and files, also lack of end to end test scenarios</a:t>
            </a:r>
          </a:p>
          <a:p>
            <a:pPr marL="742950" lvl="1" indent="-285750">
              <a:buFont typeface="Arial" panose="020B0604020202020204" pitchFamily="34" charset="0"/>
              <a:buChar char="•"/>
            </a:pPr>
            <a:r>
              <a:rPr lang="en-US" sz="1200" dirty="0">
                <a:solidFill>
                  <a:srgbClr val="002060"/>
                </a:solidFill>
              </a:rPr>
              <a:t>Recommended early user stories review process, early UAT test scenarios visibility</a:t>
            </a:r>
          </a:p>
          <a:p>
            <a:pPr marL="742950" lvl="1" indent="-285750">
              <a:buFont typeface="Arial" panose="020B0604020202020204" pitchFamily="34" charset="0"/>
              <a:buChar char="•"/>
            </a:pPr>
            <a:r>
              <a:rPr lang="en-US" sz="1200" dirty="0">
                <a:solidFill>
                  <a:srgbClr val="002060"/>
                </a:solidFill>
              </a:rPr>
              <a:t>DevOps implementation is being addressed in a separate track</a:t>
            </a:r>
          </a:p>
        </p:txBody>
      </p:sp>
      <p:sp>
        <p:nvSpPr>
          <p:cNvPr id="16" name="TextBox 15"/>
          <p:cNvSpPr txBox="1"/>
          <p:nvPr/>
        </p:nvSpPr>
        <p:spPr>
          <a:xfrm>
            <a:off x="232740" y="2040942"/>
            <a:ext cx="3491918" cy="338554"/>
          </a:xfrm>
          <a:prstGeom prst="rect">
            <a:avLst/>
          </a:prstGeom>
          <a:noFill/>
        </p:spPr>
        <p:txBody>
          <a:bodyPr wrap="none" rtlCol="0">
            <a:spAutoFit/>
          </a:bodyPr>
          <a:lstStyle/>
          <a:p>
            <a:r>
              <a:rPr lang="en-US" sz="1600" b="1" dirty="0">
                <a:solidFill>
                  <a:srgbClr val="002060"/>
                </a:solidFill>
              </a:rPr>
              <a:t>Key Observations &amp; Recommendations</a:t>
            </a:r>
          </a:p>
        </p:txBody>
      </p:sp>
      <p:sp>
        <p:nvSpPr>
          <p:cNvPr id="17" name="TextBox 16"/>
          <p:cNvSpPr txBox="1"/>
          <p:nvPr/>
        </p:nvSpPr>
        <p:spPr>
          <a:xfrm>
            <a:off x="261347" y="6190835"/>
            <a:ext cx="11991710"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rgbClr val="002060"/>
                </a:solidFill>
              </a:rPr>
              <a:t>Infosys Project Teams to work with Architecture team and </a:t>
            </a:r>
          </a:p>
          <a:p>
            <a:pPr marL="742950" lvl="1" indent="-285750">
              <a:buFont typeface="Arial" panose="020B0604020202020204" pitchFamily="34" charset="0"/>
              <a:buChar char="•"/>
            </a:pPr>
            <a:r>
              <a:rPr lang="en-US" sz="1200" dirty="0">
                <a:solidFill>
                  <a:srgbClr val="002060"/>
                </a:solidFill>
              </a:rPr>
              <a:t>Analyze the impact and add into project plan and product roadmap based on priorities, effort and timeline</a:t>
            </a:r>
          </a:p>
          <a:p>
            <a:pPr marL="742950" lvl="1" indent="-285750">
              <a:buFont typeface="Arial" panose="020B0604020202020204" pitchFamily="34" charset="0"/>
              <a:buChar char="•"/>
            </a:pPr>
            <a:r>
              <a:rPr lang="en-US" sz="1200" dirty="0">
                <a:solidFill>
                  <a:srgbClr val="002060"/>
                </a:solidFill>
              </a:rPr>
              <a:t>Work on recommendations and take to closure</a:t>
            </a:r>
          </a:p>
        </p:txBody>
      </p:sp>
      <p:sp>
        <p:nvSpPr>
          <p:cNvPr id="18" name="TextBox 17"/>
          <p:cNvSpPr txBox="1"/>
          <p:nvPr/>
        </p:nvSpPr>
        <p:spPr>
          <a:xfrm>
            <a:off x="160728" y="5916382"/>
            <a:ext cx="1090042" cy="338554"/>
          </a:xfrm>
          <a:prstGeom prst="rect">
            <a:avLst/>
          </a:prstGeom>
          <a:noFill/>
        </p:spPr>
        <p:txBody>
          <a:bodyPr wrap="none" rtlCol="0">
            <a:spAutoFit/>
          </a:bodyPr>
          <a:lstStyle/>
          <a:p>
            <a:r>
              <a:rPr lang="en-US" sz="1600" b="1" dirty="0">
                <a:solidFill>
                  <a:srgbClr val="002060"/>
                </a:solidFill>
              </a:rPr>
              <a:t>Next Steps</a:t>
            </a:r>
          </a:p>
        </p:txBody>
      </p:sp>
    </p:spTree>
    <p:extLst>
      <p:ext uri="{BB962C8B-B14F-4D97-AF65-F5344CB8AC3E}">
        <p14:creationId xmlns:p14="http://schemas.microsoft.com/office/powerpoint/2010/main" val="339463036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297965" y="2708025"/>
            <a:ext cx="7995963" cy="603981"/>
          </a:xfrm>
        </p:spPr>
        <p:txBody>
          <a:bodyPr/>
          <a:lstStyle/>
          <a:p>
            <a:pPr algn="ctr"/>
            <a:r>
              <a:rPr lang="en-US" b="1" dirty="0" smtClean="0">
                <a:solidFill>
                  <a:srgbClr val="002060"/>
                </a:solidFill>
              </a:rPr>
              <a:t>Analysis Details and Recommendations</a:t>
            </a:r>
            <a:endParaRPr lang="en-US" b="1" dirty="0">
              <a:solidFill>
                <a:srgbClr val="002060"/>
              </a:solidFill>
            </a:endParaRPr>
          </a:p>
        </p:txBody>
      </p:sp>
    </p:spTree>
    <p:extLst>
      <p:ext uri="{BB962C8B-B14F-4D97-AF65-F5344CB8AC3E}">
        <p14:creationId xmlns:p14="http://schemas.microsoft.com/office/powerpoint/2010/main" val="2513201096"/>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19782" y="-21328"/>
            <a:ext cx="11630733" cy="603981"/>
          </a:xfrm>
        </p:spPr>
        <p:txBody>
          <a:bodyPr/>
          <a:lstStyle/>
          <a:p>
            <a:r>
              <a:rPr lang="en-US" dirty="0"/>
              <a:t>Architecture/Design and Technology - Key Findings</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a:xfrm>
            <a:off x="128407" y="6423303"/>
            <a:ext cx="624383" cy="372535"/>
          </a:xfrm>
        </p:spPr>
        <p:txBody>
          <a:bodyPr/>
          <a:lstStyle/>
          <a:p>
            <a:fld id="{86CB4B4D-7CA3-9044-876B-883B54F8677D}" type="slidenum">
              <a:rPr lang="en-US" smtClean="0"/>
              <a:pPr/>
              <a:t>5</a:t>
            </a:fld>
            <a:endParaRPr lang="en-US" dirty="0"/>
          </a:p>
        </p:txBody>
      </p:sp>
      <p:graphicFrame>
        <p:nvGraphicFramePr>
          <p:cNvPr id="23" name="Table 22">
            <a:extLst>
              <a:ext uri="{FF2B5EF4-FFF2-40B4-BE49-F238E27FC236}">
                <a16:creationId xmlns:a16="http://schemas.microsoft.com/office/drawing/2014/main" id="{B2038A4E-595F-4F3D-9654-7FAEC1DCB393}"/>
              </a:ext>
            </a:extLst>
          </p:cNvPr>
          <p:cNvGraphicFramePr>
            <a:graphicFrameLocks noGrp="1"/>
          </p:cNvGraphicFramePr>
          <p:nvPr>
            <p:extLst>
              <p:ext uri="{D42A27DB-BD31-4B8C-83A1-F6EECF244321}">
                <p14:modId xmlns:p14="http://schemas.microsoft.com/office/powerpoint/2010/main" val="2618708705"/>
              </p:ext>
            </p:extLst>
          </p:nvPr>
        </p:nvGraphicFramePr>
        <p:xfrm>
          <a:off x="86842" y="358279"/>
          <a:ext cx="11763673" cy="6096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21604">
                  <a:extLst>
                    <a:ext uri="{9D8B030D-6E8A-4147-A177-3AD203B41FA5}">
                      <a16:colId xmlns:a16="http://schemas.microsoft.com/office/drawing/2014/main" val="20000"/>
                    </a:ext>
                  </a:extLst>
                </a:gridCol>
                <a:gridCol w="472345">
                  <a:extLst>
                    <a:ext uri="{9D8B030D-6E8A-4147-A177-3AD203B41FA5}">
                      <a16:colId xmlns:a16="http://schemas.microsoft.com/office/drawing/2014/main" val="20001"/>
                    </a:ext>
                  </a:extLst>
                </a:gridCol>
                <a:gridCol w="1598955">
                  <a:extLst>
                    <a:ext uri="{9D8B030D-6E8A-4147-A177-3AD203B41FA5}">
                      <a16:colId xmlns:a16="http://schemas.microsoft.com/office/drawing/2014/main" val="3981110338"/>
                    </a:ext>
                  </a:extLst>
                </a:gridCol>
                <a:gridCol w="3315016">
                  <a:extLst>
                    <a:ext uri="{9D8B030D-6E8A-4147-A177-3AD203B41FA5}">
                      <a16:colId xmlns:a16="http://schemas.microsoft.com/office/drawing/2014/main" val="3730199229"/>
                    </a:ext>
                  </a:extLst>
                </a:gridCol>
                <a:gridCol w="2008909">
                  <a:extLst>
                    <a:ext uri="{9D8B030D-6E8A-4147-A177-3AD203B41FA5}">
                      <a16:colId xmlns:a16="http://schemas.microsoft.com/office/drawing/2014/main" val="3247001817"/>
                    </a:ext>
                  </a:extLst>
                </a:gridCol>
                <a:gridCol w="3246844">
                  <a:extLst>
                    <a:ext uri="{9D8B030D-6E8A-4147-A177-3AD203B41FA5}">
                      <a16:colId xmlns:a16="http://schemas.microsoft.com/office/drawing/2014/main" val="2301990477"/>
                    </a:ext>
                  </a:extLst>
                </a:gridCol>
              </a:tblGrid>
              <a:tr h="476770">
                <a:tc>
                  <a:txBody>
                    <a:bodyPr/>
                    <a:lstStyle/>
                    <a:p>
                      <a:r>
                        <a:rPr lang="en-US" sz="1600" dirty="0"/>
                        <a:t>Analysis Dimension</a:t>
                      </a:r>
                    </a:p>
                  </a:txBody>
                  <a:tcPr/>
                </a:tc>
                <a:tc>
                  <a:txBody>
                    <a:bodyPr/>
                    <a:lstStyle/>
                    <a:p>
                      <a:r>
                        <a:rPr lang="en-US" sz="1400" dirty="0"/>
                        <a:t>Status</a:t>
                      </a:r>
                    </a:p>
                  </a:txBody>
                  <a:tcPr anchor="ctr"/>
                </a:tc>
                <a:tc>
                  <a:txBody>
                    <a:bodyPr/>
                    <a:lstStyle/>
                    <a:p>
                      <a:pPr algn="ctr"/>
                      <a:r>
                        <a:rPr lang="en-US" sz="1400" dirty="0"/>
                        <a:t>Highlights</a:t>
                      </a:r>
                    </a:p>
                  </a:txBody>
                  <a:tcPr anchor="ctr"/>
                </a:tc>
                <a:tc>
                  <a:txBody>
                    <a:bodyPr/>
                    <a:lstStyle/>
                    <a:p>
                      <a:pPr algn="ctr"/>
                      <a:r>
                        <a:rPr lang="en-US" sz="1400" dirty="0"/>
                        <a:t>Lowlights</a:t>
                      </a:r>
                    </a:p>
                  </a:txBody>
                  <a:tcPr anchor="ctr"/>
                </a:tc>
                <a:tc>
                  <a:txBody>
                    <a:bodyPr/>
                    <a:lstStyle/>
                    <a:p>
                      <a:pPr algn="ctr"/>
                      <a:r>
                        <a:rPr lang="en-US" sz="1400" dirty="0" smtClean="0"/>
                        <a:t>Actions taken recently</a:t>
                      </a:r>
                      <a:endParaRPr lang="en-US" sz="1400" dirty="0"/>
                    </a:p>
                  </a:txBody>
                  <a:tcPr anchor="ctr"/>
                </a:tc>
                <a:tc>
                  <a:txBody>
                    <a:bodyPr/>
                    <a:lstStyle/>
                    <a:p>
                      <a:pPr algn="ctr"/>
                      <a:r>
                        <a:rPr lang="en-US" sz="1400" dirty="0" smtClean="0"/>
                        <a:t>Additional Suggested </a:t>
                      </a:r>
                      <a:r>
                        <a:rPr lang="en-US" sz="1400" dirty="0" smtClean="0"/>
                        <a:t>Steps</a:t>
                      </a:r>
                      <a:endParaRPr lang="en-US" sz="1400" dirty="0"/>
                    </a:p>
                  </a:txBody>
                  <a:tcPr anchor="ctr"/>
                </a:tc>
                <a:extLst>
                  <a:ext uri="{0D108BD9-81ED-4DB2-BD59-A6C34878D82A}">
                    <a16:rowId xmlns:a16="http://schemas.microsoft.com/office/drawing/2014/main" val="10000"/>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2060"/>
                          </a:solidFill>
                        </a:rPr>
                        <a:t>Performance &amp; Scalability</a:t>
                      </a:r>
                    </a:p>
                  </a:txBody>
                  <a:tcPr/>
                </a:tc>
                <a:tc>
                  <a:txBody>
                    <a:bodyPr/>
                    <a:lstStyle/>
                    <a:p>
                      <a:endParaRPr lang="en-US" sz="1400" dirty="0">
                        <a:solidFill>
                          <a:srgbClr val="002060"/>
                        </a:solidFill>
                      </a:endParaRPr>
                    </a:p>
                  </a:txBody>
                  <a:tcPr/>
                </a:tc>
                <a:tc>
                  <a:txBody>
                    <a:bodyPr/>
                    <a:lstStyle/>
                    <a:p>
                      <a:r>
                        <a:rPr lang="en-US" sz="1400" dirty="0">
                          <a:solidFill>
                            <a:srgbClr val="002060"/>
                          </a:solidFill>
                        </a:rPr>
                        <a:t>With a right technologies such as data replication, caching/in-memory computing, and microservices  deployed in multiple VMs with load balancing performance and scalability is designed well </a:t>
                      </a:r>
                    </a:p>
                  </a:txBody>
                  <a:tcPr/>
                </a:tc>
                <a:tc>
                  <a:txBody>
                    <a:bodyPr/>
                    <a:lstStyle/>
                    <a:p>
                      <a:pPr marL="285750" indent="-285750">
                        <a:buFont typeface="Arial" panose="020B0604020202020204" pitchFamily="34" charset="0"/>
                        <a:buChar char="•"/>
                      </a:pPr>
                      <a:r>
                        <a:rPr lang="en-US" sz="1400" dirty="0">
                          <a:solidFill>
                            <a:srgbClr val="002060"/>
                          </a:solidFill>
                        </a:rPr>
                        <a:t>To handle the higher load, containerizing the application/services and deploying it with a container orchestration service like Kubernetes can lead to better utilization of resources and increase scalability, availability and easier and faster roll out of new versions/features</a:t>
                      </a:r>
                    </a:p>
                    <a:p>
                      <a:pPr marL="285750" indent="-285750">
                        <a:buFont typeface="Arial" panose="020B0604020202020204" pitchFamily="34" charset="0"/>
                        <a:buChar char="•"/>
                      </a:pPr>
                      <a:endParaRPr lang="en-US" sz="1400" dirty="0" smtClean="0">
                        <a:solidFill>
                          <a:srgbClr val="002060"/>
                        </a:solidFill>
                        <a:highlight>
                          <a:srgbClr val="FFFF00"/>
                        </a:highlight>
                      </a:endParaRPr>
                    </a:p>
                    <a:p>
                      <a:pPr marL="285750" indent="-285750">
                        <a:buFont typeface="Arial" panose="020B0604020202020204" pitchFamily="34" charset="0"/>
                        <a:buChar char="•"/>
                      </a:pPr>
                      <a:r>
                        <a:rPr lang="en-US" sz="1400" dirty="0" smtClean="0">
                          <a:solidFill>
                            <a:srgbClr val="002060"/>
                          </a:solidFill>
                        </a:rPr>
                        <a:t>Current text</a:t>
                      </a:r>
                      <a:r>
                        <a:rPr lang="en-US" sz="1400" baseline="0" dirty="0" smtClean="0">
                          <a:solidFill>
                            <a:srgbClr val="002060"/>
                          </a:solidFill>
                        </a:rPr>
                        <a:t> search implementation in </a:t>
                      </a:r>
                      <a:r>
                        <a:rPr lang="en-US" sz="1400" baseline="0" dirty="0" err="1" smtClean="0">
                          <a:solidFill>
                            <a:srgbClr val="002060"/>
                          </a:solidFill>
                        </a:rPr>
                        <a:t>Eleastcsearch</a:t>
                      </a:r>
                      <a:r>
                        <a:rPr lang="en-US" sz="1400" baseline="0" dirty="0" smtClean="0">
                          <a:solidFill>
                            <a:srgbClr val="002060"/>
                          </a:solidFill>
                        </a:rPr>
                        <a:t> with ES and custom comparator is impacting performance</a:t>
                      </a:r>
                      <a:r>
                        <a:rPr lang="en-US" sz="1400" dirty="0" smtClean="0">
                          <a:solidFill>
                            <a:srgbClr val="002060"/>
                          </a:solidFill>
                        </a:rPr>
                        <a:t> </a:t>
                      </a:r>
                      <a:endParaRPr lang="en-US" sz="1400" dirty="0">
                        <a:solidFill>
                          <a:srgbClr val="002060"/>
                        </a:solidFill>
                        <a:highlight>
                          <a:srgbClr val="FFFF00"/>
                        </a:highlight>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smtClean="0">
                          <a:solidFill>
                            <a:srgbClr val="FF0000"/>
                          </a:solidFill>
                          <a:latin typeface="+mn-lt"/>
                          <a:ea typeface="+mn-ea"/>
                          <a:cs typeface="+mn-cs"/>
                        </a:rPr>
                        <a:t>Any steps??</a:t>
                      </a:r>
                      <a:endParaRPr lang="en-US" sz="1400" kern="1200" dirty="0">
                        <a:solidFill>
                          <a:srgbClr val="FF0000"/>
                        </a:solidFill>
                        <a:latin typeface="+mn-lt"/>
                        <a:ea typeface="+mn-ea"/>
                        <a:cs typeface="+mn-cs"/>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To be discussed with P&amp;G Architects and also look into long term user base and performance requirements and actionize to refine the solution for auto scaling and operational efficiency as feasible (bringing learnings from other BUs from P&amp;G; how they are handling and what are the </a:t>
                      </a:r>
                      <a:r>
                        <a:rPr lang="en-US" sz="1400" kern="1200" dirty="0" smtClean="0">
                          <a:solidFill>
                            <a:srgbClr val="002060"/>
                          </a:solidFill>
                          <a:latin typeface="+mn-lt"/>
                          <a:ea typeface="+mn-ea"/>
                          <a:cs typeface="+mn-cs"/>
                        </a:rPr>
                        <a:t>guidelines for ‘Highly controlled environment”)</a:t>
                      </a:r>
                      <a:endParaRPr lang="en-US" sz="1400" kern="1200" dirty="0" smtClean="0">
                        <a:solidFill>
                          <a:srgbClr val="002060"/>
                        </a:solidFill>
                        <a:latin typeface="+mn-lt"/>
                        <a:ea typeface="+mn-ea"/>
                        <a:cs typeface="+mn-cs"/>
                      </a:endParaRPr>
                    </a:p>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Custom analyzers may need to be developed based on the search patterns</a:t>
                      </a:r>
                    </a:p>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Evaluate alternatives to </a:t>
                      </a:r>
                      <a:r>
                        <a:rPr lang="en-US" sz="1400" kern="1200" dirty="0" err="1" smtClean="0">
                          <a:solidFill>
                            <a:srgbClr val="002060"/>
                          </a:solidFill>
                          <a:latin typeface="+mn-lt"/>
                          <a:ea typeface="+mn-ea"/>
                          <a:cs typeface="+mn-cs"/>
                        </a:rPr>
                        <a:t>FSCrawler</a:t>
                      </a:r>
                      <a:r>
                        <a:rPr lang="en-US" sz="1400" kern="1200" dirty="0" smtClean="0">
                          <a:solidFill>
                            <a:srgbClr val="002060"/>
                          </a:solidFill>
                          <a:latin typeface="+mn-lt"/>
                          <a:ea typeface="+mn-ea"/>
                          <a:cs typeface="+mn-cs"/>
                        </a:rPr>
                        <a:t>, like Ingest Attachment Processor plugin  </a:t>
                      </a:r>
                      <a:endParaRPr lang="en-US" sz="1400" kern="1200" dirty="0">
                        <a:solidFill>
                          <a:srgbClr val="002060"/>
                        </a:solidFill>
                        <a:latin typeface="+mn-lt"/>
                        <a:ea typeface="+mn-ea"/>
                        <a:cs typeface="+mn-cs"/>
                      </a:endParaRPr>
                    </a:p>
                  </a:txBody>
                  <a:tcPr/>
                </a:tc>
                <a:extLst>
                  <a:ext uri="{0D108BD9-81ED-4DB2-BD59-A6C34878D82A}">
                    <a16:rowId xmlns:a16="http://schemas.microsoft.com/office/drawing/2014/main" val="10001"/>
                  </a:ext>
                </a:extLst>
              </a:tr>
              <a:tr h="361436">
                <a:tc>
                  <a:txBody>
                    <a:bodyPr/>
                    <a:lstStyle/>
                    <a:p>
                      <a:pPr algn="l"/>
                      <a:r>
                        <a:rPr lang="en-US" sz="1400" dirty="0">
                          <a:solidFill>
                            <a:srgbClr val="002060"/>
                          </a:solidFill>
                        </a:rPr>
                        <a:t>Resiliency/Reliability</a:t>
                      </a:r>
                    </a:p>
                  </a:txBody>
                  <a:tcPr/>
                </a:tc>
                <a:tc>
                  <a:txBody>
                    <a:bodyPr/>
                    <a:lstStyle/>
                    <a:p>
                      <a:endParaRPr lang="en-US" sz="1400" dirty="0">
                        <a:solidFill>
                          <a:srgbClr val="002060"/>
                        </a:solidFill>
                      </a:endParaRPr>
                    </a:p>
                  </a:txBody>
                  <a:tcPr/>
                </a:tc>
                <a:tc>
                  <a:txBody>
                    <a:bodyPr/>
                    <a:lstStyle/>
                    <a:p>
                      <a:r>
                        <a:rPr lang="en-US" sz="1400" dirty="0">
                          <a:solidFill>
                            <a:srgbClr val="002060"/>
                          </a:solidFill>
                        </a:rPr>
                        <a:t>Logging, error handling, exception handling.</a:t>
                      </a:r>
                    </a:p>
                  </a:txBody>
                  <a:tcPr/>
                </a:tc>
                <a:tc>
                  <a:txBody>
                    <a:bodyPr/>
                    <a:lstStyle/>
                    <a:p>
                      <a:pPr marL="285750" indent="-285750">
                        <a:buFont typeface="Arial" panose="020B0604020202020204" pitchFamily="34" charset="0"/>
                        <a:buChar char="•"/>
                      </a:pPr>
                      <a:r>
                        <a:rPr lang="en-US" sz="1400" dirty="0">
                          <a:solidFill>
                            <a:srgbClr val="002060"/>
                          </a:solidFill>
                        </a:rPr>
                        <a:t>Opportunity for Serverless</a:t>
                      </a:r>
                      <a:r>
                        <a:rPr lang="en-US" sz="1400" baseline="0" dirty="0">
                          <a:solidFill>
                            <a:srgbClr val="002060"/>
                          </a:solidFill>
                        </a:rPr>
                        <a:t> deployment of crone jobs and scripts – to improve reliability of current heavy document processing??</a:t>
                      </a:r>
                    </a:p>
                    <a:p>
                      <a:pPr marL="285750" indent="-285750">
                        <a:buFont typeface="Arial" panose="020B0604020202020204" pitchFamily="34" charset="0"/>
                        <a:buChar char="•"/>
                      </a:pPr>
                      <a:r>
                        <a:rPr lang="en-US" sz="1400" baseline="0" dirty="0" smtClean="0">
                          <a:solidFill>
                            <a:srgbClr val="002060"/>
                          </a:solidFill>
                        </a:rPr>
                        <a:t>Service </a:t>
                      </a:r>
                      <a:r>
                        <a:rPr lang="en-US" sz="1400" baseline="0" dirty="0">
                          <a:solidFill>
                            <a:srgbClr val="002060"/>
                          </a:solidFill>
                        </a:rPr>
                        <a:t>accounts used for running scripts/jobs should have minimum permissions.</a:t>
                      </a:r>
                    </a:p>
                    <a:p>
                      <a:pPr marL="285750" indent="-285750">
                        <a:buFont typeface="Arial" panose="020B0604020202020204" pitchFamily="34" charset="0"/>
                        <a:buChar char="•"/>
                      </a:pPr>
                      <a:r>
                        <a:rPr lang="en-US" sz="1400" baseline="0" dirty="0">
                          <a:solidFill>
                            <a:srgbClr val="002060"/>
                          </a:solidFill>
                        </a:rPr>
                        <a:t>Set up notification alerts for critical errors</a:t>
                      </a:r>
                    </a:p>
                    <a:p>
                      <a:pPr marL="285750" indent="-285750">
                        <a:buFont typeface="Arial" panose="020B0604020202020204" pitchFamily="34" charset="0"/>
                        <a:buChar char="•"/>
                      </a:pPr>
                      <a:r>
                        <a:rPr lang="en-US" sz="1400" baseline="0" dirty="0">
                          <a:solidFill>
                            <a:srgbClr val="002060"/>
                          </a:solidFill>
                        </a:rPr>
                        <a:t>Single AZ deployment now. Consider multi-AZ for high availability</a:t>
                      </a: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Team is working with</a:t>
                      </a:r>
                      <a:r>
                        <a:rPr lang="en-US" sz="1400" baseline="0" dirty="0" smtClean="0">
                          <a:solidFill>
                            <a:srgbClr val="002060"/>
                          </a:solidFill>
                        </a:rPr>
                        <a:t> P&amp;G architects to move these jobs to </a:t>
                      </a:r>
                      <a:r>
                        <a:rPr lang="en-US" sz="1400" baseline="0" dirty="0" err="1" smtClean="0">
                          <a:solidFill>
                            <a:srgbClr val="002060"/>
                          </a:solidFill>
                        </a:rPr>
                        <a:t>ControlM</a:t>
                      </a:r>
                      <a:r>
                        <a:rPr lang="en-US" sz="1400" baseline="0" dirty="0" smtClean="0">
                          <a:solidFill>
                            <a:srgbClr val="002060"/>
                          </a:solidFill>
                        </a:rPr>
                        <a:t> </a:t>
                      </a:r>
                      <a:r>
                        <a:rPr lang="en-US" sz="1400" baseline="0" dirty="0" smtClean="0">
                          <a:solidFill>
                            <a:srgbClr val="FF0000"/>
                          </a:solidFill>
                        </a:rPr>
                        <a:t>&lt; </a:t>
                      </a:r>
                      <a:r>
                        <a:rPr lang="en-US" sz="1400" baseline="0" dirty="0" err="1" smtClean="0">
                          <a:solidFill>
                            <a:srgbClr val="FF0000"/>
                          </a:solidFill>
                        </a:rPr>
                        <a:t>pls</a:t>
                      </a:r>
                      <a:r>
                        <a:rPr lang="en-US" sz="1400" baseline="0" dirty="0" smtClean="0">
                          <a:solidFill>
                            <a:srgbClr val="FF0000"/>
                          </a:solidFill>
                        </a:rPr>
                        <a:t> update the progress/plan&gt;</a:t>
                      </a:r>
                    </a:p>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Need to discuss with </a:t>
                      </a:r>
                      <a:r>
                        <a:rPr lang="en-US" sz="1400" kern="1200" dirty="0" smtClean="0">
                          <a:solidFill>
                            <a:srgbClr val="002060"/>
                          </a:solidFill>
                          <a:latin typeface="+mn-lt"/>
                          <a:ea typeface="+mn-ea"/>
                          <a:cs typeface="+mn-cs"/>
                        </a:rPr>
                        <a:t>P&amp;G Architects  and move </a:t>
                      </a:r>
                      <a:r>
                        <a:rPr lang="en-US" sz="1400" baseline="0" dirty="0" smtClean="0">
                          <a:solidFill>
                            <a:srgbClr val="002060"/>
                          </a:solidFill>
                        </a:rPr>
                        <a:t>of crone jobs and scripts </a:t>
                      </a:r>
                      <a:r>
                        <a:rPr lang="en-US" sz="1400" kern="1200" dirty="0" smtClean="0">
                          <a:solidFill>
                            <a:srgbClr val="002060"/>
                          </a:solidFill>
                          <a:latin typeface="+mn-lt"/>
                          <a:ea typeface="+mn-ea"/>
                          <a:cs typeface="+mn-cs"/>
                        </a:rPr>
                        <a:t>to </a:t>
                      </a:r>
                      <a:r>
                        <a:rPr lang="en-US" sz="1400" kern="1200" dirty="0" err="1" smtClean="0">
                          <a:solidFill>
                            <a:srgbClr val="002060"/>
                          </a:solidFill>
                          <a:latin typeface="+mn-lt"/>
                          <a:ea typeface="+mn-ea"/>
                          <a:cs typeface="+mn-cs"/>
                        </a:rPr>
                        <a:t>ControlM</a:t>
                      </a:r>
                      <a:r>
                        <a:rPr lang="en-US" sz="1400" kern="1200" dirty="0" smtClean="0">
                          <a:solidFill>
                            <a:srgbClr val="002060"/>
                          </a:solidFill>
                          <a:latin typeface="+mn-lt"/>
                          <a:ea typeface="+mn-ea"/>
                          <a:cs typeface="+mn-cs"/>
                        </a:rPr>
                        <a:t> or </a:t>
                      </a:r>
                      <a:r>
                        <a:rPr lang="en-US" sz="1400" kern="1200" dirty="0" err="1" smtClean="0">
                          <a:solidFill>
                            <a:srgbClr val="002060"/>
                          </a:solidFill>
                          <a:latin typeface="+mn-lt"/>
                          <a:ea typeface="+mn-ea"/>
                          <a:cs typeface="+mn-cs"/>
                        </a:rPr>
                        <a:t>Serverless</a:t>
                      </a:r>
                      <a:r>
                        <a:rPr lang="en-US" sz="1400" kern="1200" dirty="0" smtClean="0">
                          <a:solidFill>
                            <a:srgbClr val="002060"/>
                          </a:solidFill>
                          <a:latin typeface="+mn-lt"/>
                          <a:ea typeface="+mn-ea"/>
                          <a:cs typeface="+mn-cs"/>
                        </a:rPr>
                        <a:t> after feasibility and </a:t>
                      </a:r>
                      <a:r>
                        <a:rPr lang="en-US" sz="1400" kern="1200" dirty="0" err="1" smtClean="0">
                          <a:solidFill>
                            <a:srgbClr val="002060"/>
                          </a:solidFill>
                          <a:latin typeface="+mn-lt"/>
                          <a:ea typeface="+mn-ea"/>
                          <a:cs typeface="+mn-cs"/>
                        </a:rPr>
                        <a:t>PoC</a:t>
                      </a:r>
                      <a:endParaRPr lang="en-US" sz="1400" kern="1200" dirty="0" smtClean="0">
                        <a:solidFill>
                          <a:srgbClr val="002060"/>
                        </a:solidFill>
                        <a:latin typeface="+mn-lt"/>
                        <a:ea typeface="+mn-ea"/>
                        <a:cs typeface="+mn-cs"/>
                      </a:endParaRPr>
                    </a:p>
                    <a:p>
                      <a:pPr marL="285750" indent="-285750">
                        <a:buFont typeface="Arial" panose="020B0604020202020204" pitchFamily="34" charset="0"/>
                        <a:buChar char="•"/>
                      </a:pPr>
                      <a:r>
                        <a:rPr lang="en-US" sz="1400" kern="1200" dirty="0" smtClean="0">
                          <a:solidFill>
                            <a:srgbClr val="002060"/>
                          </a:solidFill>
                          <a:latin typeface="+mn-lt"/>
                          <a:ea typeface="+mn-ea"/>
                          <a:cs typeface="+mn-cs"/>
                        </a:rPr>
                        <a:t>Adopt minimum</a:t>
                      </a:r>
                      <a:r>
                        <a:rPr lang="en-US" sz="1400" kern="1200" baseline="0" dirty="0" smtClean="0">
                          <a:solidFill>
                            <a:srgbClr val="002060"/>
                          </a:solidFill>
                          <a:latin typeface="+mn-lt"/>
                          <a:ea typeface="+mn-ea"/>
                          <a:cs typeface="+mn-cs"/>
                        </a:rPr>
                        <a:t> permission principles for script/jobs</a:t>
                      </a:r>
                    </a:p>
                    <a:p>
                      <a:pPr marL="285750" indent="-285750">
                        <a:buFont typeface="Arial" panose="020B0604020202020204" pitchFamily="34" charset="0"/>
                        <a:buChar char="•"/>
                      </a:pPr>
                      <a:r>
                        <a:rPr lang="en-US" sz="1400" kern="1200" baseline="0" dirty="0" smtClean="0">
                          <a:solidFill>
                            <a:srgbClr val="002060"/>
                          </a:solidFill>
                          <a:latin typeface="+mn-lt"/>
                          <a:ea typeface="+mn-ea"/>
                          <a:cs typeface="+mn-cs"/>
                        </a:rPr>
                        <a:t>Adopt multi-AZ deployment for High </a:t>
                      </a:r>
                      <a:r>
                        <a:rPr lang="en-US" sz="1400" kern="1200" baseline="0" dirty="0" smtClean="0">
                          <a:solidFill>
                            <a:srgbClr val="002060"/>
                          </a:solidFill>
                          <a:latin typeface="+mn-lt"/>
                          <a:ea typeface="+mn-ea"/>
                          <a:cs typeface="+mn-cs"/>
                        </a:rPr>
                        <a:t>Availability </a:t>
                      </a:r>
                      <a:r>
                        <a:rPr lang="en-US" sz="1400" kern="1200" baseline="0" dirty="0" smtClean="0">
                          <a:solidFill>
                            <a:srgbClr val="FF0000"/>
                          </a:solidFill>
                          <a:latin typeface="+mn-lt"/>
                          <a:ea typeface="+mn-ea"/>
                          <a:cs typeface="+mn-cs"/>
                        </a:rPr>
                        <a:t>&lt;feedback </a:t>
                      </a:r>
                      <a:r>
                        <a:rPr lang="en-US" sz="1400" kern="1200" baseline="0" dirty="0" err="1" smtClean="0">
                          <a:solidFill>
                            <a:srgbClr val="FF0000"/>
                          </a:solidFill>
                          <a:latin typeface="+mn-lt"/>
                          <a:ea typeface="+mn-ea"/>
                          <a:cs typeface="+mn-cs"/>
                        </a:rPr>
                        <a:t>pls</a:t>
                      </a:r>
                      <a:r>
                        <a:rPr lang="en-US" sz="1400" kern="1200" baseline="0" dirty="0" smtClean="0">
                          <a:solidFill>
                            <a:srgbClr val="FF0000"/>
                          </a:solidFill>
                          <a:latin typeface="+mn-lt"/>
                          <a:ea typeface="+mn-ea"/>
                          <a:cs typeface="+mn-cs"/>
                        </a:rPr>
                        <a:t>&gt;</a:t>
                      </a:r>
                      <a:endParaRPr lang="en-US" sz="1400" dirty="0">
                        <a:solidFill>
                          <a:srgbClr val="FF0000"/>
                        </a:solidFill>
                      </a:endParaRPr>
                    </a:p>
                  </a:txBody>
                  <a:tcPr/>
                </a:tc>
                <a:extLst>
                  <a:ext uri="{0D108BD9-81ED-4DB2-BD59-A6C34878D82A}">
                    <a16:rowId xmlns:a16="http://schemas.microsoft.com/office/drawing/2014/main" val="10002"/>
                  </a:ext>
                </a:extLst>
              </a:tr>
            </a:tbl>
          </a:graphicData>
        </a:graphic>
      </p:graphicFrame>
      <p:grpSp>
        <p:nvGrpSpPr>
          <p:cNvPr id="4" name="Group 3"/>
          <p:cNvGrpSpPr/>
          <p:nvPr/>
        </p:nvGrpSpPr>
        <p:grpSpPr>
          <a:xfrm>
            <a:off x="663435" y="6485733"/>
            <a:ext cx="3671979" cy="314230"/>
            <a:chOff x="663435" y="6485733"/>
            <a:chExt cx="3671979" cy="314230"/>
          </a:xfrm>
        </p:grpSpPr>
        <p:sp>
          <p:nvSpPr>
            <p:cNvPr id="24" name="TextBox 23">
              <a:extLst>
                <a:ext uri="{FF2B5EF4-FFF2-40B4-BE49-F238E27FC236}">
                  <a16:creationId xmlns:a16="http://schemas.microsoft.com/office/drawing/2014/main" id="{B6888186-D23F-48D1-AFD5-D8C035C3E5D6}"/>
                </a:ext>
              </a:extLst>
            </p:cNvPr>
            <p:cNvSpPr txBox="1"/>
            <p:nvPr/>
          </p:nvSpPr>
          <p:spPr>
            <a:xfrm>
              <a:off x="2133468"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Low</a:t>
              </a:r>
              <a:r>
                <a:rPr lang="en-US" sz="800" dirty="0">
                  <a:latin typeface="Segoe UI" panose="020B0502040204020203" pitchFamily="34" charset="0"/>
                  <a:cs typeface="Segoe UI" panose="020B0502040204020203" pitchFamily="34" charset="0"/>
                </a:rPr>
                <a:t> </a:t>
              </a:r>
            </a:p>
          </p:txBody>
        </p:sp>
        <p:sp>
          <p:nvSpPr>
            <p:cNvPr id="25" name="TextBox 24">
              <a:extLst>
                <a:ext uri="{FF2B5EF4-FFF2-40B4-BE49-F238E27FC236}">
                  <a16:creationId xmlns:a16="http://schemas.microsoft.com/office/drawing/2014/main" id="{FABAB6D8-1507-418A-BFF1-53D6297AFB9D}"/>
                </a:ext>
              </a:extLst>
            </p:cNvPr>
            <p:cNvSpPr txBox="1"/>
            <p:nvPr/>
          </p:nvSpPr>
          <p:spPr>
            <a:xfrm>
              <a:off x="3905153"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High</a:t>
              </a:r>
              <a:endParaRPr lang="en-US" sz="800" dirty="0">
                <a:latin typeface="Segoe UI" panose="020B0502040204020203" pitchFamily="34" charset="0"/>
                <a:cs typeface="Segoe UI" panose="020B0502040204020203" pitchFamily="34" charset="0"/>
              </a:endParaRPr>
            </a:p>
          </p:txBody>
        </p:sp>
        <p:cxnSp>
          <p:nvCxnSpPr>
            <p:cNvPr id="26" name="Straight Arrow Connector 25">
              <a:extLst>
                <a:ext uri="{FF2B5EF4-FFF2-40B4-BE49-F238E27FC236}">
                  <a16:creationId xmlns:a16="http://schemas.microsoft.com/office/drawing/2014/main" id="{7EC2B485-D3F9-48BE-BE41-AB8CF236B78A}"/>
                </a:ext>
              </a:extLst>
            </p:cNvPr>
            <p:cNvCxnSpPr>
              <a:cxnSpLocks/>
              <a:endCxn id="25" idx="1"/>
            </p:cNvCxnSpPr>
            <p:nvPr/>
          </p:nvCxnSpPr>
          <p:spPr>
            <a:xfrm flipV="1">
              <a:off x="2455846" y="6692241"/>
              <a:ext cx="1449307" cy="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DB0BEBF-3948-4A0F-8A6D-E384F69C80BD}"/>
                </a:ext>
              </a:extLst>
            </p:cNvPr>
            <p:cNvSpPr/>
            <p:nvPr/>
          </p:nvSpPr>
          <p:spPr>
            <a:xfrm>
              <a:off x="2451340" y="6489620"/>
              <a:ext cx="152316" cy="148560"/>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43BB29C-58C7-49CF-8F32-0B57F77E1BB1}"/>
                </a:ext>
              </a:extLst>
            </p:cNvPr>
            <p:cNvSpPr/>
            <p:nvPr/>
          </p:nvSpPr>
          <p:spPr>
            <a:xfrm>
              <a:off x="3111061" y="6487752"/>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890A3C6-50E3-4443-806B-FF555556AC9F}"/>
                </a:ext>
              </a:extLst>
            </p:cNvPr>
            <p:cNvSpPr/>
            <p:nvPr/>
          </p:nvSpPr>
          <p:spPr>
            <a:xfrm>
              <a:off x="3733751" y="6489620"/>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0134A6A-004F-47A6-B79D-C11E1979546F}"/>
                </a:ext>
              </a:extLst>
            </p:cNvPr>
            <p:cNvSpPr txBox="1"/>
            <p:nvPr/>
          </p:nvSpPr>
          <p:spPr>
            <a:xfrm>
              <a:off x="663435" y="6485733"/>
              <a:ext cx="1449307"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Maturity Level Status</a:t>
              </a:r>
            </a:p>
          </p:txBody>
        </p:sp>
      </p:grpSp>
      <p:sp>
        <p:nvSpPr>
          <p:cNvPr id="33" name="Oval 32">
            <a:extLst>
              <a:ext uri="{FF2B5EF4-FFF2-40B4-BE49-F238E27FC236}">
                <a16:creationId xmlns:a16="http://schemas.microsoft.com/office/drawing/2014/main" id="{3262E487-2666-493B-ABB0-B42DC5F3C903}"/>
              </a:ext>
            </a:extLst>
          </p:cNvPr>
          <p:cNvSpPr/>
          <p:nvPr/>
        </p:nvSpPr>
        <p:spPr>
          <a:xfrm>
            <a:off x="1410974" y="2348419"/>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1683005" y="61807"/>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1</a:t>
            </a:r>
          </a:p>
        </p:txBody>
      </p:sp>
      <p:sp>
        <p:nvSpPr>
          <p:cNvPr id="21" name="Oval 20">
            <a:extLst>
              <a:ext uri="{FF2B5EF4-FFF2-40B4-BE49-F238E27FC236}">
                <a16:creationId xmlns:a16="http://schemas.microsoft.com/office/drawing/2014/main" id="{5DB0BEBF-3948-4A0F-8A6D-E384F69C80BD}"/>
              </a:ext>
            </a:extLst>
          </p:cNvPr>
          <p:cNvSpPr/>
          <p:nvPr/>
        </p:nvSpPr>
        <p:spPr>
          <a:xfrm>
            <a:off x="1388088" y="5202464"/>
            <a:ext cx="152316" cy="148560"/>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0084216"/>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61347" y="200352"/>
            <a:ext cx="11630733" cy="603981"/>
          </a:xfrm>
        </p:spPr>
        <p:txBody>
          <a:bodyPr/>
          <a:lstStyle/>
          <a:p>
            <a:r>
              <a:rPr lang="en-US" dirty="0"/>
              <a:t>Architecture/Design and Technology - Key Findings</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p:txBody>
          <a:bodyPr/>
          <a:lstStyle/>
          <a:p>
            <a:fld id="{86CB4B4D-7CA3-9044-876B-883B54F8677D}" type="slidenum">
              <a:rPr lang="en-US" smtClean="0"/>
              <a:pPr/>
              <a:t>6</a:t>
            </a:fld>
            <a:endParaRPr lang="en-US" dirty="0"/>
          </a:p>
        </p:txBody>
      </p:sp>
      <p:graphicFrame>
        <p:nvGraphicFramePr>
          <p:cNvPr id="23" name="Table 22">
            <a:extLst>
              <a:ext uri="{FF2B5EF4-FFF2-40B4-BE49-F238E27FC236}">
                <a16:creationId xmlns:a16="http://schemas.microsoft.com/office/drawing/2014/main" id="{B2038A4E-595F-4F3D-9654-7FAEC1DCB393}"/>
              </a:ext>
            </a:extLst>
          </p:cNvPr>
          <p:cNvGraphicFramePr>
            <a:graphicFrameLocks noGrp="1"/>
          </p:cNvGraphicFramePr>
          <p:nvPr>
            <p:extLst>
              <p:ext uri="{D42A27DB-BD31-4B8C-83A1-F6EECF244321}">
                <p14:modId xmlns:p14="http://schemas.microsoft.com/office/powerpoint/2010/main" val="2144726952"/>
              </p:ext>
            </p:extLst>
          </p:nvPr>
        </p:nvGraphicFramePr>
        <p:xfrm>
          <a:off x="308518" y="579712"/>
          <a:ext cx="11354391" cy="58521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43782">
                  <a:extLst>
                    <a:ext uri="{9D8B030D-6E8A-4147-A177-3AD203B41FA5}">
                      <a16:colId xmlns:a16="http://schemas.microsoft.com/office/drawing/2014/main" val="20000"/>
                    </a:ext>
                  </a:extLst>
                </a:gridCol>
                <a:gridCol w="481685">
                  <a:extLst>
                    <a:ext uri="{9D8B030D-6E8A-4147-A177-3AD203B41FA5}">
                      <a16:colId xmlns:a16="http://schemas.microsoft.com/office/drawing/2014/main" val="20001"/>
                    </a:ext>
                  </a:extLst>
                </a:gridCol>
                <a:gridCol w="1966756">
                  <a:extLst>
                    <a:ext uri="{9D8B030D-6E8A-4147-A177-3AD203B41FA5}">
                      <a16:colId xmlns:a16="http://schemas.microsoft.com/office/drawing/2014/main" val="3981110338"/>
                    </a:ext>
                  </a:extLst>
                </a:gridCol>
                <a:gridCol w="4017819">
                  <a:extLst>
                    <a:ext uri="{9D8B030D-6E8A-4147-A177-3AD203B41FA5}">
                      <a16:colId xmlns:a16="http://schemas.microsoft.com/office/drawing/2014/main" val="3730199229"/>
                    </a:ext>
                  </a:extLst>
                </a:gridCol>
                <a:gridCol w="1593272">
                  <a:extLst>
                    <a:ext uri="{9D8B030D-6E8A-4147-A177-3AD203B41FA5}">
                      <a16:colId xmlns:a16="http://schemas.microsoft.com/office/drawing/2014/main" val="2434032130"/>
                    </a:ext>
                  </a:extLst>
                </a:gridCol>
                <a:gridCol w="2151077">
                  <a:extLst>
                    <a:ext uri="{9D8B030D-6E8A-4147-A177-3AD203B41FA5}">
                      <a16:colId xmlns:a16="http://schemas.microsoft.com/office/drawing/2014/main" val="2301990477"/>
                    </a:ext>
                  </a:extLst>
                </a:gridCol>
              </a:tblGrid>
              <a:tr h="476770">
                <a:tc>
                  <a:txBody>
                    <a:bodyPr/>
                    <a:lstStyle/>
                    <a:p>
                      <a:r>
                        <a:rPr lang="en-US" sz="1600" dirty="0"/>
                        <a:t>Analysis Dimension</a:t>
                      </a:r>
                    </a:p>
                  </a:txBody>
                  <a:tcPr/>
                </a:tc>
                <a:tc>
                  <a:txBody>
                    <a:bodyPr/>
                    <a:lstStyle/>
                    <a:p>
                      <a:r>
                        <a:rPr lang="en-US" sz="1400" dirty="0"/>
                        <a:t>Status</a:t>
                      </a:r>
                    </a:p>
                  </a:txBody>
                  <a:tcPr anchor="ctr"/>
                </a:tc>
                <a:tc>
                  <a:txBody>
                    <a:bodyPr/>
                    <a:lstStyle/>
                    <a:p>
                      <a:pPr algn="ctr"/>
                      <a:r>
                        <a:rPr lang="en-US" sz="1400" dirty="0"/>
                        <a:t>Highlights</a:t>
                      </a:r>
                    </a:p>
                  </a:txBody>
                  <a:tcPr anchor="ctr"/>
                </a:tc>
                <a:tc>
                  <a:txBody>
                    <a:bodyPr/>
                    <a:lstStyle/>
                    <a:p>
                      <a:pPr algn="ctr"/>
                      <a:r>
                        <a:rPr lang="en-US" sz="1400" dirty="0"/>
                        <a:t>Lowlights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smtClean="0"/>
                        <a:t>Actions taken recently</a:t>
                      </a:r>
                    </a:p>
                  </a:txBody>
                  <a:tcPr anchor="ctr"/>
                </a:tc>
                <a:tc>
                  <a:txBody>
                    <a:bodyPr/>
                    <a:lstStyle/>
                    <a:p>
                      <a:pPr algn="ctr"/>
                      <a:r>
                        <a:rPr lang="en-US" sz="1400" dirty="0" smtClean="0"/>
                        <a:t>Additional Suggested Step </a:t>
                      </a:r>
                      <a:endParaRPr lang="en-US" sz="1400" dirty="0"/>
                    </a:p>
                  </a:txBody>
                  <a:tcPr anchor="ctr"/>
                </a:tc>
                <a:extLst>
                  <a:ext uri="{0D108BD9-81ED-4DB2-BD59-A6C34878D82A}">
                    <a16:rowId xmlns:a16="http://schemas.microsoft.com/office/drawing/2014/main" val="10000"/>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2060"/>
                          </a:solidFill>
                        </a:rPr>
                        <a:t>Extensibility</a:t>
                      </a:r>
                    </a:p>
                  </a:txBody>
                  <a:tcPr/>
                </a:tc>
                <a:tc>
                  <a:txBody>
                    <a:bodyPr/>
                    <a:lstStyle/>
                    <a:p>
                      <a:endParaRPr lang="en-US" sz="1400" dirty="0">
                        <a:solidFill>
                          <a:srgbClr val="002060"/>
                        </a:solidFill>
                      </a:endParaRPr>
                    </a:p>
                  </a:txBody>
                  <a:tcPr/>
                </a:tc>
                <a:tc>
                  <a:txBody>
                    <a:bodyPr/>
                    <a:lstStyle/>
                    <a:p>
                      <a:r>
                        <a:rPr lang="en-US" sz="1400" dirty="0">
                          <a:solidFill>
                            <a:srgbClr val="002060"/>
                          </a:solidFill>
                        </a:rPr>
                        <a:t>Template based, and role based design</a:t>
                      </a:r>
                      <a:r>
                        <a:rPr lang="en-US" sz="1400" baseline="0" dirty="0">
                          <a:solidFill>
                            <a:srgbClr val="002060"/>
                          </a:solidFill>
                        </a:rPr>
                        <a:t> and </a:t>
                      </a:r>
                      <a:r>
                        <a:rPr lang="en-US" sz="1400" baseline="0" dirty="0" smtClean="0">
                          <a:solidFill>
                            <a:srgbClr val="002060"/>
                          </a:solidFill>
                        </a:rPr>
                        <a:t>implementation</a:t>
                      </a:r>
                      <a:endParaRPr lang="en-US" sz="1400" dirty="0">
                        <a:solidFill>
                          <a:srgbClr val="002060"/>
                        </a:solidFill>
                      </a:endParaRPr>
                    </a:p>
                  </a:txBody>
                  <a:tcPr/>
                </a:tc>
                <a:tc>
                  <a:txBody>
                    <a:bodyPr/>
                    <a:lstStyle/>
                    <a:p>
                      <a:r>
                        <a:rPr lang="en-US" sz="1400" dirty="0">
                          <a:solidFill>
                            <a:srgbClr val="002060"/>
                          </a:solidFill>
                        </a:rPr>
                        <a:t>Opportunity for </a:t>
                      </a:r>
                      <a:r>
                        <a:rPr lang="en-US" sz="1400" dirty="0" smtClean="0">
                          <a:solidFill>
                            <a:srgbClr val="002060"/>
                          </a:solidFill>
                        </a:rPr>
                        <a:t>consolidating to common </a:t>
                      </a:r>
                      <a:r>
                        <a:rPr lang="en-US" sz="1400" dirty="0">
                          <a:solidFill>
                            <a:srgbClr val="002060"/>
                          </a:solidFill>
                        </a:rPr>
                        <a:t>services and </a:t>
                      </a:r>
                      <a:r>
                        <a:rPr lang="en-US" sz="1400" dirty="0" smtClean="0">
                          <a:solidFill>
                            <a:srgbClr val="002060"/>
                          </a:solidFill>
                        </a:rPr>
                        <a:t>reducing operational overhead</a:t>
                      </a:r>
                      <a:endParaRPr lang="en-US" sz="1400" dirty="0">
                        <a:solidFill>
                          <a:srgbClr val="002060"/>
                        </a:solidFill>
                      </a:endParaRPr>
                    </a:p>
                  </a:txBody>
                  <a:tcPr/>
                </a:tc>
                <a:tc>
                  <a:txBody>
                    <a:bodyPr/>
                    <a:lstStyle/>
                    <a:p>
                      <a:pPr marL="285750" indent="-285750" algn="l" defTabSz="914400" rtl="0" eaLnBrk="1" latinLnBrk="0" hangingPunct="1">
                        <a:buFont typeface="Arial" panose="020B0604020202020204" pitchFamily="34" charset="0"/>
                        <a:buChar char="•"/>
                      </a:pPr>
                      <a:endParaRPr lang="en-US" sz="1400" kern="1200" dirty="0">
                        <a:solidFill>
                          <a:srgbClr val="002060"/>
                        </a:solidFill>
                        <a:latin typeface="+mn-lt"/>
                        <a:ea typeface="+mn-ea"/>
                        <a:cs typeface="+mn-cs"/>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Detailed review and remediation</a:t>
                      </a:r>
                      <a:endParaRPr lang="en-US" sz="1400" kern="1200" dirty="0">
                        <a:solidFill>
                          <a:srgbClr val="002060"/>
                        </a:solidFill>
                        <a:latin typeface="+mn-lt"/>
                        <a:ea typeface="+mn-ea"/>
                        <a:cs typeface="+mn-cs"/>
                      </a:endParaRPr>
                    </a:p>
                  </a:txBody>
                  <a:tcPr/>
                </a:tc>
                <a:extLst>
                  <a:ext uri="{0D108BD9-81ED-4DB2-BD59-A6C34878D82A}">
                    <a16:rowId xmlns:a16="http://schemas.microsoft.com/office/drawing/2014/main" val="10001"/>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2060"/>
                          </a:solidFill>
                        </a:rPr>
                        <a:t>Security</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FF0000"/>
                          </a:solidFill>
                        </a:rPr>
                        <a:t>&lt;this section will be updated&gt;</a:t>
                      </a:r>
                      <a:endParaRPr lang="en-US" sz="1400" dirty="0">
                        <a:solidFill>
                          <a:srgbClr val="FF0000"/>
                        </a:solidFill>
                      </a:endParaRPr>
                    </a:p>
                  </a:txBody>
                  <a:tcPr/>
                </a:tc>
                <a:tc>
                  <a:txBody>
                    <a:bodyPr/>
                    <a:lstStyle/>
                    <a:p>
                      <a:endParaRPr lang="en-US" sz="1400" dirty="0">
                        <a:solidFill>
                          <a:srgbClr val="002060"/>
                        </a:solidFill>
                      </a:endParaRPr>
                    </a:p>
                  </a:txBody>
                  <a:tcPr/>
                </a:tc>
                <a:tc>
                  <a:txBody>
                    <a:bodyPr/>
                    <a:lstStyle/>
                    <a:p>
                      <a:r>
                        <a:rPr lang="en-US" sz="1400" baseline="0" dirty="0" smtClean="0">
                          <a:solidFill>
                            <a:srgbClr val="002060"/>
                          </a:solidFill>
                          <a:highlight>
                            <a:srgbClr val="FFFF00"/>
                          </a:highlight>
                        </a:rPr>
                        <a:t>What are the tools, guidelines and measures taken care?</a:t>
                      </a:r>
                      <a:endParaRPr lang="en-US" sz="1400" dirty="0">
                        <a:solidFill>
                          <a:srgbClr val="002060"/>
                        </a:solidFill>
                      </a:endParaRPr>
                    </a:p>
                  </a:txBody>
                  <a:tcPr/>
                </a:tc>
                <a:tc>
                  <a:txBody>
                    <a:bodyPr/>
                    <a:lstStyle/>
                    <a:p>
                      <a:r>
                        <a:rPr lang="en-US" sz="1400" dirty="0" smtClean="0">
                          <a:solidFill>
                            <a:srgbClr val="002060"/>
                          </a:solidFill>
                        </a:rPr>
                        <a:t>Suggested to Perform </a:t>
                      </a:r>
                    </a:p>
                    <a:p>
                      <a:pPr marL="285750" indent="-285750">
                        <a:buFont typeface="Arial" panose="020B0604020202020204" pitchFamily="34" charset="0"/>
                        <a:buChar char="•"/>
                      </a:pPr>
                      <a:r>
                        <a:rPr lang="en-US" sz="1400" dirty="0" smtClean="0">
                          <a:solidFill>
                            <a:srgbClr val="002060"/>
                          </a:solidFill>
                        </a:rPr>
                        <a:t>static </a:t>
                      </a:r>
                      <a:r>
                        <a:rPr lang="en-US" sz="1400" dirty="0">
                          <a:solidFill>
                            <a:srgbClr val="002060"/>
                          </a:solidFill>
                        </a:rPr>
                        <a:t>code analysis for security vulnerabilities.</a:t>
                      </a:r>
                    </a:p>
                    <a:p>
                      <a:pPr marL="285750" indent="-285750">
                        <a:buFont typeface="Arial" panose="020B0604020202020204" pitchFamily="34" charset="0"/>
                        <a:buChar char="•"/>
                      </a:pPr>
                      <a:r>
                        <a:rPr lang="en-US" sz="1400" dirty="0">
                          <a:solidFill>
                            <a:srgbClr val="002060"/>
                          </a:solidFill>
                        </a:rPr>
                        <a:t>Handle top 10 OWASP vulnerabilities which are applicable.</a:t>
                      </a:r>
                    </a:p>
                    <a:p>
                      <a:pPr marL="285750" indent="-285750">
                        <a:buFont typeface="Arial" panose="020B0604020202020204" pitchFamily="34" charset="0"/>
                        <a:buChar char="•"/>
                      </a:pPr>
                      <a:r>
                        <a:rPr lang="en-US" sz="1400" dirty="0">
                          <a:solidFill>
                            <a:srgbClr val="002060"/>
                          </a:solidFill>
                        </a:rPr>
                        <a:t>Implementation to prevent XSS attacks need to be implemented..</a:t>
                      </a:r>
                    </a:p>
                    <a:p>
                      <a:r>
                        <a:rPr lang="en-US" sz="1400" dirty="0">
                          <a:solidFill>
                            <a:srgbClr val="002060"/>
                          </a:solidFill>
                        </a:rPr>
                        <a:t>A penetration testing of the application is recommended.</a:t>
                      </a:r>
                    </a:p>
                  </a:txBody>
                  <a:tcPr/>
                </a:tc>
                <a:tc>
                  <a:txBody>
                    <a:bodyPr/>
                    <a:lstStyle/>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smtClean="0">
                          <a:solidFill>
                            <a:srgbClr val="002060"/>
                          </a:solidFill>
                          <a:latin typeface="+mn-lt"/>
                          <a:ea typeface="+mn-ea"/>
                          <a:cs typeface="+mn-cs"/>
                        </a:rPr>
                        <a:t>Detailed security testing and</a:t>
                      </a:r>
                      <a:r>
                        <a:rPr lang="en-US" sz="1400" kern="1200" baseline="0" dirty="0" smtClean="0">
                          <a:solidFill>
                            <a:srgbClr val="002060"/>
                          </a:solidFill>
                          <a:latin typeface="+mn-lt"/>
                          <a:ea typeface="+mn-ea"/>
                          <a:cs typeface="+mn-cs"/>
                        </a:rPr>
                        <a:t> remediating </a:t>
                      </a:r>
                      <a:r>
                        <a:rPr lang="en-US" sz="1400" kern="1200" baseline="0" dirty="0" smtClean="0">
                          <a:solidFill>
                            <a:srgbClr val="002060"/>
                          </a:solidFill>
                          <a:latin typeface="+mn-lt"/>
                          <a:ea typeface="+mn-ea"/>
                          <a:cs typeface="+mn-cs"/>
                        </a:rPr>
                        <a:t>findings – &lt;</a:t>
                      </a:r>
                      <a:r>
                        <a:rPr lang="en-US" sz="1400" kern="1200" baseline="0" dirty="0" smtClean="0">
                          <a:solidFill>
                            <a:srgbClr val="FF0000"/>
                          </a:solidFill>
                          <a:latin typeface="+mn-lt"/>
                          <a:ea typeface="+mn-ea"/>
                          <a:cs typeface="+mn-cs"/>
                        </a:rPr>
                        <a:t>which tools, which areas </a:t>
                      </a:r>
                      <a:r>
                        <a:rPr lang="en-US" sz="1400" kern="1200" baseline="0" dirty="0" err="1" smtClean="0">
                          <a:solidFill>
                            <a:srgbClr val="FF0000"/>
                          </a:solidFill>
                          <a:latin typeface="+mn-lt"/>
                          <a:ea typeface="+mn-ea"/>
                          <a:cs typeface="+mn-cs"/>
                        </a:rPr>
                        <a:t>etc</a:t>
                      </a:r>
                      <a:r>
                        <a:rPr lang="en-US" sz="1400" kern="1200" baseline="0" dirty="0" smtClean="0">
                          <a:solidFill>
                            <a:srgbClr val="FF0000"/>
                          </a:solidFill>
                          <a:latin typeface="+mn-lt"/>
                          <a:ea typeface="+mn-ea"/>
                          <a:cs typeface="+mn-cs"/>
                        </a:rPr>
                        <a:t> to be updated&gt;</a:t>
                      </a:r>
                      <a:endParaRPr lang="en-US" sz="1400" kern="1200" dirty="0" smtClean="0">
                        <a:solidFill>
                          <a:srgbClr val="FF0000"/>
                        </a:solidFill>
                        <a:latin typeface="+mn-lt"/>
                        <a:ea typeface="+mn-ea"/>
                        <a:cs typeface="+mn-cs"/>
                      </a:endParaRPr>
                    </a:p>
                    <a:p>
                      <a:pPr marL="285750" indent="-285750">
                        <a:buFont typeface="Arial" panose="020B0604020202020204" pitchFamily="34" charset="0"/>
                        <a:buChar char="•"/>
                      </a:pPr>
                      <a:endParaRPr lang="en-US" sz="1400" dirty="0">
                        <a:solidFill>
                          <a:srgbClr val="002060"/>
                        </a:solidFill>
                      </a:endParaRPr>
                    </a:p>
                  </a:txBody>
                  <a:tcPr/>
                </a:tc>
                <a:extLst>
                  <a:ext uri="{0D108BD9-81ED-4DB2-BD59-A6C34878D82A}">
                    <a16:rowId xmlns:a16="http://schemas.microsoft.com/office/drawing/2014/main" val="10002"/>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2060"/>
                          </a:solidFill>
                        </a:rPr>
                        <a:t>Maintainability</a:t>
                      </a:r>
                    </a:p>
                  </a:txBody>
                  <a:tcPr/>
                </a:tc>
                <a:tc>
                  <a:txBody>
                    <a:bodyPr/>
                    <a:lstStyle/>
                    <a:p>
                      <a:endParaRPr lang="en-US" sz="1400" dirty="0">
                        <a:solidFill>
                          <a:srgbClr val="002060"/>
                        </a:solidFill>
                      </a:endParaRPr>
                    </a:p>
                  </a:txBody>
                  <a:tcPr/>
                </a:tc>
                <a:tc>
                  <a:txBody>
                    <a:bodyPr/>
                    <a:lstStyle/>
                    <a:p>
                      <a:r>
                        <a:rPr lang="en-US" sz="1400" dirty="0" err="1" smtClean="0">
                          <a:solidFill>
                            <a:srgbClr val="002060"/>
                          </a:solidFill>
                        </a:rPr>
                        <a:t>Microservices</a:t>
                      </a:r>
                      <a:r>
                        <a:rPr lang="en-US" sz="1400" dirty="0" smtClean="0">
                          <a:solidFill>
                            <a:srgbClr val="002060"/>
                          </a:solidFill>
                        </a:rPr>
                        <a:t> and layered implementation</a:t>
                      </a: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a:solidFill>
                            <a:srgbClr val="002060"/>
                          </a:solidFill>
                        </a:rPr>
                        <a:t>Reduce method and class complexity by following single responsibility principle. Avoid duplication of functionality as a workaround for </a:t>
                      </a:r>
                      <a:r>
                        <a:rPr lang="en-US" sz="1400" dirty="0" smtClean="0">
                          <a:solidFill>
                            <a:srgbClr val="002060"/>
                          </a:solidFill>
                        </a:rPr>
                        <a:t>issues</a:t>
                      </a:r>
                    </a:p>
                    <a:p>
                      <a:pPr marL="285750" indent="-285750">
                        <a:buFont typeface="Arial" panose="020B0604020202020204" pitchFamily="34" charset="0"/>
                        <a:buChar char="•"/>
                      </a:pPr>
                      <a:r>
                        <a:rPr lang="en-US" sz="1400" dirty="0" smtClean="0">
                          <a:solidFill>
                            <a:srgbClr val="002060"/>
                          </a:solidFill>
                        </a:rPr>
                        <a:t>Leverage tools like CAST for PQM analysis and hence for code maintainability related refactoring</a:t>
                      </a:r>
                      <a:endParaRPr lang="en-US" sz="1400" dirty="0">
                        <a:solidFill>
                          <a:srgbClr val="002060"/>
                        </a:solidFill>
                      </a:endParaRPr>
                    </a:p>
                  </a:txBody>
                  <a:tcPr/>
                </a:tc>
                <a:tc>
                  <a:txBody>
                    <a:bodyPr/>
                    <a:lstStyle/>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Code refactoring from maintainability perspective</a:t>
                      </a:r>
                      <a:endParaRPr lang="en-US" sz="1400" dirty="0">
                        <a:solidFill>
                          <a:srgbClr val="002060"/>
                        </a:solidFill>
                      </a:endParaRPr>
                    </a:p>
                  </a:txBody>
                  <a:tcPr/>
                </a:tc>
                <a:extLst>
                  <a:ext uri="{0D108BD9-81ED-4DB2-BD59-A6C34878D82A}">
                    <a16:rowId xmlns:a16="http://schemas.microsoft.com/office/drawing/2014/main" val="480238945"/>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2060"/>
                          </a:solidFill>
                        </a:rPr>
                        <a:t>Operational Efficiency</a:t>
                      </a:r>
                    </a:p>
                  </a:txBody>
                  <a:tcPr/>
                </a:tc>
                <a:tc>
                  <a:txBody>
                    <a:bodyPr/>
                    <a:lstStyle/>
                    <a:p>
                      <a:endParaRPr lang="en-US" sz="14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aseline="0" dirty="0" smtClean="0">
                          <a:solidFill>
                            <a:srgbClr val="002060"/>
                          </a:solidFill>
                          <a:highlight>
                            <a:srgbClr val="FFFF00"/>
                          </a:highlight>
                        </a:rPr>
                        <a:t>What are the tools, guidelines and measures taken care?</a:t>
                      </a:r>
                      <a:endParaRPr lang="en-US" sz="1400" dirty="0" smtClean="0">
                        <a:solidFill>
                          <a:srgbClr val="002060"/>
                        </a:solidFill>
                      </a:endParaRPr>
                    </a:p>
                  </a:txBody>
                  <a:tcPr/>
                </a:tc>
                <a:tc>
                  <a:txBody>
                    <a:bodyPr/>
                    <a:lstStyle/>
                    <a:p>
                      <a:r>
                        <a:rPr lang="en-US" sz="1400" dirty="0" smtClean="0">
                          <a:solidFill>
                            <a:srgbClr val="002060"/>
                          </a:solidFill>
                        </a:rPr>
                        <a:t>CICD/DevOps </a:t>
                      </a:r>
                      <a:r>
                        <a:rPr lang="en-US" sz="1400" dirty="0" smtClean="0">
                          <a:solidFill>
                            <a:srgbClr val="002060"/>
                          </a:solidFill>
                        </a:rPr>
                        <a:t>have to be adopted in the project</a:t>
                      </a:r>
                      <a:endParaRPr lang="en-US" sz="1400" dirty="0">
                        <a:solidFill>
                          <a:srgbClr val="002060"/>
                        </a:solidFil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smtClean="0">
                          <a:solidFill>
                            <a:srgbClr val="002060"/>
                          </a:solidFill>
                        </a:rPr>
                        <a:t>CICD/DevOps in being discussed and planned</a:t>
                      </a: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Explore </a:t>
                      </a:r>
                      <a:r>
                        <a:rPr lang="en-US" sz="1400" dirty="0" err="1" smtClean="0">
                          <a:solidFill>
                            <a:srgbClr val="002060"/>
                          </a:solidFill>
                        </a:rPr>
                        <a:t>DevSecOps</a:t>
                      </a:r>
                      <a:r>
                        <a:rPr lang="en-US" sz="1400" dirty="0" smtClean="0">
                          <a:solidFill>
                            <a:srgbClr val="002060"/>
                          </a:solidFill>
                        </a:rPr>
                        <a:t>, Monitoring and SRE (</a:t>
                      </a:r>
                      <a:r>
                        <a:rPr lang="en-US" sz="1400" kern="1200" dirty="0" smtClean="0">
                          <a:solidFill>
                            <a:srgbClr val="002060"/>
                          </a:solidFill>
                          <a:latin typeface="+mn-lt"/>
                          <a:ea typeface="+mn-ea"/>
                          <a:cs typeface="+mn-cs"/>
                        </a:rPr>
                        <a:t>To be discussed with P&amp;G Architects) on</a:t>
                      </a:r>
                      <a:r>
                        <a:rPr lang="en-US" sz="1400" kern="1200" baseline="0" dirty="0" smtClean="0">
                          <a:solidFill>
                            <a:srgbClr val="002060"/>
                          </a:solidFill>
                          <a:latin typeface="+mn-lt"/>
                          <a:ea typeface="+mn-ea"/>
                          <a:cs typeface="+mn-cs"/>
                        </a:rPr>
                        <a:t> feasible areas</a:t>
                      </a:r>
                      <a:endParaRPr lang="en-US" sz="1400" dirty="0">
                        <a:solidFill>
                          <a:srgbClr val="002060"/>
                        </a:solidFill>
                      </a:endParaRPr>
                    </a:p>
                  </a:txBody>
                  <a:tcPr/>
                </a:tc>
                <a:extLst>
                  <a:ext uri="{0D108BD9-81ED-4DB2-BD59-A6C34878D82A}">
                    <a16:rowId xmlns:a16="http://schemas.microsoft.com/office/drawing/2014/main" val="1796063982"/>
                  </a:ext>
                </a:extLst>
              </a:tr>
            </a:tbl>
          </a:graphicData>
        </a:graphic>
      </p:graphicFrame>
      <p:grpSp>
        <p:nvGrpSpPr>
          <p:cNvPr id="4" name="Group 3"/>
          <p:cNvGrpSpPr/>
          <p:nvPr/>
        </p:nvGrpSpPr>
        <p:grpSpPr>
          <a:xfrm>
            <a:off x="663435" y="6485733"/>
            <a:ext cx="3671979" cy="314230"/>
            <a:chOff x="663435" y="6485733"/>
            <a:chExt cx="3671979" cy="314230"/>
          </a:xfrm>
        </p:grpSpPr>
        <p:sp>
          <p:nvSpPr>
            <p:cNvPr id="24" name="TextBox 23">
              <a:extLst>
                <a:ext uri="{FF2B5EF4-FFF2-40B4-BE49-F238E27FC236}">
                  <a16:creationId xmlns:a16="http://schemas.microsoft.com/office/drawing/2014/main" id="{B6888186-D23F-48D1-AFD5-D8C035C3E5D6}"/>
                </a:ext>
              </a:extLst>
            </p:cNvPr>
            <p:cNvSpPr txBox="1"/>
            <p:nvPr/>
          </p:nvSpPr>
          <p:spPr>
            <a:xfrm>
              <a:off x="2133468"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Low</a:t>
              </a:r>
              <a:r>
                <a:rPr lang="en-US" sz="800" dirty="0">
                  <a:latin typeface="Segoe UI" panose="020B0502040204020203" pitchFamily="34" charset="0"/>
                  <a:cs typeface="Segoe UI" panose="020B0502040204020203" pitchFamily="34" charset="0"/>
                </a:rPr>
                <a:t> </a:t>
              </a:r>
            </a:p>
          </p:txBody>
        </p:sp>
        <p:sp>
          <p:nvSpPr>
            <p:cNvPr id="25" name="TextBox 24">
              <a:extLst>
                <a:ext uri="{FF2B5EF4-FFF2-40B4-BE49-F238E27FC236}">
                  <a16:creationId xmlns:a16="http://schemas.microsoft.com/office/drawing/2014/main" id="{FABAB6D8-1507-418A-BFF1-53D6297AFB9D}"/>
                </a:ext>
              </a:extLst>
            </p:cNvPr>
            <p:cNvSpPr txBox="1"/>
            <p:nvPr/>
          </p:nvSpPr>
          <p:spPr>
            <a:xfrm>
              <a:off x="3905153"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High</a:t>
              </a:r>
              <a:endParaRPr lang="en-US" sz="800" dirty="0">
                <a:latin typeface="Segoe UI" panose="020B0502040204020203" pitchFamily="34" charset="0"/>
                <a:cs typeface="Segoe UI" panose="020B0502040204020203" pitchFamily="34" charset="0"/>
              </a:endParaRPr>
            </a:p>
          </p:txBody>
        </p:sp>
        <p:cxnSp>
          <p:nvCxnSpPr>
            <p:cNvPr id="26" name="Straight Arrow Connector 25">
              <a:extLst>
                <a:ext uri="{FF2B5EF4-FFF2-40B4-BE49-F238E27FC236}">
                  <a16:creationId xmlns:a16="http://schemas.microsoft.com/office/drawing/2014/main" id="{7EC2B485-D3F9-48BE-BE41-AB8CF236B78A}"/>
                </a:ext>
              </a:extLst>
            </p:cNvPr>
            <p:cNvCxnSpPr>
              <a:cxnSpLocks/>
              <a:endCxn id="25" idx="1"/>
            </p:cNvCxnSpPr>
            <p:nvPr/>
          </p:nvCxnSpPr>
          <p:spPr>
            <a:xfrm flipV="1">
              <a:off x="2455846" y="6692241"/>
              <a:ext cx="1449307" cy="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DB0BEBF-3948-4A0F-8A6D-E384F69C80BD}"/>
                </a:ext>
              </a:extLst>
            </p:cNvPr>
            <p:cNvSpPr/>
            <p:nvPr/>
          </p:nvSpPr>
          <p:spPr>
            <a:xfrm>
              <a:off x="2451340" y="6489620"/>
              <a:ext cx="152316" cy="148560"/>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43BB29C-58C7-49CF-8F32-0B57F77E1BB1}"/>
                </a:ext>
              </a:extLst>
            </p:cNvPr>
            <p:cNvSpPr/>
            <p:nvPr/>
          </p:nvSpPr>
          <p:spPr>
            <a:xfrm>
              <a:off x="3111061" y="6487752"/>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890A3C6-50E3-4443-806B-FF555556AC9F}"/>
                </a:ext>
              </a:extLst>
            </p:cNvPr>
            <p:cNvSpPr/>
            <p:nvPr/>
          </p:nvSpPr>
          <p:spPr>
            <a:xfrm>
              <a:off x="3733751" y="6489620"/>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0134A6A-004F-47A6-B79D-C11E1979546F}"/>
                </a:ext>
              </a:extLst>
            </p:cNvPr>
            <p:cNvSpPr txBox="1"/>
            <p:nvPr/>
          </p:nvSpPr>
          <p:spPr>
            <a:xfrm>
              <a:off x="663435" y="6485733"/>
              <a:ext cx="1449307"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Maturity Level Status</a:t>
              </a:r>
            </a:p>
          </p:txBody>
        </p:sp>
      </p:grpSp>
      <p:sp>
        <p:nvSpPr>
          <p:cNvPr id="33" name="Oval 32">
            <a:extLst>
              <a:ext uri="{FF2B5EF4-FFF2-40B4-BE49-F238E27FC236}">
                <a16:creationId xmlns:a16="http://schemas.microsoft.com/office/drawing/2014/main" id="{3262E487-2666-493B-ABB0-B42DC5F3C903}"/>
              </a:ext>
            </a:extLst>
          </p:cNvPr>
          <p:cNvSpPr/>
          <p:nvPr/>
        </p:nvSpPr>
        <p:spPr>
          <a:xfrm>
            <a:off x="1651650" y="2588746"/>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1683005" y="61807"/>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1</a:t>
            </a:r>
          </a:p>
        </p:txBody>
      </p:sp>
      <p:sp>
        <p:nvSpPr>
          <p:cNvPr id="16" name="Oval 15">
            <a:extLst>
              <a:ext uri="{FF2B5EF4-FFF2-40B4-BE49-F238E27FC236}">
                <a16:creationId xmlns:a16="http://schemas.microsoft.com/office/drawing/2014/main" id="{FA74A61B-7E72-4122-BD41-AF105A55FDAC}"/>
              </a:ext>
            </a:extLst>
          </p:cNvPr>
          <p:cNvSpPr/>
          <p:nvPr/>
        </p:nvSpPr>
        <p:spPr>
          <a:xfrm>
            <a:off x="1623989" y="1446138"/>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262E487-2666-493B-ABB0-B42DC5F3C903}"/>
              </a:ext>
            </a:extLst>
          </p:cNvPr>
          <p:cNvSpPr/>
          <p:nvPr/>
        </p:nvSpPr>
        <p:spPr>
          <a:xfrm>
            <a:off x="1651649" y="4431399"/>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262E487-2666-493B-ABB0-B42DC5F3C903}"/>
              </a:ext>
            </a:extLst>
          </p:cNvPr>
          <p:cNvSpPr/>
          <p:nvPr/>
        </p:nvSpPr>
        <p:spPr>
          <a:xfrm>
            <a:off x="1623989" y="5761438"/>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8839659"/>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61347" y="200352"/>
            <a:ext cx="11630733" cy="603981"/>
          </a:xfrm>
        </p:spPr>
        <p:txBody>
          <a:bodyPr/>
          <a:lstStyle/>
          <a:p>
            <a:r>
              <a:rPr lang="en-US" dirty="0"/>
              <a:t>Development methodology, and Strategy - Key Findings</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p:txBody>
          <a:bodyPr/>
          <a:lstStyle/>
          <a:p>
            <a:fld id="{86CB4B4D-7CA3-9044-876B-883B54F8677D}" type="slidenum">
              <a:rPr lang="en-US" smtClean="0"/>
              <a:pPr/>
              <a:t>7</a:t>
            </a:fld>
            <a:endParaRPr lang="en-US" dirty="0"/>
          </a:p>
        </p:txBody>
      </p:sp>
      <p:sp>
        <p:nvSpPr>
          <p:cNvPr id="13" name="Oval 12"/>
          <p:cNvSpPr/>
          <p:nvPr/>
        </p:nvSpPr>
        <p:spPr>
          <a:xfrm>
            <a:off x="11683005" y="46153"/>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2</a:t>
            </a:r>
          </a:p>
        </p:txBody>
      </p:sp>
      <p:grpSp>
        <p:nvGrpSpPr>
          <p:cNvPr id="14" name="Group 13"/>
          <p:cNvGrpSpPr/>
          <p:nvPr/>
        </p:nvGrpSpPr>
        <p:grpSpPr>
          <a:xfrm>
            <a:off x="663435" y="6485733"/>
            <a:ext cx="3671979" cy="314230"/>
            <a:chOff x="663435" y="6485733"/>
            <a:chExt cx="3671979" cy="314230"/>
          </a:xfrm>
        </p:grpSpPr>
        <p:sp>
          <p:nvSpPr>
            <p:cNvPr id="15" name="TextBox 14">
              <a:extLst>
                <a:ext uri="{FF2B5EF4-FFF2-40B4-BE49-F238E27FC236}">
                  <a16:creationId xmlns:a16="http://schemas.microsoft.com/office/drawing/2014/main" id="{B6888186-D23F-48D1-AFD5-D8C035C3E5D6}"/>
                </a:ext>
              </a:extLst>
            </p:cNvPr>
            <p:cNvSpPr txBox="1"/>
            <p:nvPr/>
          </p:nvSpPr>
          <p:spPr>
            <a:xfrm>
              <a:off x="2133468"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Low</a:t>
              </a:r>
              <a:r>
                <a:rPr lang="en-US" sz="800" dirty="0">
                  <a:latin typeface="Segoe UI" panose="020B0502040204020203" pitchFamily="34" charset="0"/>
                  <a:cs typeface="Segoe UI" panose="020B0502040204020203" pitchFamily="34" charset="0"/>
                </a:rPr>
                <a:t> </a:t>
              </a:r>
            </a:p>
          </p:txBody>
        </p:sp>
        <p:sp>
          <p:nvSpPr>
            <p:cNvPr id="16" name="TextBox 15">
              <a:extLst>
                <a:ext uri="{FF2B5EF4-FFF2-40B4-BE49-F238E27FC236}">
                  <a16:creationId xmlns:a16="http://schemas.microsoft.com/office/drawing/2014/main" id="{FABAB6D8-1507-418A-BFF1-53D6297AFB9D}"/>
                </a:ext>
              </a:extLst>
            </p:cNvPr>
            <p:cNvSpPr txBox="1"/>
            <p:nvPr/>
          </p:nvSpPr>
          <p:spPr>
            <a:xfrm>
              <a:off x="3905153"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High</a:t>
              </a:r>
              <a:endParaRPr lang="en-US" sz="800" dirty="0">
                <a:latin typeface="Segoe UI" panose="020B0502040204020203" pitchFamily="34" charset="0"/>
                <a:cs typeface="Segoe UI" panose="020B0502040204020203" pitchFamily="34" charset="0"/>
              </a:endParaRPr>
            </a:p>
          </p:txBody>
        </p:sp>
        <p:cxnSp>
          <p:nvCxnSpPr>
            <p:cNvPr id="17" name="Straight Arrow Connector 16">
              <a:extLst>
                <a:ext uri="{FF2B5EF4-FFF2-40B4-BE49-F238E27FC236}">
                  <a16:creationId xmlns:a16="http://schemas.microsoft.com/office/drawing/2014/main" id="{7EC2B485-D3F9-48BE-BE41-AB8CF236B78A}"/>
                </a:ext>
              </a:extLst>
            </p:cNvPr>
            <p:cNvCxnSpPr>
              <a:cxnSpLocks/>
              <a:endCxn id="16" idx="1"/>
            </p:cNvCxnSpPr>
            <p:nvPr/>
          </p:nvCxnSpPr>
          <p:spPr>
            <a:xfrm flipV="1">
              <a:off x="2455846" y="6692241"/>
              <a:ext cx="1449307" cy="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DB0BEBF-3948-4A0F-8A6D-E384F69C80BD}"/>
                </a:ext>
              </a:extLst>
            </p:cNvPr>
            <p:cNvSpPr/>
            <p:nvPr/>
          </p:nvSpPr>
          <p:spPr>
            <a:xfrm>
              <a:off x="2451340" y="6489620"/>
              <a:ext cx="152316" cy="148560"/>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3BB29C-58C7-49CF-8F32-0B57F77E1BB1}"/>
                </a:ext>
              </a:extLst>
            </p:cNvPr>
            <p:cNvSpPr/>
            <p:nvPr/>
          </p:nvSpPr>
          <p:spPr>
            <a:xfrm>
              <a:off x="3111061" y="6487752"/>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890A3C6-50E3-4443-806B-FF555556AC9F}"/>
                </a:ext>
              </a:extLst>
            </p:cNvPr>
            <p:cNvSpPr/>
            <p:nvPr/>
          </p:nvSpPr>
          <p:spPr>
            <a:xfrm>
              <a:off x="3733751" y="6489620"/>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134A6A-004F-47A6-B79D-C11E1979546F}"/>
                </a:ext>
              </a:extLst>
            </p:cNvPr>
            <p:cNvSpPr txBox="1"/>
            <p:nvPr/>
          </p:nvSpPr>
          <p:spPr>
            <a:xfrm>
              <a:off x="663435" y="6485733"/>
              <a:ext cx="1449307"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Maturity Level Status</a:t>
              </a:r>
            </a:p>
          </p:txBody>
        </p:sp>
      </p:grpSp>
      <p:graphicFrame>
        <p:nvGraphicFramePr>
          <p:cNvPr id="22" name="Table 21">
            <a:extLst>
              <a:ext uri="{FF2B5EF4-FFF2-40B4-BE49-F238E27FC236}">
                <a16:creationId xmlns:a16="http://schemas.microsoft.com/office/drawing/2014/main" id="{B2038A4E-595F-4F3D-9654-7FAEC1DCB393}"/>
              </a:ext>
            </a:extLst>
          </p:cNvPr>
          <p:cNvGraphicFramePr>
            <a:graphicFrameLocks noGrp="1"/>
          </p:cNvGraphicFramePr>
          <p:nvPr>
            <p:extLst>
              <p:ext uri="{D42A27DB-BD31-4B8C-83A1-F6EECF244321}">
                <p14:modId xmlns:p14="http://schemas.microsoft.com/office/powerpoint/2010/main" val="2344229881"/>
              </p:ext>
            </p:extLst>
          </p:nvPr>
        </p:nvGraphicFramePr>
        <p:xfrm>
          <a:off x="328613" y="942109"/>
          <a:ext cx="11354392" cy="54254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09651">
                  <a:extLst>
                    <a:ext uri="{9D8B030D-6E8A-4147-A177-3AD203B41FA5}">
                      <a16:colId xmlns:a16="http://schemas.microsoft.com/office/drawing/2014/main" val="20000"/>
                    </a:ext>
                  </a:extLst>
                </a:gridCol>
                <a:gridCol w="467311">
                  <a:extLst>
                    <a:ext uri="{9D8B030D-6E8A-4147-A177-3AD203B41FA5}">
                      <a16:colId xmlns:a16="http://schemas.microsoft.com/office/drawing/2014/main" val="20001"/>
                    </a:ext>
                  </a:extLst>
                </a:gridCol>
                <a:gridCol w="1702032">
                  <a:extLst>
                    <a:ext uri="{9D8B030D-6E8A-4147-A177-3AD203B41FA5}">
                      <a16:colId xmlns:a16="http://schemas.microsoft.com/office/drawing/2014/main" val="3981110338"/>
                    </a:ext>
                  </a:extLst>
                </a:gridCol>
                <a:gridCol w="3569048">
                  <a:extLst>
                    <a:ext uri="{9D8B030D-6E8A-4147-A177-3AD203B41FA5}">
                      <a16:colId xmlns:a16="http://schemas.microsoft.com/office/drawing/2014/main" val="3730199229"/>
                    </a:ext>
                  </a:extLst>
                </a:gridCol>
                <a:gridCol w="2101152">
                  <a:extLst>
                    <a:ext uri="{9D8B030D-6E8A-4147-A177-3AD203B41FA5}">
                      <a16:colId xmlns:a16="http://schemas.microsoft.com/office/drawing/2014/main" val="2906466286"/>
                    </a:ext>
                  </a:extLst>
                </a:gridCol>
                <a:gridCol w="2405198">
                  <a:extLst>
                    <a:ext uri="{9D8B030D-6E8A-4147-A177-3AD203B41FA5}">
                      <a16:colId xmlns:a16="http://schemas.microsoft.com/office/drawing/2014/main" val="2301990477"/>
                    </a:ext>
                  </a:extLst>
                </a:gridCol>
              </a:tblGrid>
              <a:tr h="316649">
                <a:tc>
                  <a:txBody>
                    <a:bodyPr/>
                    <a:lstStyle/>
                    <a:p>
                      <a:r>
                        <a:rPr lang="en-US" sz="1600" dirty="0"/>
                        <a:t>Analysis Dimension</a:t>
                      </a:r>
                    </a:p>
                  </a:txBody>
                  <a:tcPr/>
                </a:tc>
                <a:tc>
                  <a:txBody>
                    <a:bodyPr/>
                    <a:lstStyle/>
                    <a:p>
                      <a:r>
                        <a:rPr lang="en-US" sz="1400" dirty="0"/>
                        <a:t>Status</a:t>
                      </a:r>
                    </a:p>
                  </a:txBody>
                  <a:tcPr anchor="ctr"/>
                </a:tc>
                <a:tc>
                  <a:txBody>
                    <a:bodyPr/>
                    <a:lstStyle/>
                    <a:p>
                      <a:pPr algn="ctr"/>
                      <a:r>
                        <a:rPr lang="en-US" sz="1400" dirty="0"/>
                        <a:t>Highlights</a:t>
                      </a:r>
                    </a:p>
                  </a:txBody>
                  <a:tcPr anchor="ctr"/>
                </a:tc>
                <a:tc>
                  <a:txBody>
                    <a:bodyPr/>
                    <a:lstStyle/>
                    <a:p>
                      <a:pPr algn="ctr"/>
                      <a:r>
                        <a:rPr lang="en-US" sz="1400" dirty="0"/>
                        <a:t>Lowlights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smtClean="0"/>
                        <a:t>Actions taken recently</a:t>
                      </a:r>
                    </a:p>
                  </a:txBody>
                  <a:tcPr anchor="ctr"/>
                </a:tc>
                <a:tc>
                  <a:txBody>
                    <a:bodyPr/>
                    <a:lstStyle/>
                    <a:p>
                      <a:pPr algn="ctr"/>
                      <a:r>
                        <a:rPr lang="en-US" sz="1400" dirty="0" smtClean="0"/>
                        <a:t>Additional Suggested Step </a:t>
                      </a:r>
                      <a:endParaRPr lang="en-US" sz="1400" dirty="0"/>
                    </a:p>
                  </a:txBody>
                  <a:tcPr anchor="ctr"/>
                </a:tc>
                <a:extLst>
                  <a:ext uri="{0D108BD9-81ED-4DB2-BD59-A6C34878D82A}">
                    <a16:rowId xmlns:a16="http://schemas.microsoft.com/office/drawing/2014/main" val="10000"/>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2060"/>
                          </a:solidFill>
                        </a:rPr>
                        <a:t>Development process</a:t>
                      </a:r>
                      <a:endParaRPr lang="en-US" sz="1400" dirty="0">
                        <a:solidFill>
                          <a:srgbClr val="002060"/>
                        </a:solidFill>
                      </a:endParaRPr>
                    </a:p>
                  </a:txBody>
                  <a:tcPr/>
                </a:tc>
                <a:tc>
                  <a:txBody>
                    <a:bodyPr/>
                    <a:lstStyle/>
                    <a:p>
                      <a:endParaRPr lang="en-US" sz="1400" dirty="0">
                        <a:solidFill>
                          <a:srgbClr val="002060"/>
                        </a:solidFill>
                      </a:endParaRPr>
                    </a:p>
                  </a:txBody>
                  <a:tcPr/>
                </a:tc>
                <a:tc>
                  <a:txBody>
                    <a:bodyPr/>
                    <a:lstStyle/>
                    <a:p>
                      <a:r>
                        <a:rPr lang="en-US" sz="1400" dirty="0" smtClean="0">
                          <a:solidFill>
                            <a:srgbClr val="002060"/>
                          </a:solidFill>
                        </a:rPr>
                        <a:t>Agile</a:t>
                      </a:r>
                      <a:r>
                        <a:rPr lang="en-US" sz="1400" baseline="0" dirty="0" smtClean="0">
                          <a:solidFill>
                            <a:srgbClr val="002060"/>
                          </a:solidFill>
                        </a:rPr>
                        <a:t> development process followed</a:t>
                      </a:r>
                      <a:endParaRPr lang="en-US" sz="1400" dirty="0">
                        <a:solidFill>
                          <a:srgbClr val="002060"/>
                        </a:solidFill>
                      </a:endParaRPr>
                    </a:p>
                  </a:txBody>
                  <a:tcPr/>
                </a:tc>
                <a:tc>
                  <a:txBody>
                    <a:bodyPr/>
                    <a:lstStyle/>
                    <a:p>
                      <a:r>
                        <a:rPr lang="en-US" sz="1400" dirty="0" smtClean="0">
                          <a:solidFill>
                            <a:srgbClr val="002060"/>
                          </a:solidFill>
                        </a:rPr>
                        <a:t>More involvement of customer SMEs and</a:t>
                      </a:r>
                      <a:r>
                        <a:rPr lang="en-US" sz="1400" baseline="0" dirty="0" smtClean="0">
                          <a:solidFill>
                            <a:srgbClr val="002060"/>
                          </a:solidFill>
                        </a:rPr>
                        <a:t> review and signoff at required life cycle stages of User stories creation, and UAT Test scripts </a:t>
                      </a:r>
                      <a:r>
                        <a:rPr lang="en-US" sz="1400" baseline="0" dirty="0" err="1" smtClean="0">
                          <a:solidFill>
                            <a:srgbClr val="002060"/>
                          </a:solidFill>
                        </a:rPr>
                        <a:t>etc</a:t>
                      </a:r>
                      <a:r>
                        <a:rPr lang="en-US" sz="1400" baseline="0" dirty="0" smtClean="0">
                          <a:solidFill>
                            <a:srgbClr val="002060"/>
                          </a:solidFill>
                        </a:rPr>
                        <a:t> is lacking</a:t>
                      </a:r>
                      <a:endParaRPr lang="en-US" sz="1400" dirty="0">
                        <a:solidFill>
                          <a:srgbClr val="002060"/>
                        </a:solidFill>
                      </a:endParaRPr>
                    </a:p>
                  </a:txBody>
                  <a:tcPr/>
                </a:tc>
                <a:tc>
                  <a:txBody>
                    <a:bodyPr/>
                    <a:lstStyle/>
                    <a:p>
                      <a:pPr marL="285750" indent="-285750" algn="l" defTabSz="914400" rtl="0" eaLnBrk="1" latinLnBrk="0" hangingPunct="1">
                        <a:buFont typeface="Arial" panose="020B0604020202020204" pitchFamily="34" charset="0"/>
                        <a:buChar char="•"/>
                      </a:pPr>
                      <a:endParaRPr lang="en-US" sz="1400" kern="1200" dirty="0">
                        <a:solidFill>
                          <a:srgbClr val="002060"/>
                        </a:solidFill>
                        <a:latin typeface="+mn-lt"/>
                        <a:ea typeface="+mn-ea"/>
                        <a:cs typeface="+mn-cs"/>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Define agreed process on User stories review and sign off</a:t>
                      </a:r>
                    </a:p>
                    <a:p>
                      <a:pPr marL="285750" indent="-285750" algn="l" defTabSz="914400" rtl="0" eaLnBrk="1" latinLnBrk="0" hangingPunct="1">
                        <a:buFont typeface="Arial" panose="020B0604020202020204" pitchFamily="34" charset="0"/>
                        <a:buChar char="•"/>
                      </a:pPr>
                      <a:r>
                        <a:rPr lang="en-US" sz="1400" kern="1200" dirty="0" smtClean="0">
                          <a:solidFill>
                            <a:srgbClr val="002060"/>
                          </a:solidFill>
                          <a:latin typeface="+mn-lt"/>
                          <a:ea typeface="+mn-ea"/>
                          <a:cs typeface="+mn-cs"/>
                        </a:rPr>
                        <a:t>UAT test scripts visibility at early LC stages of development </a:t>
                      </a:r>
                      <a:endParaRPr lang="en-US" sz="1400" kern="1200" dirty="0">
                        <a:solidFill>
                          <a:srgbClr val="002060"/>
                        </a:solidFill>
                        <a:latin typeface="+mn-lt"/>
                        <a:ea typeface="+mn-ea"/>
                        <a:cs typeface="+mn-cs"/>
                      </a:endParaRPr>
                    </a:p>
                  </a:txBody>
                  <a:tcPr/>
                </a:tc>
                <a:extLst>
                  <a:ext uri="{0D108BD9-81ED-4DB2-BD59-A6C34878D82A}">
                    <a16:rowId xmlns:a16="http://schemas.microsoft.com/office/drawing/2014/main" val="10001"/>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1F497D"/>
                          </a:solidFill>
                          <a:latin typeface="Calibri" panose="020F0502020204030204" pitchFamily="34" charset="0"/>
                          <a:ea typeface="Calibri" panose="020F0502020204030204" pitchFamily="34" charset="0"/>
                        </a:rPr>
                        <a:t>Tools Usage</a:t>
                      </a:r>
                      <a:endParaRPr lang="en-US" sz="1400" dirty="0">
                        <a:solidFill>
                          <a:srgbClr val="002060"/>
                        </a:solidFill>
                      </a:endParaRPr>
                    </a:p>
                  </a:txBody>
                  <a:tcPr/>
                </a:tc>
                <a:tc>
                  <a:txBody>
                    <a:bodyPr/>
                    <a:lstStyle/>
                    <a:p>
                      <a:endParaRPr lang="en-US" sz="1400" dirty="0">
                        <a:solidFill>
                          <a:srgbClr val="002060"/>
                        </a:solidFill>
                      </a:endParaRPr>
                    </a:p>
                  </a:txBody>
                  <a:tcPr/>
                </a:tc>
                <a:tc>
                  <a:txBody>
                    <a:bodyPr/>
                    <a:lstStyle/>
                    <a:p>
                      <a:r>
                        <a:rPr lang="en-US" sz="1400" dirty="0" smtClean="0">
                          <a:solidFill>
                            <a:srgbClr val="002060"/>
                          </a:solidFill>
                        </a:rPr>
                        <a:t>Developer</a:t>
                      </a:r>
                      <a:r>
                        <a:rPr lang="en-US" sz="1400" baseline="0" dirty="0" smtClean="0">
                          <a:solidFill>
                            <a:srgbClr val="002060"/>
                          </a:solidFill>
                        </a:rPr>
                        <a:t> tools are used effectively as IDE and testing areas</a:t>
                      </a:r>
                      <a:endParaRPr lang="en-US" sz="1400" dirty="0">
                        <a:solidFill>
                          <a:srgbClr val="002060"/>
                        </a:solidFil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002060"/>
                          </a:solidFill>
                        </a:rPr>
                        <a:t>Code quality tools such as Sonar can be used for static code analysis.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002060"/>
                          </a:solidFill>
                        </a:rPr>
                        <a:t>Gated </a:t>
                      </a:r>
                      <a:r>
                        <a:rPr lang="en-US" sz="1400" dirty="0" err="1">
                          <a:solidFill>
                            <a:srgbClr val="002060"/>
                          </a:solidFill>
                        </a:rPr>
                        <a:t>checkjns</a:t>
                      </a:r>
                      <a:r>
                        <a:rPr lang="en-US" sz="1400" dirty="0">
                          <a:solidFill>
                            <a:srgbClr val="002060"/>
                          </a:solidFill>
                        </a:rPr>
                        <a:t> to avoid code quality issues. For this a CI tool like Jenkins needs to be 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002060"/>
                        </a:solidFill>
                      </a:endParaRPr>
                    </a:p>
                  </a:txBody>
                  <a:tcPr/>
                </a:tc>
                <a:tc>
                  <a:txBody>
                    <a:bodyPr/>
                    <a:lstStyle/>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Adopt standard</a:t>
                      </a:r>
                      <a:r>
                        <a:rPr lang="en-US" sz="1400" baseline="0" dirty="0" smtClean="0">
                          <a:solidFill>
                            <a:srgbClr val="002060"/>
                          </a:solidFill>
                        </a:rPr>
                        <a:t> </a:t>
                      </a:r>
                      <a:r>
                        <a:rPr lang="en-US" sz="1400" baseline="0" dirty="0" err="1" smtClean="0">
                          <a:solidFill>
                            <a:srgbClr val="002060"/>
                          </a:solidFill>
                        </a:rPr>
                        <a:t>DevSecOps</a:t>
                      </a:r>
                      <a:r>
                        <a:rPr lang="en-US" sz="1400" baseline="0" dirty="0" smtClean="0">
                          <a:solidFill>
                            <a:srgbClr val="002060"/>
                          </a:solidFill>
                        </a:rPr>
                        <a:t> and pipeline with required tools at each LC stages</a:t>
                      </a:r>
                      <a:endParaRPr lang="en-US" sz="1400" dirty="0">
                        <a:solidFill>
                          <a:srgbClr val="002060"/>
                        </a:solidFill>
                      </a:endParaRPr>
                    </a:p>
                  </a:txBody>
                  <a:tcPr/>
                </a:tc>
                <a:extLst>
                  <a:ext uri="{0D108BD9-81ED-4DB2-BD59-A6C34878D82A}">
                    <a16:rowId xmlns:a16="http://schemas.microsoft.com/office/drawing/2014/main" val="10002"/>
                  </a:ext>
                </a:extLst>
              </a:tr>
              <a:tr h="361436">
                <a:tc>
                  <a:txBody>
                    <a:bodyPr/>
                    <a:lstStyle/>
                    <a:p>
                      <a:pPr algn="l"/>
                      <a:r>
                        <a:rPr lang="en-US" sz="1400" dirty="0">
                          <a:solidFill>
                            <a:srgbClr val="1F497D"/>
                          </a:solidFill>
                          <a:latin typeface="Calibri" panose="020F0502020204030204" pitchFamily="34" charset="0"/>
                          <a:ea typeface="Calibri" panose="020F0502020204030204" pitchFamily="34" charset="0"/>
                        </a:rPr>
                        <a:t>Performance/load testing</a:t>
                      </a:r>
                      <a:endParaRPr lang="en-US" sz="1400" dirty="0">
                        <a:solidFill>
                          <a:srgbClr val="002060"/>
                        </a:solidFill>
                      </a:endParaRPr>
                    </a:p>
                  </a:txBody>
                  <a:tcPr/>
                </a:tc>
                <a:tc>
                  <a:txBody>
                    <a:bodyPr/>
                    <a:lstStyle/>
                    <a:p>
                      <a:endParaRPr lang="en-US" sz="1400" dirty="0">
                        <a:solidFill>
                          <a:srgbClr val="002060"/>
                        </a:solidFill>
                      </a:endParaRPr>
                    </a:p>
                  </a:txBody>
                  <a:tcPr/>
                </a:tc>
                <a:tc>
                  <a:txBody>
                    <a:bodyPr/>
                    <a:lstStyle/>
                    <a:p>
                      <a:r>
                        <a:rPr lang="en-US" sz="1400" dirty="0" err="1" smtClean="0">
                          <a:solidFill>
                            <a:srgbClr val="002060"/>
                          </a:solidFill>
                        </a:rPr>
                        <a:t>Jmeter</a:t>
                      </a:r>
                      <a:r>
                        <a:rPr lang="en-US" sz="1400" dirty="0" smtClean="0">
                          <a:solidFill>
                            <a:srgbClr val="002060"/>
                          </a:solidFill>
                        </a:rPr>
                        <a:t> has been used for load testing and benchmarking</a:t>
                      </a:r>
                      <a:r>
                        <a:rPr lang="en-US" sz="1400" baseline="0" dirty="0" smtClean="0">
                          <a:solidFill>
                            <a:srgbClr val="002060"/>
                          </a:solidFill>
                        </a:rPr>
                        <a:t> performance results</a:t>
                      </a:r>
                      <a:endParaRPr lang="en-US" sz="1400" dirty="0">
                        <a:solidFill>
                          <a:srgbClr val="002060"/>
                        </a:solidFill>
                      </a:endParaRPr>
                    </a:p>
                  </a:txBody>
                  <a:tcPr/>
                </a:tc>
                <a:tc>
                  <a:txBody>
                    <a:bodyPr/>
                    <a:lstStyle/>
                    <a:p>
                      <a:r>
                        <a:rPr lang="en-US" sz="1400" dirty="0" smtClean="0">
                          <a:solidFill>
                            <a:srgbClr val="002060"/>
                          </a:solidFill>
                        </a:rPr>
                        <a:t>From long term infra planning and scaling</a:t>
                      </a:r>
                      <a:r>
                        <a:rPr lang="en-US" sz="1400" baseline="0" dirty="0" smtClean="0">
                          <a:solidFill>
                            <a:srgbClr val="002060"/>
                          </a:solidFill>
                        </a:rPr>
                        <a:t> – need to execute capacity planning and resource requirements to meet projected loads </a:t>
                      </a:r>
                      <a:endParaRPr lang="en-US" sz="1400" dirty="0">
                        <a:solidFill>
                          <a:srgbClr val="002060"/>
                        </a:solidFill>
                      </a:endParaRPr>
                    </a:p>
                  </a:txBody>
                  <a:tcPr/>
                </a:tc>
                <a:tc>
                  <a:txBody>
                    <a:bodyPr/>
                    <a:lstStyle/>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Load testing,</a:t>
                      </a:r>
                      <a:r>
                        <a:rPr lang="en-US" sz="1400" baseline="0" dirty="0" smtClean="0">
                          <a:solidFill>
                            <a:srgbClr val="002060"/>
                          </a:solidFill>
                        </a:rPr>
                        <a:t> benchmarking and capacity planning</a:t>
                      </a:r>
                      <a:endParaRPr lang="en-US" sz="1400" dirty="0">
                        <a:solidFill>
                          <a:srgbClr val="002060"/>
                        </a:solidFill>
                      </a:endParaRPr>
                    </a:p>
                  </a:txBody>
                  <a:tcPr/>
                </a:tc>
                <a:extLst>
                  <a:ext uri="{0D108BD9-81ED-4DB2-BD59-A6C34878D82A}">
                    <a16:rowId xmlns:a16="http://schemas.microsoft.com/office/drawing/2014/main" val="480238945"/>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1F497D"/>
                          </a:solidFill>
                          <a:latin typeface="Calibri" panose="020F0502020204030204" pitchFamily="34" charset="0"/>
                          <a:ea typeface="Calibri" panose="020F0502020204030204" pitchFamily="34" charset="0"/>
                        </a:rPr>
                        <a:t> Testing /test data </a:t>
                      </a:r>
                      <a:endParaRPr lang="en-US" sz="1400" dirty="0">
                        <a:solidFill>
                          <a:srgbClr val="002060"/>
                        </a:solidFill>
                      </a:endParaRPr>
                    </a:p>
                  </a:txBody>
                  <a:tcPr/>
                </a:tc>
                <a:tc>
                  <a:txBody>
                    <a:bodyPr/>
                    <a:lstStyle/>
                    <a:p>
                      <a:endParaRPr lang="en-US" sz="1400" dirty="0">
                        <a:solidFill>
                          <a:srgbClr val="002060"/>
                        </a:solidFill>
                      </a:endParaRPr>
                    </a:p>
                  </a:txBody>
                  <a:tcPr/>
                </a:tc>
                <a:tc>
                  <a:txBody>
                    <a:bodyPr/>
                    <a:lstStyle/>
                    <a:p>
                      <a:r>
                        <a:rPr lang="en-US" sz="1400" kern="1200" dirty="0" smtClean="0">
                          <a:solidFill>
                            <a:srgbClr val="002060"/>
                          </a:solidFill>
                          <a:highlight>
                            <a:srgbClr val="FFFF00"/>
                          </a:highlight>
                          <a:latin typeface="+mn-lt"/>
                          <a:ea typeface="+mn-ea"/>
                          <a:cs typeface="+mn-cs"/>
                        </a:rPr>
                        <a:t>Dev testing by developers and SIT executed by independent testing team</a:t>
                      </a:r>
                      <a:endParaRPr lang="en-US" sz="1400" kern="1200" dirty="0">
                        <a:solidFill>
                          <a:srgbClr val="002060"/>
                        </a:solidFill>
                        <a:highlight>
                          <a:srgbClr val="FFFF00"/>
                        </a:highlight>
                        <a:latin typeface="+mn-lt"/>
                        <a:ea typeface="+mn-ea"/>
                        <a:cs typeface="+mn-cs"/>
                      </a:endParaRPr>
                    </a:p>
                  </a:txBody>
                  <a:tcPr/>
                </a:tc>
                <a:tc>
                  <a:txBody>
                    <a:bodyPr/>
                    <a:lstStyle/>
                    <a:p>
                      <a:pPr marL="285750" indent="-285750">
                        <a:buFont typeface="Arial" panose="020B0604020202020204" pitchFamily="34" charset="0"/>
                        <a:buChar char="•"/>
                      </a:pPr>
                      <a:r>
                        <a:rPr lang="en-US" sz="1400" dirty="0">
                          <a:solidFill>
                            <a:srgbClr val="002060"/>
                          </a:solidFill>
                        </a:rPr>
                        <a:t>Improve unit tests.</a:t>
                      </a:r>
                      <a:r>
                        <a:rPr lang="en-US" sz="1400" dirty="0">
                          <a:solidFill>
                            <a:srgbClr val="002060"/>
                          </a:solidFill>
                          <a:highlight>
                            <a:srgbClr val="FFFF00"/>
                          </a:highlight>
                        </a:rPr>
                        <a:t> Currently there </a:t>
                      </a:r>
                      <a:r>
                        <a:rPr lang="en-US" sz="1400" dirty="0" smtClean="0">
                          <a:solidFill>
                            <a:srgbClr val="002060"/>
                          </a:solidFill>
                          <a:highlight>
                            <a:srgbClr val="FFFF00"/>
                          </a:highlight>
                        </a:rPr>
                        <a:t>are not </a:t>
                      </a:r>
                      <a:r>
                        <a:rPr lang="en-US" sz="1400" dirty="0">
                          <a:solidFill>
                            <a:srgbClr val="002060"/>
                          </a:solidFill>
                          <a:highlight>
                            <a:srgbClr val="FFFF00"/>
                          </a:highlight>
                        </a:rPr>
                        <a:t>much/any unit tests</a:t>
                      </a:r>
                    </a:p>
                    <a:p>
                      <a:pPr marL="285750" indent="-285750">
                        <a:buFont typeface="Arial" panose="020B0604020202020204" pitchFamily="34" charset="0"/>
                        <a:buChar char="•"/>
                      </a:pPr>
                      <a:r>
                        <a:rPr lang="en-US" sz="1400" dirty="0">
                          <a:solidFill>
                            <a:srgbClr val="002060"/>
                          </a:solidFill>
                        </a:rPr>
                        <a:t>Review and sign off of test scenarios by business analysts</a:t>
                      </a:r>
                    </a:p>
                    <a:p>
                      <a:pPr marL="285750" indent="-285750">
                        <a:buFont typeface="Arial" panose="020B0604020202020204" pitchFamily="34" charset="0"/>
                        <a:buChar char="•"/>
                      </a:pPr>
                      <a:r>
                        <a:rPr lang="en-US" sz="1400" dirty="0">
                          <a:solidFill>
                            <a:srgbClr val="002060"/>
                          </a:solidFill>
                        </a:rPr>
                        <a:t>Availability of the right test data</a:t>
                      </a:r>
                    </a:p>
                  </a:txBody>
                  <a:tcPr/>
                </a:tc>
                <a:tc>
                  <a:txBody>
                    <a:bodyPr/>
                    <a:lstStyle/>
                    <a:p>
                      <a:pPr marL="285750" indent="-285750">
                        <a:buFont typeface="Arial" panose="020B0604020202020204" pitchFamily="34" charset="0"/>
                        <a:buChar char="•"/>
                      </a:pPr>
                      <a:endParaRPr lang="en-US" sz="1400" dirty="0">
                        <a:solidFill>
                          <a:srgbClr val="002060"/>
                        </a:solidFill>
                      </a:endParaRPr>
                    </a:p>
                  </a:txBody>
                  <a:tcPr/>
                </a:tc>
                <a:tc>
                  <a:txBody>
                    <a:bodyPr/>
                    <a:lstStyle/>
                    <a:p>
                      <a:pPr marL="285750" indent="-285750">
                        <a:buFont typeface="Arial" panose="020B0604020202020204" pitchFamily="34" charset="0"/>
                        <a:buChar char="•"/>
                      </a:pPr>
                      <a:r>
                        <a:rPr lang="en-US" sz="1400" dirty="0" smtClean="0">
                          <a:solidFill>
                            <a:srgbClr val="002060"/>
                          </a:solidFill>
                        </a:rPr>
                        <a:t>Strategy on test data preparation and test case review</a:t>
                      </a:r>
                      <a:endParaRPr lang="en-US" sz="1400" dirty="0">
                        <a:solidFill>
                          <a:srgbClr val="002060"/>
                        </a:solidFill>
                      </a:endParaRPr>
                    </a:p>
                  </a:txBody>
                  <a:tcPr/>
                </a:tc>
                <a:extLst>
                  <a:ext uri="{0D108BD9-81ED-4DB2-BD59-A6C34878D82A}">
                    <a16:rowId xmlns:a16="http://schemas.microsoft.com/office/drawing/2014/main" val="1796063982"/>
                  </a:ext>
                </a:extLst>
              </a:tr>
            </a:tbl>
          </a:graphicData>
        </a:graphic>
      </p:graphicFrame>
    </p:spTree>
    <p:extLst>
      <p:ext uri="{BB962C8B-B14F-4D97-AF65-F5344CB8AC3E}">
        <p14:creationId xmlns:p14="http://schemas.microsoft.com/office/powerpoint/2010/main" val="1155347456"/>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144438" y="0"/>
            <a:ext cx="11630733" cy="603981"/>
          </a:xfrm>
        </p:spPr>
        <p:txBody>
          <a:bodyPr/>
          <a:lstStyle/>
          <a:p>
            <a:r>
              <a:rPr lang="en-US" dirty="0"/>
              <a:t>Architecture/Design and Development - Recommendation </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p:txBody>
          <a:bodyPr/>
          <a:lstStyle/>
          <a:p>
            <a:fld id="{86CB4B4D-7CA3-9044-876B-883B54F8677D}" type="slidenum">
              <a:rPr lang="en-US" smtClean="0"/>
              <a:pPr/>
              <a:t>8</a:t>
            </a:fld>
            <a:endParaRPr lang="en-US" dirty="0"/>
          </a:p>
        </p:txBody>
      </p:sp>
      <p:graphicFrame>
        <p:nvGraphicFramePr>
          <p:cNvPr id="23" name="Table 22">
            <a:extLst>
              <a:ext uri="{FF2B5EF4-FFF2-40B4-BE49-F238E27FC236}">
                <a16:creationId xmlns:a16="http://schemas.microsoft.com/office/drawing/2014/main" id="{B2038A4E-595F-4F3D-9654-7FAEC1DCB393}"/>
              </a:ext>
            </a:extLst>
          </p:cNvPr>
          <p:cNvGraphicFramePr>
            <a:graphicFrameLocks noGrp="1"/>
          </p:cNvGraphicFramePr>
          <p:nvPr>
            <p:extLst>
              <p:ext uri="{D42A27DB-BD31-4B8C-83A1-F6EECF244321}">
                <p14:modId xmlns:p14="http://schemas.microsoft.com/office/powerpoint/2010/main" val="2324923482"/>
              </p:ext>
            </p:extLst>
          </p:nvPr>
        </p:nvGraphicFramePr>
        <p:xfrm>
          <a:off x="144438" y="440143"/>
          <a:ext cx="11742761" cy="587173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686830">
                  <a:extLst>
                    <a:ext uri="{9D8B030D-6E8A-4147-A177-3AD203B41FA5}">
                      <a16:colId xmlns:a16="http://schemas.microsoft.com/office/drawing/2014/main" val="20000"/>
                    </a:ext>
                  </a:extLst>
                </a:gridCol>
                <a:gridCol w="1311189">
                  <a:extLst>
                    <a:ext uri="{9D8B030D-6E8A-4147-A177-3AD203B41FA5}">
                      <a16:colId xmlns:a16="http://schemas.microsoft.com/office/drawing/2014/main" val="3981110338"/>
                    </a:ext>
                  </a:extLst>
                </a:gridCol>
                <a:gridCol w="5768488">
                  <a:extLst>
                    <a:ext uri="{9D8B030D-6E8A-4147-A177-3AD203B41FA5}">
                      <a16:colId xmlns:a16="http://schemas.microsoft.com/office/drawing/2014/main" val="3730199229"/>
                    </a:ext>
                  </a:extLst>
                </a:gridCol>
                <a:gridCol w="2759227">
                  <a:extLst>
                    <a:ext uri="{9D8B030D-6E8A-4147-A177-3AD203B41FA5}">
                      <a16:colId xmlns:a16="http://schemas.microsoft.com/office/drawing/2014/main" val="1760908983"/>
                    </a:ext>
                  </a:extLst>
                </a:gridCol>
                <a:gridCol w="1217027">
                  <a:extLst>
                    <a:ext uri="{9D8B030D-6E8A-4147-A177-3AD203B41FA5}">
                      <a16:colId xmlns:a16="http://schemas.microsoft.com/office/drawing/2014/main" val="1115836251"/>
                    </a:ext>
                  </a:extLst>
                </a:gridCol>
              </a:tblGrid>
              <a:tr h="476770">
                <a:tc>
                  <a:txBody>
                    <a:bodyPr/>
                    <a:lstStyle/>
                    <a:p>
                      <a:r>
                        <a:rPr lang="en-US" sz="1400" dirty="0" err="1"/>
                        <a:t>Sl</a:t>
                      </a:r>
                      <a:r>
                        <a:rPr lang="en-US" sz="1400" dirty="0"/>
                        <a:t> No.</a:t>
                      </a:r>
                    </a:p>
                  </a:txBody>
                  <a:tcPr/>
                </a:tc>
                <a:tc>
                  <a:txBody>
                    <a:bodyPr/>
                    <a:lstStyle/>
                    <a:p>
                      <a:pPr algn="ctr"/>
                      <a:r>
                        <a:rPr lang="en-US" sz="1200" dirty="0" smtClean="0"/>
                        <a:t>Areas</a:t>
                      </a:r>
                      <a:endParaRPr lang="en-US" sz="1200" dirty="0"/>
                    </a:p>
                  </a:txBody>
                  <a:tcPr anchor="ctr"/>
                </a:tc>
                <a:tc>
                  <a:txBody>
                    <a:bodyPr/>
                    <a:lstStyle/>
                    <a:p>
                      <a:pPr algn="ctr"/>
                      <a:r>
                        <a:rPr lang="en-US" sz="1200" dirty="0" smtClean="0"/>
                        <a:t>Recommendation</a:t>
                      </a: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t>Business Benefits</a:t>
                      </a: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Priority</a:t>
                      </a:r>
                    </a:p>
                  </a:txBody>
                  <a:tcPr anchor="ctr"/>
                </a:tc>
                <a:extLst>
                  <a:ext uri="{0D108BD9-81ED-4DB2-BD59-A6C34878D82A}">
                    <a16:rowId xmlns:a16="http://schemas.microsoft.com/office/drawing/2014/main" val="10000"/>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1</a:t>
                      </a:r>
                    </a:p>
                  </a:txBody>
                  <a:tcPr/>
                </a:tc>
                <a:tc rowSpan="3">
                  <a:txBody>
                    <a:bodyPr/>
                    <a:lstStyle/>
                    <a:p>
                      <a:endParaRPr lang="en-US" sz="1200" dirty="0" smtClean="0">
                        <a:solidFill>
                          <a:srgbClr val="002060"/>
                        </a:solidFill>
                      </a:endParaRPr>
                    </a:p>
                    <a:p>
                      <a:endParaRPr lang="en-US" sz="1200" dirty="0" smtClean="0">
                        <a:solidFill>
                          <a:srgbClr val="002060"/>
                        </a:solidFill>
                      </a:endParaRPr>
                    </a:p>
                    <a:p>
                      <a:r>
                        <a:rPr lang="en-US" sz="1200" dirty="0" smtClean="0">
                          <a:solidFill>
                            <a:srgbClr val="002060"/>
                          </a:solidFill>
                        </a:rPr>
                        <a:t>Technology/Architecture</a:t>
                      </a:r>
                      <a:endParaRPr lang="en-US" sz="1200" dirty="0">
                        <a:solidFill>
                          <a:srgbClr val="002060"/>
                        </a:solidFill>
                      </a:endParaRPr>
                    </a:p>
                  </a:txBody>
                  <a:tcPr/>
                </a:tc>
                <a:tc>
                  <a:txBody>
                    <a:bodyPr/>
                    <a:lstStyle/>
                    <a:p>
                      <a:r>
                        <a:rPr lang="en-US" sz="1200" dirty="0" smtClean="0">
                          <a:solidFill>
                            <a:srgbClr val="002060"/>
                          </a:solidFill>
                        </a:rPr>
                        <a:t>Search Indexing and implementation with feasibility and </a:t>
                      </a:r>
                      <a:r>
                        <a:rPr lang="en-US" sz="1200" dirty="0" err="1" smtClean="0">
                          <a:solidFill>
                            <a:srgbClr val="002060"/>
                          </a:solidFill>
                        </a:rPr>
                        <a:t>PoCs</a:t>
                      </a:r>
                      <a:r>
                        <a:rPr lang="en-US" sz="1200" dirty="0" smtClean="0">
                          <a:solidFill>
                            <a:srgbClr val="002060"/>
                          </a:solidFill>
                        </a:rPr>
                        <a:t>:</a:t>
                      </a:r>
                    </a:p>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Custom analyzers may need to be developed based on the search patterns</a:t>
                      </a:r>
                    </a:p>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Evaluate alternatives to </a:t>
                      </a:r>
                      <a:r>
                        <a:rPr lang="en-US" sz="1200" kern="1200" dirty="0" err="1" smtClean="0">
                          <a:solidFill>
                            <a:srgbClr val="002060"/>
                          </a:solidFill>
                          <a:latin typeface="+mn-lt"/>
                          <a:ea typeface="+mn-ea"/>
                          <a:cs typeface="+mn-cs"/>
                        </a:rPr>
                        <a:t>FSCrawler</a:t>
                      </a:r>
                      <a:r>
                        <a:rPr lang="en-US" sz="1200" kern="1200" dirty="0" smtClean="0">
                          <a:solidFill>
                            <a:srgbClr val="002060"/>
                          </a:solidFill>
                          <a:latin typeface="+mn-lt"/>
                          <a:ea typeface="+mn-ea"/>
                          <a:cs typeface="+mn-cs"/>
                        </a:rPr>
                        <a:t>, like Ingest Attachment Processor plugin  </a:t>
                      </a:r>
                    </a:p>
                  </a:txBody>
                  <a:tcPr/>
                </a:tc>
                <a:tc>
                  <a:txBody>
                    <a:bodyPr/>
                    <a:lstStyle/>
                    <a:p>
                      <a:pPr algn="ctr"/>
                      <a:r>
                        <a:rPr lang="en-US" sz="1200" dirty="0" smtClean="0">
                          <a:solidFill>
                            <a:srgbClr val="002060"/>
                          </a:solidFill>
                        </a:rPr>
                        <a:t>Performance, Quality, and Maintainability</a:t>
                      </a:r>
                      <a:endParaRPr lang="en-US" sz="1200" dirty="0">
                        <a:solidFill>
                          <a:srgbClr val="002060"/>
                        </a:solidFill>
                      </a:endParaRP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10001"/>
                  </a:ext>
                </a:extLst>
              </a:tr>
              <a:tr h="361436">
                <a:tc>
                  <a:txBody>
                    <a:bodyPr/>
                    <a:lstStyle/>
                    <a:p>
                      <a:pPr algn="l"/>
                      <a:r>
                        <a:rPr lang="en-US" sz="1200" dirty="0">
                          <a:solidFill>
                            <a:srgbClr val="002060"/>
                          </a:solidFill>
                        </a:rPr>
                        <a:t>2</a:t>
                      </a:r>
                    </a:p>
                  </a:txBody>
                  <a:tcPr/>
                </a:tc>
                <a:tc vMerge="1">
                  <a:txBody>
                    <a:bodyPr/>
                    <a:lstStyle/>
                    <a:p>
                      <a:endParaRPr lang="en-US" sz="1400" dirty="0">
                        <a:solidFill>
                          <a:srgbClr val="002060"/>
                        </a:solidFill>
                      </a:endParaRPr>
                    </a:p>
                  </a:txBody>
                  <a:tcPr/>
                </a:tc>
                <a:tc>
                  <a:txBody>
                    <a:bodyPr/>
                    <a:lstStyle/>
                    <a:p>
                      <a:r>
                        <a:rPr lang="en-US" sz="1200" dirty="0" smtClean="0">
                          <a:solidFill>
                            <a:srgbClr val="002060"/>
                          </a:solidFill>
                        </a:rPr>
                        <a:t>Discuss with </a:t>
                      </a:r>
                      <a:r>
                        <a:rPr lang="en-US" sz="1200" kern="1200" dirty="0" smtClean="0">
                          <a:solidFill>
                            <a:srgbClr val="002060"/>
                          </a:solidFill>
                          <a:latin typeface="+mn-lt"/>
                          <a:ea typeface="+mn-ea"/>
                          <a:cs typeface="+mn-cs"/>
                        </a:rPr>
                        <a:t>P&amp;G Architects and finalize approach on</a:t>
                      </a:r>
                    </a:p>
                    <a:p>
                      <a:pPr marL="285750" indent="-285750">
                        <a:buFont typeface="Arial" panose="020B0604020202020204" pitchFamily="34" charset="0"/>
                        <a:buChar char="•"/>
                      </a:pPr>
                      <a:r>
                        <a:rPr lang="en-US" sz="1200" dirty="0" smtClean="0">
                          <a:solidFill>
                            <a:srgbClr val="002060"/>
                          </a:solidFill>
                        </a:rPr>
                        <a:t>CICD,</a:t>
                      </a:r>
                      <a:r>
                        <a:rPr lang="en-US" sz="1200" baseline="0" dirty="0" smtClean="0">
                          <a:solidFill>
                            <a:srgbClr val="002060"/>
                          </a:solidFill>
                        </a:rPr>
                        <a:t> </a:t>
                      </a:r>
                      <a:r>
                        <a:rPr lang="en-US" sz="1200" dirty="0" err="1" smtClean="0">
                          <a:solidFill>
                            <a:srgbClr val="002060"/>
                          </a:solidFill>
                        </a:rPr>
                        <a:t>DevSecOps</a:t>
                      </a:r>
                      <a:r>
                        <a:rPr lang="en-US" sz="1200" dirty="0" smtClean="0">
                          <a:solidFill>
                            <a:srgbClr val="002060"/>
                          </a:solidFill>
                        </a:rPr>
                        <a:t> </a:t>
                      </a:r>
                    </a:p>
                  </a:txBody>
                  <a:tcPr/>
                </a:tc>
                <a:tc>
                  <a:txBody>
                    <a:bodyPr/>
                    <a:lstStyle/>
                    <a:p>
                      <a:pPr algn="ctr"/>
                      <a:r>
                        <a:rPr lang="en-US" sz="1200" dirty="0" smtClean="0">
                          <a:solidFill>
                            <a:srgbClr val="002060"/>
                          </a:solidFill>
                        </a:rPr>
                        <a:t>Quality,</a:t>
                      </a:r>
                      <a:r>
                        <a:rPr lang="en-US" sz="1200" baseline="0" dirty="0" smtClean="0">
                          <a:solidFill>
                            <a:srgbClr val="002060"/>
                          </a:solidFill>
                        </a:rPr>
                        <a:t> Efficiency, and Timeline</a:t>
                      </a:r>
                      <a:endParaRPr lang="en-US" sz="1200" dirty="0">
                        <a:solidFill>
                          <a:srgbClr val="002060"/>
                        </a:solidFill>
                      </a:endParaRP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10002"/>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3</a:t>
                      </a:r>
                    </a:p>
                  </a:txBody>
                  <a:tcPr/>
                </a:tc>
                <a:tc vMerge="1">
                  <a:txBody>
                    <a:bodyPr/>
                    <a:lstStyle/>
                    <a:p>
                      <a:endParaRPr lang="en-US" sz="1400" dirty="0">
                        <a:solidFill>
                          <a:srgbClr val="002060"/>
                        </a:solidFill>
                      </a:endParaRPr>
                    </a:p>
                  </a:txBody>
                  <a:tcPr/>
                </a:tc>
                <a:tc>
                  <a:txBody>
                    <a:bodyPr/>
                    <a:lstStyle/>
                    <a:p>
                      <a:r>
                        <a:rPr lang="en-US" sz="1200" dirty="0" smtClean="0">
                          <a:solidFill>
                            <a:srgbClr val="002060"/>
                          </a:solidFill>
                        </a:rPr>
                        <a:t>Discuss with </a:t>
                      </a:r>
                      <a:r>
                        <a:rPr lang="en-US" sz="1200" kern="1200" dirty="0" smtClean="0">
                          <a:solidFill>
                            <a:srgbClr val="002060"/>
                          </a:solidFill>
                          <a:latin typeface="+mn-lt"/>
                          <a:ea typeface="+mn-ea"/>
                          <a:cs typeface="+mn-cs"/>
                        </a:rPr>
                        <a:t>P&amp;G Architects and finalize approach on crone jobs</a:t>
                      </a:r>
                    </a:p>
                    <a:p>
                      <a:pPr marL="285750" indent="-285750">
                        <a:buFont typeface="Arial" panose="020B0604020202020204" pitchFamily="34" charset="0"/>
                        <a:buChar char="•"/>
                      </a:pPr>
                      <a:r>
                        <a:rPr lang="en-US" sz="1200" kern="1200" dirty="0" smtClean="0">
                          <a:solidFill>
                            <a:srgbClr val="002060"/>
                          </a:solidFill>
                          <a:latin typeface="+mn-lt"/>
                          <a:ea typeface="+mn-ea"/>
                          <a:cs typeface="+mn-cs"/>
                        </a:rPr>
                        <a:t>Moving</a:t>
                      </a:r>
                      <a:r>
                        <a:rPr lang="en-US" sz="1200" baseline="0" dirty="0" smtClean="0">
                          <a:solidFill>
                            <a:srgbClr val="002060"/>
                          </a:solidFill>
                        </a:rPr>
                        <a:t> crone jobs and scripts </a:t>
                      </a:r>
                      <a:r>
                        <a:rPr lang="en-US" sz="1200" kern="1200" dirty="0" smtClean="0">
                          <a:solidFill>
                            <a:srgbClr val="002060"/>
                          </a:solidFill>
                          <a:latin typeface="+mn-lt"/>
                          <a:ea typeface="+mn-ea"/>
                          <a:cs typeface="+mn-cs"/>
                        </a:rPr>
                        <a:t>to </a:t>
                      </a:r>
                      <a:r>
                        <a:rPr lang="en-US" sz="1200" kern="1200" dirty="0" err="1" smtClean="0">
                          <a:solidFill>
                            <a:srgbClr val="002060"/>
                          </a:solidFill>
                          <a:latin typeface="+mn-lt"/>
                          <a:ea typeface="+mn-ea"/>
                          <a:cs typeface="+mn-cs"/>
                        </a:rPr>
                        <a:t>ControlM</a:t>
                      </a:r>
                      <a:r>
                        <a:rPr lang="en-US" sz="1200" kern="1200" dirty="0" smtClean="0">
                          <a:solidFill>
                            <a:srgbClr val="002060"/>
                          </a:solidFill>
                          <a:latin typeface="+mn-lt"/>
                          <a:ea typeface="+mn-ea"/>
                          <a:cs typeface="+mn-cs"/>
                        </a:rPr>
                        <a:t> or </a:t>
                      </a:r>
                      <a:r>
                        <a:rPr lang="en-US" sz="1200" kern="1200" dirty="0" err="1" smtClean="0">
                          <a:solidFill>
                            <a:srgbClr val="002060"/>
                          </a:solidFill>
                          <a:latin typeface="+mn-lt"/>
                          <a:ea typeface="+mn-ea"/>
                          <a:cs typeface="+mn-cs"/>
                        </a:rPr>
                        <a:t>Serverless</a:t>
                      </a:r>
                      <a:r>
                        <a:rPr lang="en-US" sz="1200" kern="1200" dirty="0" smtClean="0">
                          <a:solidFill>
                            <a:srgbClr val="002060"/>
                          </a:solidFill>
                          <a:latin typeface="+mn-lt"/>
                          <a:ea typeface="+mn-ea"/>
                          <a:cs typeface="+mn-cs"/>
                        </a:rPr>
                        <a:t> after feasibility and </a:t>
                      </a:r>
                      <a:r>
                        <a:rPr lang="en-US" sz="1200" kern="1200" dirty="0" err="1" smtClean="0">
                          <a:solidFill>
                            <a:srgbClr val="002060"/>
                          </a:solidFill>
                          <a:latin typeface="+mn-lt"/>
                          <a:ea typeface="+mn-ea"/>
                          <a:cs typeface="+mn-cs"/>
                        </a:rPr>
                        <a:t>PoC</a:t>
                      </a:r>
                      <a:endParaRPr lang="en-US" sz="1200" dirty="0">
                        <a:solidFill>
                          <a:srgbClr val="002060"/>
                        </a:solidFill>
                      </a:endParaRPr>
                    </a:p>
                  </a:txBody>
                  <a:tcPr/>
                </a:tc>
                <a:tc>
                  <a:txBody>
                    <a:bodyPr/>
                    <a:lstStyle/>
                    <a:p>
                      <a:pPr algn="ctr"/>
                      <a:r>
                        <a:rPr lang="en-US" sz="1200" dirty="0" smtClean="0">
                          <a:solidFill>
                            <a:srgbClr val="002060"/>
                          </a:solidFill>
                        </a:rPr>
                        <a:t>System Stability,</a:t>
                      </a:r>
                      <a:r>
                        <a:rPr lang="en-US" sz="1200" baseline="0" dirty="0" smtClean="0">
                          <a:solidFill>
                            <a:srgbClr val="002060"/>
                          </a:solidFill>
                        </a:rPr>
                        <a:t> Quality and Maintainability</a:t>
                      </a:r>
                      <a:endParaRPr lang="en-US" sz="1200" dirty="0">
                        <a:solidFill>
                          <a:srgbClr val="002060"/>
                        </a:solidFill>
                      </a:endParaRP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10004"/>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4</a:t>
                      </a:r>
                    </a:p>
                  </a:txBody>
                  <a:tcPr/>
                </a:tc>
                <a:tc rowSpan="3">
                  <a:txBody>
                    <a:bodyPr/>
                    <a:lstStyle/>
                    <a:p>
                      <a:endParaRPr lang="en-US" sz="1200" dirty="0" smtClean="0">
                        <a:solidFill>
                          <a:srgbClr val="002060"/>
                        </a:solidFill>
                      </a:endParaRPr>
                    </a:p>
                    <a:p>
                      <a:endParaRPr lang="en-US" sz="1200" dirty="0" smtClean="0">
                        <a:solidFill>
                          <a:srgbClr val="002060"/>
                        </a:solidFill>
                      </a:endParaRPr>
                    </a:p>
                    <a:p>
                      <a:endParaRPr lang="en-US" sz="1200" dirty="0" smtClean="0">
                        <a:solidFill>
                          <a:srgbClr val="002060"/>
                        </a:solidFill>
                      </a:endParaRPr>
                    </a:p>
                    <a:p>
                      <a:r>
                        <a:rPr lang="en-US" sz="1200" dirty="0" smtClean="0">
                          <a:solidFill>
                            <a:srgbClr val="002060"/>
                          </a:solidFill>
                        </a:rPr>
                        <a:t>Design/Implementation</a:t>
                      </a:r>
                      <a:endParaRPr lang="en-US" sz="1200" dirty="0">
                        <a:solidFill>
                          <a:srgbClr val="002060"/>
                        </a:solidFill>
                      </a:endParaRPr>
                    </a:p>
                  </a:txBody>
                  <a:tcPr/>
                </a:tc>
                <a:tc>
                  <a:txBody>
                    <a:bodyPr/>
                    <a:lstStyle/>
                    <a:p>
                      <a:r>
                        <a:rPr lang="en-US" sz="1200" dirty="0" smtClean="0">
                          <a:solidFill>
                            <a:srgbClr val="002060"/>
                          </a:solidFill>
                        </a:rPr>
                        <a:t>Discuss with </a:t>
                      </a:r>
                      <a:r>
                        <a:rPr lang="en-US" sz="1200" kern="1200" dirty="0" smtClean="0">
                          <a:solidFill>
                            <a:srgbClr val="002060"/>
                          </a:solidFill>
                          <a:latin typeface="+mn-lt"/>
                          <a:ea typeface="+mn-ea"/>
                          <a:cs typeface="+mn-cs"/>
                        </a:rPr>
                        <a:t>P&amp;G Architects and finalize approach on</a:t>
                      </a:r>
                    </a:p>
                    <a:p>
                      <a:pPr marL="285750" indent="-285750">
                        <a:buFont typeface="Arial" panose="020B0604020202020204" pitchFamily="34" charset="0"/>
                        <a:buChar char="•"/>
                      </a:pPr>
                      <a:r>
                        <a:rPr lang="en-US" sz="1200" kern="1200" dirty="0" smtClean="0">
                          <a:solidFill>
                            <a:srgbClr val="002060"/>
                          </a:solidFill>
                          <a:latin typeface="+mn-lt"/>
                          <a:ea typeface="+mn-ea"/>
                          <a:cs typeface="+mn-cs"/>
                        </a:rPr>
                        <a:t>Containerization</a:t>
                      </a:r>
                      <a:r>
                        <a:rPr lang="en-US" sz="1200" kern="1200" baseline="0" dirty="0" smtClean="0">
                          <a:solidFill>
                            <a:srgbClr val="002060"/>
                          </a:solidFill>
                          <a:latin typeface="+mn-lt"/>
                          <a:ea typeface="+mn-ea"/>
                          <a:cs typeface="+mn-cs"/>
                        </a:rPr>
                        <a:t> and usage of ACS for deployment of </a:t>
                      </a:r>
                      <a:r>
                        <a:rPr lang="en-US" sz="1200" kern="1200" baseline="0" dirty="0" err="1" smtClean="0">
                          <a:solidFill>
                            <a:srgbClr val="002060"/>
                          </a:solidFill>
                          <a:latin typeface="+mn-lt"/>
                          <a:ea typeface="+mn-ea"/>
                          <a:cs typeface="+mn-cs"/>
                        </a:rPr>
                        <a:t>Micrservices</a:t>
                      </a:r>
                      <a:r>
                        <a:rPr lang="en-US" sz="1200" kern="1200" baseline="0" dirty="0" smtClean="0">
                          <a:solidFill>
                            <a:srgbClr val="002060"/>
                          </a:solidFill>
                          <a:latin typeface="+mn-lt"/>
                          <a:ea typeface="+mn-ea"/>
                          <a:cs typeface="+mn-cs"/>
                        </a:rPr>
                        <a:t> instead of VM based approach</a:t>
                      </a:r>
                      <a:endParaRPr lang="en-US" sz="1200" kern="1200" dirty="0" smtClean="0">
                        <a:solidFill>
                          <a:srgbClr val="002060"/>
                        </a:solidFill>
                        <a:latin typeface="+mn-lt"/>
                        <a:ea typeface="+mn-ea"/>
                        <a:cs typeface="+mn-cs"/>
                      </a:endParaRPr>
                    </a:p>
                  </a:txBody>
                  <a:tcPr/>
                </a:tc>
                <a:tc>
                  <a:txBody>
                    <a:bodyPr/>
                    <a:lstStyle/>
                    <a:p>
                      <a:pPr algn="ctr"/>
                      <a:r>
                        <a:rPr lang="en-US" sz="1200" dirty="0" smtClean="0">
                          <a:solidFill>
                            <a:srgbClr val="002060"/>
                          </a:solidFill>
                        </a:rPr>
                        <a:t>Scalability, and Cost efficiency</a:t>
                      </a:r>
                      <a:endParaRPr lang="en-US" sz="1200" dirty="0">
                        <a:solidFill>
                          <a:srgbClr val="002060"/>
                        </a:solidFill>
                      </a:endParaRPr>
                    </a:p>
                  </a:txBody>
                  <a:tcPr/>
                </a:tc>
                <a:tc>
                  <a:txBody>
                    <a:bodyPr/>
                    <a:lstStyle/>
                    <a:p>
                      <a:pPr algn="ctr"/>
                      <a:r>
                        <a:rPr lang="en-US" sz="1200" dirty="0" smtClean="0">
                          <a:solidFill>
                            <a:srgbClr val="002060"/>
                          </a:solidFill>
                        </a:rPr>
                        <a:t>2</a:t>
                      </a:r>
                      <a:endParaRPr lang="en-US" sz="1200" dirty="0">
                        <a:solidFill>
                          <a:srgbClr val="002060"/>
                        </a:solidFill>
                      </a:endParaRPr>
                    </a:p>
                  </a:txBody>
                  <a:tcPr/>
                </a:tc>
                <a:extLst>
                  <a:ext uri="{0D108BD9-81ED-4DB2-BD59-A6C34878D82A}">
                    <a16:rowId xmlns:a16="http://schemas.microsoft.com/office/drawing/2014/main" val="361068892"/>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5</a:t>
                      </a:r>
                    </a:p>
                  </a:txBody>
                  <a:tcPr/>
                </a:tc>
                <a:tc vMerge="1">
                  <a:txBody>
                    <a:bodyPr/>
                    <a:lstStyle/>
                    <a:p>
                      <a:endParaRPr lang="en-US" sz="1400" dirty="0">
                        <a:solidFill>
                          <a:srgbClr val="002060"/>
                        </a:solidFill>
                      </a:endParaRPr>
                    </a:p>
                  </a:txBody>
                  <a:tcPr/>
                </a:tc>
                <a:tc>
                  <a:txBody>
                    <a:bodyPr/>
                    <a:lstStyle/>
                    <a:p>
                      <a:r>
                        <a:rPr lang="en-US" sz="1200" dirty="0" smtClean="0">
                          <a:solidFill>
                            <a:srgbClr val="002060"/>
                          </a:solidFill>
                        </a:rPr>
                        <a:t>Application Security: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smtClean="0">
                          <a:solidFill>
                            <a:srgbClr val="002060"/>
                          </a:solidFill>
                          <a:latin typeface="+mn-lt"/>
                          <a:ea typeface="+mn-ea"/>
                          <a:cs typeface="+mn-cs"/>
                        </a:rPr>
                        <a:t>Detailed security testing and</a:t>
                      </a:r>
                      <a:r>
                        <a:rPr lang="en-US" sz="1200" kern="1200" baseline="0" dirty="0" smtClean="0">
                          <a:solidFill>
                            <a:srgbClr val="002060"/>
                          </a:solidFill>
                          <a:latin typeface="+mn-lt"/>
                          <a:ea typeface="+mn-ea"/>
                          <a:cs typeface="+mn-cs"/>
                        </a:rPr>
                        <a:t> remediating findings</a:t>
                      </a:r>
                      <a:endParaRPr lang="en-US" sz="1200" kern="1200" dirty="0" smtClean="0">
                        <a:solidFill>
                          <a:srgbClr val="002060"/>
                        </a:solidFill>
                        <a:latin typeface="+mn-lt"/>
                        <a:ea typeface="+mn-ea"/>
                        <a:cs typeface="+mn-cs"/>
                      </a:endParaRPr>
                    </a:p>
                  </a:txBody>
                  <a:tcPr/>
                </a:tc>
                <a:tc>
                  <a:txBody>
                    <a:bodyPr/>
                    <a:lstStyle/>
                    <a:p>
                      <a:pPr algn="ctr"/>
                      <a:r>
                        <a:rPr lang="en-US" sz="1200" dirty="0" smtClean="0">
                          <a:solidFill>
                            <a:srgbClr val="002060"/>
                          </a:solidFill>
                        </a:rPr>
                        <a:t>Security</a:t>
                      </a:r>
                      <a:endParaRPr lang="en-US" sz="1200" dirty="0">
                        <a:solidFill>
                          <a:srgbClr val="002060"/>
                        </a:solidFill>
                      </a:endParaRP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2830881329"/>
                  </a:ext>
                </a:extLst>
              </a:tr>
              <a:tr h="5837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6</a:t>
                      </a:r>
                    </a:p>
                  </a:txBody>
                  <a:tcPr/>
                </a:tc>
                <a:tc vMerge="1">
                  <a:txBody>
                    <a:bodyPr/>
                    <a:lstStyle/>
                    <a:p>
                      <a:endParaRPr lang="en-US" sz="1400" dirty="0">
                        <a:solidFill>
                          <a:srgbClr val="002060"/>
                        </a:solidFill>
                      </a:endParaRPr>
                    </a:p>
                  </a:txBody>
                  <a:tcPr/>
                </a:tc>
                <a:tc>
                  <a:txBody>
                    <a:bodyPr/>
                    <a:lstStyle/>
                    <a:p>
                      <a:r>
                        <a:rPr lang="en-US" sz="1200" dirty="0" smtClean="0">
                          <a:solidFill>
                            <a:srgbClr val="002060"/>
                          </a:solidFill>
                        </a:rPr>
                        <a:t>Code maintainability: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solidFill>
                            <a:srgbClr val="002060"/>
                          </a:solidFill>
                        </a:rPr>
                        <a:t>Leverage tools like CAST for PQM analysis and hence for code maintainability related refactoring</a:t>
                      </a:r>
                      <a:endParaRPr lang="en-US" sz="1200" dirty="0">
                        <a:solidFill>
                          <a:srgbClr val="002060"/>
                        </a:solidFill>
                      </a:endParaRPr>
                    </a:p>
                  </a:txBody>
                  <a:tcPr/>
                </a:tc>
                <a:tc>
                  <a:txBody>
                    <a:bodyPr/>
                    <a:lstStyle/>
                    <a:p>
                      <a:pPr algn="ctr"/>
                      <a:r>
                        <a:rPr lang="en-US" sz="1200" dirty="0" smtClean="0">
                          <a:solidFill>
                            <a:srgbClr val="002060"/>
                          </a:solidFill>
                        </a:rPr>
                        <a:t>Maintainability</a:t>
                      </a:r>
                      <a:endParaRPr lang="en-US" sz="1200" dirty="0">
                        <a:solidFill>
                          <a:srgbClr val="002060"/>
                        </a:solidFill>
                      </a:endParaRPr>
                    </a:p>
                  </a:txBody>
                  <a:tcPr/>
                </a:tc>
                <a:tc>
                  <a:txBody>
                    <a:bodyPr/>
                    <a:lstStyle/>
                    <a:p>
                      <a:pPr algn="ctr"/>
                      <a:r>
                        <a:rPr lang="en-US" sz="1200" dirty="0" smtClean="0">
                          <a:solidFill>
                            <a:srgbClr val="002060"/>
                          </a:solidFill>
                        </a:rPr>
                        <a:t>2</a:t>
                      </a:r>
                      <a:endParaRPr lang="en-US" sz="1200" dirty="0">
                        <a:solidFill>
                          <a:srgbClr val="002060"/>
                        </a:solidFill>
                      </a:endParaRPr>
                    </a:p>
                  </a:txBody>
                  <a:tcPr/>
                </a:tc>
                <a:extLst>
                  <a:ext uri="{0D108BD9-81ED-4DB2-BD59-A6C34878D82A}">
                    <a16:rowId xmlns:a16="http://schemas.microsoft.com/office/drawing/2014/main" val="2150503916"/>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7</a:t>
                      </a:r>
                      <a:endParaRPr lang="en-US" sz="1200" dirty="0">
                        <a:solidFill>
                          <a:srgbClr val="002060"/>
                        </a:solidFill>
                      </a:endParaRPr>
                    </a:p>
                  </a:txBody>
                  <a:tcPr/>
                </a:tc>
                <a:tc>
                  <a:txBody>
                    <a:bodyPr/>
                    <a:lstStyle/>
                    <a:p>
                      <a:r>
                        <a:rPr lang="en-US" sz="1200" dirty="0" smtClean="0">
                          <a:solidFill>
                            <a:srgbClr val="002060"/>
                          </a:solidFill>
                        </a:rPr>
                        <a:t>Infra and Support</a:t>
                      </a:r>
                      <a:endParaRPr lang="en-US" sz="1200" dirty="0">
                        <a:solidFill>
                          <a:srgbClr val="002060"/>
                        </a:solidFill>
                      </a:endParaRPr>
                    </a:p>
                  </a:txBody>
                  <a:tcPr/>
                </a:tc>
                <a:tc>
                  <a:txBody>
                    <a:bodyPr/>
                    <a:lstStyle/>
                    <a:p>
                      <a:pPr marL="0" indent="0">
                        <a:buFont typeface="Arial" panose="020B0604020202020204" pitchFamily="34" charset="0"/>
                        <a:buNone/>
                      </a:pPr>
                      <a:r>
                        <a:rPr lang="en-US" sz="1200" kern="1200" dirty="0" smtClean="0">
                          <a:solidFill>
                            <a:srgbClr val="002060"/>
                          </a:solidFill>
                          <a:latin typeface="+mn-lt"/>
                          <a:ea typeface="+mn-ea"/>
                          <a:cs typeface="+mn-cs"/>
                        </a:rPr>
                        <a:t>Infra architecture and security with</a:t>
                      </a:r>
                    </a:p>
                    <a:p>
                      <a:pPr marL="285750" indent="-285750">
                        <a:buFont typeface="Arial" panose="020B0604020202020204" pitchFamily="34" charset="0"/>
                        <a:buChar char="•"/>
                      </a:pPr>
                      <a:r>
                        <a:rPr lang="en-US" sz="1200" kern="1200" baseline="0" dirty="0" smtClean="0">
                          <a:solidFill>
                            <a:srgbClr val="002060"/>
                          </a:solidFill>
                          <a:latin typeface="+mn-lt"/>
                          <a:ea typeface="+mn-ea"/>
                          <a:cs typeface="+mn-cs"/>
                        </a:rPr>
                        <a:t>Adopt multi-AZ deployment for High Availability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smtClean="0">
                          <a:solidFill>
                            <a:srgbClr val="002060"/>
                          </a:solidFill>
                          <a:latin typeface="+mn-lt"/>
                          <a:ea typeface="+mn-ea"/>
                          <a:cs typeface="+mn-cs"/>
                        </a:rPr>
                        <a:t>Adopt minimum</a:t>
                      </a:r>
                      <a:r>
                        <a:rPr lang="en-US" sz="1200" kern="1200" baseline="0" dirty="0" smtClean="0">
                          <a:solidFill>
                            <a:srgbClr val="002060"/>
                          </a:solidFill>
                          <a:latin typeface="+mn-lt"/>
                          <a:ea typeface="+mn-ea"/>
                          <a:cs typeface="+mn-cs"/>
                        </a:rPr>
                        <a:t> permission principles for script/jobs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baseline="0" dirty="0" smtClean="0">
                          <a:solidFill>
                            <a:srgbClr val="002060"/>
                          </a:solidFill>
                          <a:latin typeface="+mn-lt"/>
                          <a:ea typeface="+mn-ea"/>
                          <a:cs typeface="+mn-cs"/>
                        </a:rPr>
                        <a:t>Adopt efficient monitoring on  scripts, jobs and explore SRE overall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solidFill>
                            <a:srgbClr val="002060"/>
                          </a:solidFill>
                        </a:rPr>
                        <a:t>Load testing,</a:t>
                      </a:r>
                      <a:r>
                        <a:rPr lang="en-US" sz="1200" baseline="0" dirty="0" smtClean="0">
                          <a:solidFill>
                            <a:srgbClr val="002060"/>
                          </a:solidFill>
                        </a:rPr>
                        <a:t> benchmarking and capacity planning</a:t>
                      </a:r>
                      <a:endParaRPr lang="en-US" sz="1200" dirty="0" smtClean="0">
                        <a:solidFill>
                          <a:srgbClr val="00206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System Stability,</a:t>
                      </a:r>
                      <a:r>
                        <a:rPr lang="en-US" sz="1200" baseline="0" dirty="0" smtClean="0">
                          <a:solidFill>
                            <a:srgbClr val="002060"/>
                          </a:solidFill>
                        </a:rPr>
                        <a:t> Maintainability and Cost efficiency</a:t>
                      </a:r>
                      <a:endParaRPr lang="en-US" sz="1200" dirty="0" smtClean="0">
                        <a:solidFill>
                          <a:srgbClr val="002060"/>
                        </a:solidFill>
                      </a:endParaRPr>
                    </a:p>
                    <a:p>
                      <a:pPr algn="ctr"/>
                      <a:endParaRPr lang="en-US" sz="1200" dirty="0">
                        <a:solidFill>
                          <a:srgbClr val="002060"/>
                        </a:solidFill>
                      </a:endParaRPr>
                    </a:p>
                  </a:txBody>
                  <a:tcPr/>
                </a:tc>
                <a:tc>
                  <a:txBody>
                    <a:bodyPr/>
                    <a:lstStyle/>
                    <a:p>
                      <a:pPr algn="ctr"/>
                      <a:r>
                        <a:rPr lang="en-US" sz="1200" dirty="0" smtClean="0">
                          <a:solidFill>
                            <a:srgbClr val="002060"/>
                          </a:solidFill>
                        </a:rPr>
                        <a:t>2</a:t>
                      </a:r>
                      <a:endParaRPr lang="en-US" sz="1200" dirty="0">
                        <a:solidFill>
                          <a:srgbClr val="002060"/>
                        </a:solidFill>
                      </a:endParaRPr>
                    </a:p>
                  </a:txBody>
                  <a:tcPr/>
                </a:tc>
                <a:extLst>
                  <a:ext uri="{0D108BD9-81ED-4DB2-BD59-A6C34878D82A}">
                    <a16:rowId xmlns:a16="http://schemas.microsoft.com/office/drawing/2014/main" val="2126826824"/>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8</a:t>
                      </a:r>
                      <a:endParaRPr lang="en-US" sz="1200" dirty="0">
                        <a:solidFill>
                          <a:srgbClr val="002060"/>
                        </a:solidFill>
                      </a:endParaRPr>
                    </a:p>
                  </a:txBody>
                  <a:tcPr/>
                </a:tc>
                <a:tc rowSpan="2">
                  <a:txBody>
                    <a:bodyPr/>
                    <a:lstStyle/>
                    <a:p>
                      <a:endParaRPr lang="en-US" sz="1200" dirty="0" smtClean="0">
                        <a:solidFill>
                          <a:srgbClr val="002060"/>
                        </a:solidFill>
                      </a:endParaRPr>
                    </a:p>
                    <a:p>
                      <a:endParaRPr lang="en-US" sz="1200" dirty="0" smtClean="0">
                        <a:solidFill>
                          <a:srgbClr val="002060"/>
                        </a:solidFill>
                      </a:endParaRPr>
                    </a:p>
                    <a:p>
                      <a:r>
                        <a:rPr lang="en-US" sz="1200" dirty="0" smtClean="0">
                          <a:solidFill>
                            <a:srgbClr val="002060"/>
                          </a:solidFill>
                        </a:rPr>
                        <a:t>Development/Process/Tools</a:t>
                      </a:r>
                      <a:endParaRPr lang="en-US" sz="1200" dirty="0">
                        <a:solidFill>
                          <a:srgbClr val="002060"/>
                        </a:solidFill>
                      </a:endParaRPr>
                    </a:p>
                  </a:txBody>
                  <a:tcPr/>
                </a:tc>
                <a:tc>
                  <a:txBody>
                    <a:bodyPr/>
                    <a:lstStyle/>
                    <a:p>
                      <a:r>
                        <a:rPr lang="en-US" sz="1200" dirty="0" smtClean="0">
                          <a:solidFill>
                            <a:srgbClr val="002060"/>
                          </a:solidFill>
                        </a:rPr>
                        <a:t>Requirement and Testing:</a:t>
                      </a:r>
                    </a:p>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Define agreed process on User stories review and sign off</a:t>
                      </a:r>
                    </a:p>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UAT test scripts visibility at early LC stages of development</a:t>
                      </a:r>
                      <a:endParaRPr lang="en-US" sz="1200" dirty="0">
                        <a:solidFill>
                          <a:srgbClr val="002060"/>
                        </a:solidFill>
                      </a:endParaRPr>
                    </a:p>
                  </a:txBody>
                  <a:tcPr/>
                </a:tc>
                <a:tc>
                  <a:txBody>
                    <a:bodyPr/>
                    <a:lstStyle/>
                    <a:p>
                      <a:pPr algn="ctr"/>
                      <a:r>
                        <a:rPr lang="en-US" sz="1200" dirty="0" smtClean="0">
                          <a:solidFill>
                            <a:srgbClr val="002060"/>
                          </a:solidFill>
                        </a:rPr>
                        <a:t>Quality</a:t>
                      </a:r>
                      <a:endParaRPr lang="en-US" sz="1200" dirty="0">
                        <a:solidFill>
                          <a:srgbClr val="002060"/>
                        </a:solidFill>
                      </a:endParaRP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2587137039"/>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9</a:t>
                      </a:r>
                      <a:endParaRPr lang="en-US" sz="1200" dirty="0">
                        <a:solidFill>
                          <a:srgbClr val="002060"/>
                        </a:solidFill>
                      </a:endParaRPr>
                    </a:p>
                  </a:txBody>
                  <a:tcPr/>
                </a:tc>
                <a:tc vMerge="1">
                  <a:txBody>
                    <a:bodyPr/>
                    <a:lstStyle/>
                    <a:p>
                      <a:endParaRPr lang="en-US" sz="1400" dirty="0">
                        <a:solidFill>
                          <a:srgbClr val="002060"/>
                        </a:solidFill>
                      </a:endParaRPr>
                    </a:p>
                  </a:txBody>
                  <a:tcPr/>
                </a:tc>
                <a:tc>
                  <a:txBody>
                    <a:bodyPr/>
                    <a:lstStyle/>
                    <a:p>
                      <a:r>
                        <a:rPr lang="en-US" sz="1200" dirty="0" smtClean="0">
                          <a:solidFill>
                            <a:srgbClr val="002060"/>
                          </a:solidFill>
                        </a:rPr>
                        <a:t>Tools usage: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solidFill>
                            <a:srgbClr val="002060"/>
                          </a:solidFill>
                        </a:rPr>
                        <a:t>Strategy on test data preparation and test case review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mtClean="0">
                          <a:solidFill>
                            <a:srgbClr val="002060"/>
                          </a:solidFill>
                        </a:rPr>
                        <a:t>Quality</a:t>
                      </a:r>
                    </a:p>
                  </a:txBody>
                  <a:tcPr/>
                </a:tc>
                <a:tc>
                  <a:txBody>
                    <a:bodyPr/>
                    <a:lstStyle/>
                    <a:p>
                      <a:pPr algn="ctr"/>
                      <a:r>
                        <a:rPr lang="en-US" sz="1200" dirty="0" smtClean="0">
                          <a:solidFill>
                            <a:srgbClr val="002060"/>
                          </a:solidFill>
                        </a:rPr>
                        <a:t>1</a:t>
                      </a:r>
                      <a:endParaRPr lang="en-US" sz="1200" dirty="0">
                        <a:solidFill>
                          <a:srgbClr val="002060"/>
                        </a:solidFill>
                      </a:endParaRPr>
                    </a:p>
                  </a:txBody>
                  <a:tcPr/>
                </a:tc>
                <a:extLst>
                  <a:ext uri="{0D108BD9-81ED-4DB2-BD59-A6C34878D82A}">
                    <a16:rowId xmlns:a16="http://schemas.microsoft.com/office/drawing/2014/main" val="3306785321"/>
                  </a:ext>
                </a:extLst>
              </a:tr>
            </a:tbl>
          </a:graphicData>
        </a:graphic>
      </p:graphicFrame>
    </p:spTree>
    <p:extLst>
      <p:ext uri="{BB962C8B-B14F-4D97-AF65-F5344CB8AC3E}">
        <p14:creationId xmlns:p14="http://schemas.microsoft.com/office/powerpoint/2010/main" val="1329916409"/>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kern="1200" dirty="0">
                <a:solidFill>
                  <a:srgbClr val="007CC3"/>
                </a:solidFill>
                <a:latin typeface="+mn-lt"/>
                <a:sym typeface="Calibri"/>
              </a:rPr>
              <a:t>Thank you!</a:t>
            </a:r>
          </a:p>
        </p:txBody>
      </p:sp>
    </p:spTree>
    <p:extLst>
      <p:ext uri="{BB962C8B-B14F-4D97-AF65-F5344CB8AC3E}">
        <p14:creationId xmlns:p14="http://schemas.microsoft.com/office/powerpoint/2010/main" val="3216400497"/>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61347" y="200352"/>
            <a:ext cx="11630733" cy="603981"/>
          </a:xfrm>
        </p:spPr>
        <p:txBody>
          <a:bodyPr/>
          <a:lstStyle/>
          <a:p>
            <a:r>
              <a:rPr lang="en-US" dirty="0"/>
              <a:t>Architecture/Design and Technology - Key Findings </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p:txBody>
          <a:bodyPr/>
          <a:lstStyle/>
          <a:p>
            <a:fld id="{86CB4B4D-7CA3-9044-876B-883B54F8677D}" type="slidenum">
              <a:rPr lang="en-US" smtClean="0"/>
              <a:pPr/>
              <a:t>10</a:t>
            </a:fld>
            <a:endParaRPr lang="en-US" dirty="0"/>
          </a:p>
        </p:txBody>
      </p:sp>
      <p:graphicFrame>
        <p:nvGraphicFramePr>
          <p:cNvPr id="6" name="Diagram 5">
            <a:extLst>
              <a:ext uri="{FF2B5EF4-FFF2-40B4-BE49-F238E27FC236}">
                <a16:creationId xmlns:a16="http://schemas.microsoft.com/office/drawing/2014/main" id="{D164F741-BF34-4E27-91D9-DA732877CC6A}"/>
              </a:ext>
            </a:extLst>
          </p:cNvPr>
          <p:cNvGraphicFramePr/>
          <p:nvPr>
            <p:extLst>
              <p:ext uri="{D42A27DB-BD31-4B8C-83A1-F6EECF244321}">
                <p14:modId xmlns:p14="http://schemas.microsoft.com/office/powerpoint/2010/main" val="1570319011"/>
              </p:ext>
            </p:extLst>
          </p:nvPr>
        </p:nvGraphicFramePr>
        <p:xfrm>
          <a:off x="823262" y="804333"/>
          <a:ext cx="11147541" cy="23349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a:extLst>
              <a:ext uri="{FF2B5EF4-FFF2-40B4-BE49-F238E27FC236}">
                <a16:creationId xmlns:a16="http://schemas.microsoft.com/office/drawing/2014/main" id="{FB992AD9-1675-4E08-9FDF-EFDFA307773A}"/>
              </a:ext>
            </a:extLst>
          </p:cNvPr>
          <p:cNvGrpSpPr/>
          <p:nvPr/>
        </p:nvGrpSpPr>
        <p:grpSpPr>
          <a:xfrm>
            <a:off x="823262" y="3525725"/>
            <a:ext cx="3561009" cy="2814451"/>
            <a:chOff x="1778" y="486346"/>
            <a:chExt cx="1733549" cy="1491307"/>
          </a:xfrm>
        </p:grpSpPr>
        <p:sp>
          <p:nvSpPr>
            <p:cNvPr id="9" name="Rectangle 8">
              <a:extLst>
                <a:ext uri="{FF2B5EF4-FFF2-40B4-BE49-F238E27FC236}">
                  <a16:creationId xmlns:a16="http://schemas.microsoft.com/office/drawing/2014/main" id="{7CA0A563-8685-4BC1-A742-E0A551589796}"/>
                </a:ext>
              </a:extLst>
            </p:cNvPr>
            <p:cNvSpPr/>
            <p:nvPr/>
          </p:nvSpPr>
          <p:spPr>
            <a:xfrm>
              <a:off x="1778" y="486346"/>
              <a:ext cx="1733549" cy="1491307"/>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0" name="TextBox 9">
              <a:extLst>
                <a:ext uri="{FF2B5EF4-FFF2-40B4-BE49-F238E27FC236}">
                  <a16:creationId xmlns:a16="http://schemas.microsoft.com/office/drawing/2014/main" id="{EA3C66E9-4FA9-4CAE-AF9F-8EE5AF31D29F}"/>
                </a:ext>
              </a:extLst>
            </p:cNvPr>
            <p:cNvSpPr txBox="1"/>
            <p:nvPr/>
          </p:nvSpPr>
          <p:spPr>
            <a:xfrm>
              <a:off x="1778" y="486346"/>
              <a:ext cx="1733549" cy="14913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Common method used for checking user permissions needs more documentation.</a:t>
              </a:r>
            </a:p>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Abstract out role implementation logic by using appropriate design patterns</a:t>
              </a:r>
            </a:p>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Inject the right implementation based on user’s role.</a:t>
              </a:r>
            </a:p>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When new roles are added only new implementations need to be provided.</a:t>
              </a:r>
            </a:p>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Methods could be made smaller to increase readability and maintainability</a:t>
              </a:r>
            </a:p>
            <a:p>
              <a:pPr marL="152396" lvl="1" indent="-152396" defTabSz="888978">
                <a:lnSpc>
                  <a:spcPct val="90000"/>
                </a:lnSpc>
                <a:spcBef>
                  <a:spcPct val="0"/>
                </a:spcBef>
                <a:spcAft>
                  <a:spcPct val="15000"/>
                </a:spcAft>
                <a:buChar char="•"/>
              </a:pPr>
              <a:r>
                <a:rPr lang="en-US" sz="1200" dirty="0">
                  <a:solidFill>
                    <a:srgbClr val="000000">
                      <a:hueOff val="0"/>
                      <a:satOff val="0"/>
                      <a:lumOff val="0"/>
                      <a:alphaOff val="0"/>
                    </a:srgbClr>
                  </a:solidFill>
                  <a:latin typeface="Calibri"/>
                  <a:cs typeface="Calibri"/>
                </a:rPr>
                <a:t>Implement XSS prevention methods to ensure data in local storage is not accessed by unauthorized persons or use secure cookies for storing tokens and implement CSRF </a:t>
              </a:r>
              <a:r>
                <a:rPr lang="en-US" sz="1200">
                  <a:solidFill>
                    <a:srgbClr val="000000">
                      <a:hueOff val="0"/>
                      <a:satOff val="0"/>
                      <a:lumOff val="0"/>
                      <a:alphaOff val="0"/>
                    </a:srgbClr>
                  </a:solidFill>
                  <a:latin typeface="Calibri"/>
                  <a:cs typeface="Calibri"/>
                </a:rPr>
                <a:t>protection features</a:t>
              </a:r>
              <a:endParaRPr lang="en-US" sz="1200" dirty="0">
                <a:solidFill>
                  <a:srgbClr val="000000">
                    <a:hueOff val="0"/>
                    <a:satOff val="0"/>
                    <a:lumOff val="0"/>
                    <a:alphaOff val="0"/>
                  </a:srgbClr>
                </a:solidFill>
                <a:latin typeface="Calibri"/>
                <a:cs typeface="Calibri"/>
              </a:endParaRPr>
            </a:p>
            <a:p>
              <a:pPr marL="0" lvl="1" defTabSz="888978">
                <a:lnSpc>
                  <a:spcPct val="90000"/>
                </a:lnSpc>
                <a:spcBef>
                  <a:spcPct val="0"/>
                </a:spcBef>
                <a:spcAft>
                  <a:spcPct val="15000"/>
                </a:spcAft>
              </a:pPr>
              <a:endParaRPr lang="en-US" sz="1200" dirty="0">
                <a:solidFill>
                  <a:srgbClr val="000000">
                    <a:hueOff val="0"/>
                    <a:satOff val="0"/>
                    <a:lumOff val="0"/>
                    <a:alphaOff val="0"/>
                  </a:srgbClr>
                </a:solidFill>
                <a:latin typeface="Calibri"/>
                <a:cs typeface="Calibri"/>
              </a:endParaRPr>
            </a:p>
          </p:txBody>
        </p:sp>
      </p:grpSp>
      <p:grpSp>
        <p:nvGrpSpPr>
          <p:cNvPr id="14" name="Group 13">
            <a:extLst>
              <a:ext uri="{FF2B5EF4-FFF2-40B4-BE49-F238E27FC236}">
                <a16:creationId xmlns:a16="http://schemas.microsoft.com/office/drawing/2014/main" id="{AFB98B5C-FC29-42B4-8CA2-9DE960A9EEFD}"/>
              </a:ext>
            </a:extLst>
          </p:cNvPr>
          <p:cNvGrpSpPr/>
          <p:nvPr/>
        </p:nvGrpSpPr>
        <p:grpSpPr>
          <a:xfrm>
            <a:off x="8717370" y="3573442"/>
            <a:ext cx="3253433" cy="2814452"/>
            <a:chOff x="1778" y="486346"/>
            <a:chExt cx="1733549" cy="1491307"/>
          </a:xfrm>
        </p:grpSpPr>
        <p:sp>
          <p:nvSpPr>
            <p:cNvPr id="15" name="Rectangle 14">
              <a:extLst>
                <a:ext uri="{FF2B5EF4-FFF2-40B4-BE49-F238E27FC236}">
                  <a16:creationId xmlns:a16="http://schemas.microsoft.com/office/drawing/2014/main" id="{BE4A4BA0-0AAD-48E0-AB23-B04EDAFD8C59}"/>
                </a:ext>
              </a:extLst>
            </p:cNvPr>
            <p:cNvSpPr/>
            <p:nvPr/>
          </p:nvSpPr>
          <p:spPr>
            <a:xfrm>
              <a:off x="1778" y="486346"/>
              <a:ext cx="1733549" cy="1491307"/>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6" name="TextBox 15">
              <a:extLst>
                <a:ext uri="{FF2B5EF4-FFF2-40B4-BE49-F238E27FC236}">
                  <a16:creationId xmlns:a16="http://schemas.microsoft.com/office/drawing/2014/main" id="{5D697969-AA06-4807-A3A1-9A4A443E7A41}"/>
                </a:ext>
              </a:extLst>
            </p:cNvPr>
            <p:cNvSpPr txBox="1"/>
            <p:nvPr/>
          </p:nvSpPr>
          <p:spPr>
            <a:xfrm>
              <a:off x="1778" y="486346"/>
              <a:ext cx="1733549" cy="14913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152396" lvl="1" indent="-152396" defTabSz="888978">
                <a:lnSpc>
                  <a:spcPct val="90000"/>
                </a:lnSpc>
                <a:spcBef>
                  <a:spcPct val="0"/>
                </a:spcBef>
                <a:spcAft>
                  <a:spcPct val="15000"/>
                </a:spcAft>
                <a:buChar char="•"/>
              </a:pPr>
              <a:r>
                <a:rPr lang="en-US" sz="1200" dirty="0"/>
                <a:t>Reduce the window of data extraction from 24 hours to 1 hour or less to avoid duplicate processing.</a:t>
              </a:r>
            </a:p>
            <a:p>
              <a:pPr marL="152396" lvl="1" indent="-152396" defTabSz="888978">
                <a:lnSpc>
                  <a:spcPct val="90000"/>
                </a:lnSpc>
                <a:spcBef>
                  <a:spcPct val="0"/>
                </a:spcBef>
                <a:spcAft>
                  <a:spcPct val="15000"/>
                </a:spcAft>
                <a:buChar char="•"/>
              </a:pPr>
              <a:r>
                <a:rPr lang="en-US" sz="1200" dirty="0"/>
                <a:t>Having a window of 1 hour would ensure there is no data loss</a:t>
              </a:r>
            </a:p>
            <a:p>
              <a:pPr marL="152396" lvl="1" indent="-152396" defTabSz="888978">
                <a:lnSpc>
                  <a:spcPct val="90000"/>
                </a:lnSpc>
                <a:spcBef>
                  <a:spcPct val="0"/>
                </a:spcBef>
                <a:spcAft>
                  <a:spcPct val="15000"/>
                </a:spcAft>
                <a:buChar char="•"/>
              </a:pPr>
              <a:r>
                <a:rPr lang="en-US" sz="1200" dirty="0"/>
                <a:t>Move the script execution from </a:t>
              </a:r>
              <a:r>
                <a:rPr lang="en-US" sz="1200" dirty="0" err="1"/>
                <a:t>cron</a:t>
              </a:r>
              <a:r>
                <a:rPr lang="en-US" sz="1200" dirty="0"/>
                <a:t> jobs to Azure functions</a:t>
              </a:r>
              <a:r>
                <a:rPr lang="en-US" sz="1200" dirty="0" smtClean="0"/>
                <a:t>./ </a:t>
              </a:r>
              <a:r>
                <a:rPr lang="en-US" sz="1200" dirty="0" err="1" smtClean="0"/>
                <a:t>ControlM</a:t>
              </a:r>
              <a:endParaRPr lang="en-US" sz="1200" dirty="0"/>
            </a:p>
            <a:p>
              <a:pPr marL="152396" lvl="1" indent="-152396" defTabSz="888978">
                <a:lnSpc>
                  <a:spcPct val="90000"/>
                </a:lnSpc>
                <a:spcBef>
                  <a:spcPct val="0"/>
                </a:spcBef>
                <a:spcAft>
                  <a:spcPct val="15000"/>
                </a:spcAft>
                <a:buChar char="•"/>
              </a:pPr>
              <a:r>
                <a:rPr lang="en-US" sz="1200" dirty="0"/>
                <a:t>Provide service and user accounts with minimum permissions so that unnecessary actions are not performed</a:t>
              </a:r>
            </a:p>
            <a:p>
              <a:pPr marL="152396" lvl="1" indent="-152396" defTabSz="888978">
                <a:lnSpc>
                  <a:spcPct val="90000"/>
                </a:lnSpc>
                <a:spcBef>
                  <a:spcPct val="0"/>
                </a:spcBef>
                <a:spcAft>
                  <a:spcPct val="15000"/>
                </a:spcAft>
                <a:buChar char="•"/>
              </a:pPr>
              <a:r>
                <a:rPr lang="en-US" sz="1200" dirty="0"/>
                <a:t>Capture all OS/system level events and monitor for suspicious activity</a:t>
              </a:r>
            </a:p>
            <a:p>
              <a:pPr marL="152396" lvl="1" indent="-152396" defTabSz="888978">
                <a:lnSpc>
                  <a:spcPct val="90000"/>
                </a:lnSpc>
                <a:spcBef>
                  <a:spcPct val="0"/>
                </a:spcBef>
                <a:spcAft>
                  <a:spcPct val="15000"/>
                </a:spcAft>
                <a:buChar char="•"/>
              </a:pPr>
              <a:r>
                <a:rPr lang="en-US" sz="1200" dirty="0"/>
                <a:t>Monitor and alert on long running jobs to avoid queuing up of jobs and resource exhaustion</a:t>
              </a:r>
            </a:p>
          </p:txBody>
        </p:sp>
      </p:grpSp>
      <p:sp>
        <p:nvSpPr>
          <p:cNvPr id="17" name="TextBox 16">
            <a:extLst>
              <a:ext uri="{FF2B5EF4-FFF2-40B4-BE49-F238E27FC236}">
                <a16:creationId xmlns:a16="http://schemas.microsoft.com/office/drawing/2014/main" id="{BCD2321E-B826-4CAA-A397-3E879F96B4AD}"/>
              </a:ext>
            </a:extLst>
          </p:cNvPr>
          <p:cNvSpPr txBox="1"/>
          <p:nvPr/>
        </p:nvSpPr>
        <p:spPr>
          <a:xfrm rot="16200000">
            <a:off x="-603540" y="2328454"/>
            <a:ext cx="2129883"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t">
            <a:spAutoFit/>
          </a:bodyPr>
          <a:lstStyle/>
          <a:p>
            <a:pPr algn="ctr" defTabSz="609585" hangingPunct="0"/>
            <a:r>
              <a:rPr lang="en-US" b="1" dirty="0">
                <a:solidFill>
                  <a:srgbClr val="000000"/>
                </a:solidFill>
                <a:sym typeface="Calibri"/>
              </a:rPr>
              <a:t>ISSUES </a:t>
            </a:r>
          </a:p>
        </p:txBody>
      </p:sp>
      <p:sp>
        <p:nvSpPr>
          <p:cNvPr id="18" name="TextBox 17">
            <a:extLst>
              <a:ext uri="{FF2B5EF4-FFF2-40B4-BE49-F238E27FC236}">
                <a16:creationId xmlns:a16="http://schemas.microsoft.com/office/drawing/2014/main" id="{BCD2321E-B826-4CAA-A397-3E879F96B4AD}"/>
              </a:ext>
            </a:extLst>
          </p:cNvPr>
          <p:cNvSpPr txBox="1"/>
          <p:nvPr/>
        </p:nvSpPr>
        <p:spPr>
          <a:xfrm rot="16200000">
            <a:off x="-594333" y="4640684"/>
            <a:ext cx="2129883"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t">
            <a:spAutoFit/>
          </a:bodyPr>
          <a:lstStyle/>
          <a:p>
            <a:pPr algn="ctr" defTabSz="609585" hangingPunct="0"/>
            <a:r>
              <a:rPr lang="en-US" b="1" dirty="0">
                <a:solidFill>
                  <a:srgbClr val="000000"/>
                </a:solidFill>
                <a:sym typeface="Calibri"/>
              </a:rPr>
              <a:t>RECOMMENDATION </a:t>
            </a:r>
          </a:p>
        </p:txBody>
      </p:sp>
      <p:sp>
        <p:nvSpPr>
          <p:cNvPr id="23" name="Oval 22"/>
          <p:cNvSpPr/>
          <p:nvPr/>
        </p:nvSpPr>
        <p:spPr>
          <a:xfrm>
            <a:off x="11683005" y="61807"/>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1</a:t>
            </a:r>
          </a:p>
        </p:txBody>
      </p:sp>
      <p:grpSp>
        <p:nvGrpSpPr>
          <p:cNvPr id="19" name="Group 18">
            <a:extLst>
              <a:ext uri="{FF2B5EF4-FFF2-40B4-BE49-F238E27FC236}">
                <a16:creationId xmlns:a16="http://schemas.microsoft.com/office/drawing/2014/main" id="{336F928C-40A2-4ADF-8E88-7362D3FA173D}"/>
              </a:ext>
            </a:extLst>
          </p:cNvPr>
          <p:cNvGrpSpPr/>
          <p:nvPr/>
        </p:nvGrpSpPr>
        <p:grpSpPr>
          <a:xfrm>
            <a:off x="4770315" y="3566947"/>
            <a:ext cx="3561009" cy="2795911"/>
            <a:chOff x="1778" y="486346"/>
            <a:chExt cx="1733549" cy="1491307"/>
          </a:xfrm>
        </p:grpSpPr>
        <p:sp>
          <p:nvSpPr>
            <p:cNvPr id="20" name="Rectangle 19">
              <a:extLst>
                <a:ext uri="{FF2B5EF4-FFF2-40B4-BE49-F238E27FC236}">
                  <a16:creationId xmlns:a16="http://schemas.microsoft.com/office/drawing/2014/main" id="{0C17178B-65AD-4C04-908F-C5459AB935DC}"/>
                </a:ext>
              </a:extLst>
            </p:cNvPr>
            <p:cNvSpPr/>
            <p:nvPr/>
          </p:nvSpPr>
          <p:spPr>
            <a:xfrm>
              <a:off x="1778" y="486346"/>
              <a:ext cx="1733549" cy="1491307"/>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1" name="TextBox 20">
              <a:extLst>
                <a:ext uri="{FF2B5EF4-FFF2-40B4-BE49-F238E27FC236}">
                  <a16:creationId xmlns:a16="http://schemas.microsoft.com/office/drawing/2014/main" id="{1AAEE931-A656-4319-A285-BABF73B2ADB6}"/>
                </a:ext>
              </a:extLst>
            </p:cNvPr>
            <p:cNvSpPr txBox="1"/>
            <p:nvPr/>
          </p:nvSpPr>
          <p:spPr>
            <a:xfrm>
              <a:off x="1778" y="486346"/>
              <a:ext cx="1733549" cy="14913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152396" lvl="1" indent="-152396" defTabSz="888978">
                <a:lnSpc>
                  <a:spcPct val="90000"/>
                </a:lnSpc>
                <a:spcBef>
                  <a:spcPct val="0"/>
                </a:spcBef>
                <a:spcAft>
                  <a:spcPct val="15000"/>
                </a:spcAft>
                <a:buChar char="•"/>
              </a:pPr>
              <a:r>
                <a:rPr lang="en-US" sz="1200" dirty="0"/>
                <a:t>Debugging with the help of elastic search’s explain API to identify the reason for incorrect search results</a:t>
              </a:r>
            </a:p>
            <a:p>
              <a:pPr marL="152396" lvl="1" indent="-152396" defTabSz="888978">
                <a:lnSpc>
                  <a:spcPct val="90000"/>
                </a:lnSpc>
                <a:spcBef>
                  <a:spcPct val="0"/>
                </a:spcBef>
                <a:spcAft>
                  <a:spcPct val="15000"/>
                </a:spcAft>
                <a:buChar char="•"/>
              </a:pPr>
              <a:r>
                <a:rPr lang="en-US" sz="1200" dirty="0"/>
                <a:t>Custom analyzers may need to be developed based on the search patterns</a:t>
              </a:r>
            </a:p>
            <a:p>
              <a:pPr marL="152396" lvl="1" indent="-152396" defTabSz="888978">
                <a:lnSpc>
                  <a:spcPct val="90000"/>
                </a:lnSpc>
                <a:spcBef>
                  <a:spcPct val="0"/>
                </a:spcBef>
                <a:spcAft>
                  <a:spcPct val="15000"/>
                </a:spcAft>
                <a:buChar char="•"/>
              </a:pPr>
              <a:r>
                <a:rPr lang="en-US" sz="1200" dirty="0"/>
                <a:t>Evaluate alternatives to </a:t>
              </a:r>
              <a:r>
                <a:rPr lang="en-US" sz="1200" dirty="0" err="1"/>
                <a:t>FSCrawler</a:t>
              </a:r>
              <a:r>
                <a:rPr lang="en-US" sz="1200" dirty="0"/>
                <a:t>, like Ingest Attachment Processor plugin </a:t>
              </a:r>
            </a:p>
            <a:p>
              <a:pPr marL="0" lvl="1" defTabSz="888978">
                <a:lnSpc>
                  <a:spcPct val="90000"/>
                </a:lnSpc>
                <a:spcBef>
                  <a:spcPct val="0"/>
                </a:spcBef>
                <a:spcAft>
                  <a:spcPct val="15000"/>
                </a:spcAft>
              </a:pPr>
              <a:endParaRPr lang="en-US" sz="1200" dirty="0"/>
            </a:p>
          </p:txBody>
        </p:sp>
      </p:grpSp>
      <p:sp>
        <p:nvSpPr>
          <p:cNvPr id="7" name="Rectangle 6">
            <a:extLst>
              <a:ext uri="{FF2B5EF4-FFF2-40B4-BE49-F238E27FC236}">
                <a16:creationId xmlns:a16="http://schemas.microsoft.com/office/drawing/2014/main" id="{83C34358-8252-4935-8DED-F5FD889177F9}"/>
              </a:ext>
            </a:extLst>
          </p:cNvPr>
          <p:cNvSpPr/>
          <p:nvPr/>
        </p:nvSpPr>
        <p:spPr>
          <a:xfrm>
            <a:off x="791923" y="1431191"/>
            <a:ext cx="3416558" cy="1200329"/>
          </a:xfrm>
          <a:prstGeom prst="rect">
            <a:avLst/>
          </a:prstGeom>
        </p:spPr>
        <p:txBody>
          <a:bodyPr wrap="square">
            <a:spAutoFit/>
          </a:bodyPr>
          <a:lstStyle/>
          <a:p>
            <a:pPr lvl="0">
              <a:buFont typeface="Arial" panose="020B0604020202020204" pitchFamily="34" charset="0"/>
              <a:buChar char="•"/>
            </a:pPr>
            <a:r>
              <a:rPr lang="en-US" sz="1200" dirty="0"/>
              <a:t>Common method which determines permissions for all kinds of user roles</a:t>
            </a:r>
          </a:p>
          <a:p>
            <a:pPr lvl="0">
              <a:buFont typeface="Arial" panose="020B0604020202020204" pitchFamily="34" charset="0"/>
              <a:buChar char="•"/>
            </a:pPr>
            <a:r>
              <a:rPr lang="en-US" sz="1200" dirty="0"/>
              <a:t>Not very extensible and fragile</a:t>
            </a:r>
          </a:p>
          <a:p>
            <a:pPr lvl="0">
              <a:buFont typeface="Arial" panose="020B0604020202020204" pitchFamily="34" charset="0"/>
              <a:buChar char="•"/>
            </a:pPr>
            <a:r>
              <a:rPr lang="en-US" sz="1200" dirty="0"/>
              <a:t>Prone to errors</a:t>
            </a:r>
          </a:p>
          <a:p>
            <a:pPr lvl="0">
              <a:buFont typeface="Arial" panose="020B0604020202020204" pitchFamily="34" charset="0"/>
              <a:buChar char="•"/>
            </a:pPr>
            <a:r>
              <a:rPr lang="en-US" sz="1200" dirty="0"/>
              <a:t>Access tokens in UI are stored in Local Storage which is not secure</a:t>
            </a:r>
          </a:p>
        </p:txBody>
      </p:sp>
    </p:spTree>
    <p:extLst>
      <p:ext uri="{BB962C8B-B14F-4D97-AF65-F5344CB8AC3E}">
        <p14:creationId xmlns:p14="http://schemas.microsoft.com/office/powerpoint/2010/main" val="168319026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5DF-E980-4BB1-89A2-7CFFA9A8C02C}"/>
              </a:ext>
            </a:extLst>
          </p:cNvPr>
          <p:cNvSpPr>
            <a:spLocks noGrp="1"/>
          </p:cNvSpPr>
          <p:nvPr>
            <p:ph type="title"/>
          </p:nvPr>
        </p:nvSpPr>
        <p:spPr>
          <a:xfrm>
            <a:off x="261347" y="200352"/>
            <a:ext cx="11630733" cy="603981"/>
          </a:xfrm>
        </p:spPr>
        <p:txBody>
          <a:bodyPr/>
          <a:lstStyle/>
          <a:p>
            <a:r>
              <a:rPr lang="en-US" dirty="0"/>
              <a:t>Architecture/Design and Technology - Key Findings</a:t>
            </a:r>
          </a:p>
        </p:txBody>
      </p:sp>
      <p:sp>
        <p:nvSpPr>
          <p:cNvPr id="3" name="Slide Number Placeholder 2">
            <a:extLst>
              <a:ext uri="{FF2B5EF4-FFF2-40B4-BE49-F238E27FC236}">
                <a16:creationId xmlns:a16="http://schemas.microsoft.com/office/drawing/2014/main" id="{5866BD69-BEC9-4121-A348-845F2F677842}"/>
              </a:ext>
            </a:extLst>
          </p:cNvPr>
          <p:cNvSpPr>
            <a:spLocks noGrp="1"/>
          </p:cNvSpPr>
          <p:nvPr>
            <p:ph type="sldNum" sz="quarter" idx="2"/>
          </p:nvPr>
        </p:nvSpPr>
        <p:spPr>
          <a:xfrm>
            <a:off x="128407" y="6423303"/>
            <a:ext cx="624383" cy="372535"/>
          </a:xfrm>
        </p:spPr>
        <p:txBody>
          <a:bodyPr/>
          <a:lstStyle/>
          <a:p>
            <a:fld id="{86CB4B4D-7CA3-9044-876B-883B54F8677D}" type="slidenum">
              <a:rPr lang="en-US" smtClean="0"/>
              <a:pPr/>
              <a:t>11</a:t>
            </a:fld>
            <a:endParaRPr lang="en-US" dirty="0"/>
          </a:p>
        </p:txBody>
      </p:sp>
      <p:graphicFrame>
        <p:nvGraphicFramePr>
          <p:cNvPr id="23" name="Table 22">
            <a:extLst>
              <a:ext uri="{FF2B5EF4-FFF2-40B4-BE49-F238E27FC236}">
                <a16:creationId xmlns:a16="http://schemas.microsoft.com/office/drawing/2014/main" id="{B2038A4E-595F-4F3D-9654-7FAEC1DCB393}"/>
              </a:ext>
            </a:extLst>
          </p:cNvPr>
          <p:cNvGraphicFramePr>
            <a:graphicFrameLocks noGrp="1"/>
          </p:cNvGraphicFramePr>
          <p:nvPr>
            <p:extLst>
              <p:ext uri="{D42A27DB-BD31-4B8C-83A1-F6EECF244321}">
                <p14:modId xmlns:p14="http://schemas.microsoft.com/office/powerpoint/2010/main" val="3499387169"/>
              </p:ext>
            </p:extLst>
          </p:nvPr>
        </p:nvGraphicFramePr>
        <p:xfrm>
          <a:off x="328613" y="679638"/>
          <a:ext cx="11354393" cy="499439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375496">
                  <a:extLst>
                    <a:ext uri="{9D8B030D-6E8A-4147-A177-3AD203B41FA5}">
                      <a16:colId xmlns:a16="http://schemas.microsoft.com/office/drawing/2014/main" val="20000"/>
                    </a:ext>
                  </a:extLst>
                </a:gridCol>
                <a:gridCol w="623455">
                  <a:extLst>
                    <a:ext uri="{9D8B030D-6E8A-4147-A177-3AD203B41FA5}">
                      <a16:colId xmlns:a16="http://schemas.microsoft.com/office/drawing/2014/main" val="20001"/>
                    </a:ext>
                  </a:extLst>
                </a:gridCol>
                <a:gridCol w="4211781">
                  <a:extLst>
                    <a:ext uri="{9D8B030D-6E8A-4147-A177-3AD203B41FA5}">
                      <a16:colId xmlns:a16="http://schemas.microsoft.com/office/drawing/2014/main" val="3981110338"/>
                    </a:ext>
                  </a:extLst>
                </a:gridCol>
                <a:gridCol w="5143661">
                  <a:extLst>
                    <a:ext uri="{9D8B030D-6E8A-4147-A177-3AD203B41FA5}">
                      <a16:colId xmlns:a16="http://schemas.microsoft.com/office/drawing/2014/main" val="3730199229"/>
                    </a:ext>
                  </a:extLst>
                </a:gridCol>
              </a:tblGrid>
              <a:tr h="476770">
                <a:tc>
                  <a:txBody>
                    <a:bodyPr/>
                    <a:lstStyle/>
                    <a:p>
                      <a:r>
                        <a:rPr lang="en-US" sz="1400" dirty="0"/>
                        <a:t>Analysis Dimension</a:t>
                      </a:r>
                    </a:p>
                  </a:txBody>
                  <a:tcPr/>
                </a:tc>
                <a:tc>
                  <a:txBody>
                    <a:bodyPr/>
                    <a:lstStyle/>
                    <a:p>
                      <a:r>
                        <a:rPr lang="en-US" sz="1200" dirty="0"/>
                        <a:t>Status</a:t>
                      </a:r>
                    </a:p>
                  </a:txBody>
                  <a:tcPr anchor="ctr"/>
                </a:tc>
                <a:tc>
                  <a:txBody>
                    <a:bodyPr/>
                    <a:lstStyle/>
                    <a:p>
                      <a:pPr algn="ctr"/>
                      <a:r>
                        <a:rPr lang="en-US" sz="1200" dirty="0"/>
                        <a:t>Highlights</a:t>
                      </a:r>
                    </a:p>
                  </a:txBody>
                  <a:tcPr anchor="ctr"/>
                </a:tc>
                <a:tc>
                  <a:txBody>
                    <a:bodyPr/>
                    <a:lstStyle/>
                    <a:p>
                      <a:pPr algn="ctr"/>
                      <a:r>
                        <a:rPr lang="en-US" sz="1200" dirty="0" smtClean="0"/>
                        <a:t>Lowlights/Recommendations</a:t>
                      </a:r>
                      <a:endParaRPr lang="en-US" sz="1200" dirty="0"/>
                    </a:p>
                  </a:txBody>
                  <a:tcPr anchor="ctr"/>
                </a:tc>
                <a:extLst>
                  <a:ext uri="{0D108BD9-81ED-4DB2-BD59-A6C34878D82A}">
                    <a16:rowId xmlns:a16="http://schemas.microsoft.com/office/drawing/2014/main" val="10000"/>
                  </a:ext>
                </a:extLst>
              </a:tr>
              <a:tr h="440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Performance &amp; Scalability</a:t>
                      </a: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Right technologies such as data replication, caching/in-memory computing, and </a:t>
                      </a:r>
                      <a:r>
                        <a:rPr lang="en-US" sz="1200" dirty="0" err="1" smtClean="0">
                          <a:solidFill>
                            <a:srgbClr val="002060"/>
                          </a:solidFill>
                        </a:rPr>
                        <a:t>microservices</a:t>
                      </a:r>
                      <a:r>
                        <a:rPr lang="en-US" sz="1200" dirty="0" smtClean="0">
                          <a:solidFill>
                            <a:srgbClr val="002060"/>
                          </a:solidFill>
                        </a:rPr>
                        <a:t>  deployed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smtClean="0">
                          <a:solidFill>
                            <a:srgbClr val="002060"/>
                          </a:solidFill>
                        </a:rPr>
                        <a:t>Opportunity for containerization and</a:t>
                      </a:r>
                      <a:r>
                        <a:rPr lang="en-US" sz="1200" baseline="0" dirty="0" smtClean="0">
                          <a:solidFill>
                            <a:srgbClr val="002060"/>
                          </a:solidFill>
                        </a:rPr>
                        <a:t> auto scalable ACS/K8 based deployment (team to work with P&amp;G for the process on validated system on this) </a:t>
                      </a:r>
                      <a:endParaRPr lang="en-US" sz="1200" dirty="0" smtClean="0">
                        <a:solidFill>
                          <a:srgbClr val="002060"/>
                        </a:solidFill>
                      </a:endParaRPr>
                    </a:p>
                  </a:txBody>
                  <a:tcPr/>
                </a:tc>
                <a:extLst>
                  <a:ext uri="{0D108BD9-81ED-4DB2-BD59-A6C34878D82A}">
                    <a16:rowId xmlns:a16="http://schemas.microsoft.com/office/drawing/2014/main" val="10001"/>
                  </a:ext>
                </a:extLst>
              </a:tr>
              <a:tr h="361436">
                <a:tc>
                  <a:txBody>
                    <a:bodyPr/>
                    <a:lstStyle/>
                    <a:p>
                      <a:pPr algn="l"/>
                      <a:r>
                        <a:rPr lang="en-US" sz="1200" dirty="0">
                          <a:solidFill>
                            <a:srgbClr val="002060"/>
                          </a:solidFill>
                        </a:rPr>
                        <a:t>Resiliency/Reliability</a:t>
                      </a: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Well designed with Logging, error handling, exception handling.</a:t>
                      </a:r>
                    </a:p>
                  </a:txBody>
                  <a:tcPr/>
                </a:tc>
                <a:tc>
                  <a:txBody>
                    <a:bodyPr/>
                    <a:lstStyle/>
                    <a:p>
                      <a:pPr marL="0" indent="0">
                        <a:buFont typeface="Arial" panose="020B0604020202020204" pitchFamily="34" charset="0"/>
                        <a:buNone/>
                      </a:pPr>
                      <a:r>
                        <a:rPr lang="en-US" sz="1200" dirty="0" smtClean="0">
                          <a:solidFill>
                            <a:srgbClr val="002060"/>
                          </a:solidFill>
                        </a:rPr>
                        <a:t>Reliability</a:t>
                      </a:r>
                      <a:r>
                        <a:rPr lang="en-US" sz="1200" baseline="0" dirty="0" smtClean="0">
                          <a:solidFill>
                            <a:srgbClr val="002060"/>
                          </a:solidFill>
                        </a:rPr>
                        <a:t>  and Quality were an issue due to :</a:t>
                      </a:r>
                    </a:p>
                    <a:p>
                      <a:pPr marL="285750" indent="-285750">
                        <a:buFont typeface="Arial" panose="020B0604020202020204" pitchFamily="34" charset="0"/>
                        <a:buChar char="•"/>
                      </a:pPr>
                      <a:r>
                        <a:rPr lang="en-US" sz="1200" baseline="0" dirty="0" smtClean="0">
                          <a:solidFill>
                            <a:srgbClr val="002060"/>
                          </a:solidFill>
                        </a:rPr>
                        <a:t>Unstable scripts/crone jobs</a:t>
                      </a:r>
                    </a:p>
                    <a:p>
                      <a:pPr marL="285750" indent="-285750">
                        <a:buFont typeface="Arial" panose="020B0604020202020204" pitchFamily="34" charset="0"/>
                        <a:buChar char="•"/>
                      </a:pPr>
                      <a:r>
                        <a:rPr lang="en-US" sz="1200" baseline="0" dirty="0" smtClean="0">
                          <a:solidFill>
                            <a:srgbClr val="002060"/>
                          </a:solidFill>
                        </a:rPr>
                        <a:t>Lack of efficiency in test data and test scenarios</a:t>
                      </a:r>
                    </a:p>
                    <a:p>
                      <a:pPr marL="0" indent="0">
                        <a:buFont typeface="Arial" panose="020B0604020202020204" pitchFamily="34" charset="0"/>
                        <a:buNone/>
                      </a:pPr>
                      <a:r>
                        <a:rPr lang="en-US" sz="1200" b="0" baseline="0" dirty="0" smtClean="0">
                          <a:solidFill>
                            <a:srgbClr val="002060"/>
                          </a:solidFill>
                        </a:rPr>
                        <a:t>Team is already working on a few alternates such as </a:t>
                      </a:r>
                      <a:r>
                        <a:rPr lang="en-US" sz="1200" b="0" baseline="0" dirty="0" err="1" smtClean="0">
                          <a:solidFill>
                            <a:srgbClr val="002060"/>
                          </a:solidFill>
                        </a:rPr>
                        <a:t>ControlM</a:t>
                      </a:r>
                      <a:r>
                        <a:rPr lang="en-US" sz="1200" b="0" baseline="0" dirty="0" smtClean="0">
                          <a:solidFill>
                            <a:srgbClr val="002060"/>
                          </a:solidFill>
                        </a:rPr>
                        <a:t> for crone jobs.</a:t>
                      </a:r>
                    </a:p>
                    <a:p>
                      <a:pPr marL="0" indent="0">
                        <a:buFont typeface="Arial" panose="020B0604020202020204" pitchFamily="34" charset="0"/>
                        <a:buNone/>
                      </a:pPr>
                      <a:r>
                        <a:rPr lang="en-US" sz="1200" b="0" baseline="0" dirty="0" smtClean="0">
                          <a:solidFill>
                            <a:srgbClr val="002060"/>
                          </a:solidFill>
                        </a:rPr>
                        <a:t>Recommended to explore alternates to </a:t>
                      </a:r>
                      <a:r>
                        <a:rPr lang="en-US" sz="1200" b="0" baseline="0" dirty="0" err="1" smtClean="0">
                          <a:solidFill>
                            <a:srgbClr val="002060"/>
                          </a:solidFill>
                        </a:rPr>
                        <a:t>FSCrawler</a:t>
                      </a:r>
                      <a:r>
                        <a:rPr lang="en-US" sz="1200" b="0" baseline="0" dirty="0" smtClean="0">
                          <a:solidFill>
                            <a:srgbClr val="002060"/>
                          </a:solidFill>
                        </a:rPr>
                        <a:t> and also to explore </a:t>
                      </a:r>
                      <a:r>
                        <a:rPr lang="en-US" sz="1200" b="0" baseline="0" dirty="0" err="1" smtClean="0">
                          <a:solidFill>
                            <a:srgbClr val="002060"/>
                          </a:solidFill>
                        </a:rPr>
                        <a:t>Serverless</a:t>
                      </a:r>
                      <a:r>
                        <a:rPr lang="en-US" sz="1200" b="0" baseline="0" dirty="0" smtClean="0">
                          <a:solidFill>
                            <a:srgbClr val="002060"/>
                          </a:solidFill>
                        </a:rPr>
                        <a:t> deployment for system stability </a:t>
                      </a:r>
                      <a:endParaRPr lang="en-US" sz="1200" b="0" dirty="0">
                        <a:solidFill>
                          <a:srgbClr val="002060"/>
                        </a:solidFill>
                      </a:endParaRPr>
                    </a:p>
                  </a:txBody>
                  <a:tcPr/>
                </a:tc>
                <a:extLst>
                  <a:ext uri="{0D108BD9-81ED-4DB2-BD59-A6C34878D82A}">
                    <a16:rowId xmlns:a16="http://schemas.microsoft.com/office/drawing/2014/main" val="10002"/>
                  </a:ext>
                </a:extLst>
              </a:tr>
              <a:tr h="361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Extensibility</a:t>
                      </a:r>
                    </a:p>
                  </a:txBody>
                  <a:tcPr/>
                </a:tc>
                <a:tc>
                  <a:txBody>
                    <a:bodyPr/>
                    <a:lstStyle/>
                    <a:p>
                      <a:endParaRPr lang="en-US" sz="1200" dirty="0">
                        <a:solidFill>
                          <a:srgbClr val="002060"/>
                        </a:solidFill>
                      </a:endParaRPr>
                    </a:p>
                  </a:txBody>
                  <a:tcPr/>
                </a:tc>
                <a:tc>
                  <a:txBody>
                    <a:bodyPr/>
                    <a:lstStyle/>
                    <a:p>
                      <a:r>
                        <a:rPr lang="en-US" sz="1200" dirty="0">
                          <a:solidFill>
                            <a:srgbClr val="002060"/>
                          </a:solidFill>
                        </a:rPr>
                        <a:t>Template based, and role based design</a:t>
                      </a:r>
                      <a:r>
                        <a:rPr lang="en-US" sz="1200" baseline="0" dirty="0">
                          <a:solidFill>
                            <a:srgbClr val="002060"/>
                          </a:solidFill>
                        </a:rPr>
                        <a:t> and </a:t>
                      </a:r>
                      <a:r>
                        <a:rPr lang="en-US" sz="1200" baseline="0" dirty="0" smtClean="0">
                          <a:solidFill>
                            <a:srgbClr val="002060"/>
                          </a:solidFill>
                        </a:rPr>
                        <a:t>implementation</a:t>
                      </a:r>
                      <a:endParaRPr lang="en-US" sz="1200" dirty="0">
                        <a:solidFill>
                          <a:srgbClr val="002060"/>
                        </a:solidFill>
                      </a:endParaRPr>
                    </a:p>
                  </a:txBody>
                  <a:tcPr/>
                </a:tc>
                <a:tc>
                  <a:txBody>
                    <a:bodyPr/>
                    <a:lstStyle/>
                    <a:p>
                      <a:r>
                        <a:rPr lang="en-US" sz="1200" dirty="0">
                          <a:solidFill>
                            <a:srgbClr val="002060"/>
                          </a:solidFill>
                        </a:rPr>
                        <a:t>Opportunity for </a:t>
                      </a:r>
                      <a:r>
                        <a:rPr lang="en-US" sz="1200" dirty="0" smtClean="0">
                          <a:solidFill>
                            <a:srgbClr val="002060"/>
                          </a:solidFill>
                        </a:rPr>
                        <a:t>consolidating to common </a:t>
                      </a:r>
                      <a:r>
                        <a:rPr lang="en-US" sz="1200" dirty="0">
                          <a:solidFill>
                            <a:srgbClr val="002060"/>
                          </a:solidFill>
                        </a:rPr>
                        <a:t>services and </a:t>
                      </a:r>
                      <a:r>
                        <a:rPr lang="en-US" sz="1200" dirty="0" smtClean="0">
                          <a:solidFill>
                            <a:srgbClr val="002060"/>
                          </a:solidFill>
                        </a:rPr>
                        <a:t>reducing operational overhead</a:t>
                      </a:r>
                      <a:endParaRPr lang="en-US" sz="1200" dirty="0">
                        <a:solidFill>
                          <a:srgbClr val="002060"/>
                        </a:solidFill>
                      </a:endParaRPr>
                    </a:p>
                  </a:txBody>
                  <a:tcPr/>
                </a:tc>
                <a:extLst>
                  <a:ext uri="{0D108BD9-81ED-4DB2-BD59-A6C34878D82A}">
                    <a16:rowId xmlns:a16="http://schemas.microsoft.com/office/drawing/2014/main" val="4276348088"/>
                  </a:ext>
                </a:extLst>
              </a:tr>
              <a:tr h="361436">
                <a:tc>
                  <a:txBody>
                    <a:bodyPr/>
                    <a:lstStyle/>
                    <a:p>
                      <a:pPr algn="l"/>
                      <a:r>
                        <a:rPr lang="en-US" sz="1200" dirty="0" smtClean="0">
                          <a:solidFill>
                            <a:srgbClr val="002060"/>
                          </a:solidFill>
                        </a:rPr>
                        <a:t>Security</a:t>
                      </a:r>
                      <a:endParaRPr lang="en-US" sz="1200" dirty="0">
                        <a:solidFill>
                          <a:srgbClr val="002060"/>
                        </a:solidFill>
                      </a:endParaRP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Followed security best practices and also executed</a:t>
                      </a:r>
                      <a:r>
                        <a:rPr lang="en-US" sz="1200" baseline="0" dirty="0" smtClean="0">
                          <a:solidFill>
                            <a:srgbClr val="002060"/>
                          </a:solidFill>
                        </a:rPr>
                        <a:t> P&amp;G Penetration testing. Had no major findings and fixed all medium/Low issues</a:t>
                      </a:r>
                      <a:endParaRPr lang="en-US" sz="1200" dirty="0" smtClean="0">
                        <a:solidFill>
                          <a:srgbClr val="002060"/>
                        </a:solidFill>
                      </a:endParaRPr>
                    </a:p>
                  </a:txBody>
                  <a:tcPr/>
                </a:tc>
                <a:tc>
                  <a:txBody>
                    <a:bodyPr/>
                    <a:lstStyle/>
                    <a:p>
                      <a:pPr marL="0" indent="0">
                        <a:buFont typeface="Arial" panose="020B0604020202020204" pitchFamily="34" charset="0"/>
                        <a:buNone/>
                      </a:pPr>
                      <a:r>
                        <a:rPr lang="en-US" sz="1200" dirty="0" smtClean="0">
                          <a:solidFill>
                            <a:srgbClr val="002060"/>
                          </a:solidFill>
                        </a:rPr>
                        <a:t>Suggested</a:t>
                      </a:r>
                      <a:r>
                        <a:rPr lang="en-US" sz="1200" baseline="0" dirty="0" smtClean="0">
                          <a:solidFill>
                            <a:srgbClr val="002060"/>
                          </a:solidFill>
                        </a:rPr>
                        <a:t> to carry out detailed code review to review additional best practice</a:t>
                      </a:r>
                      <a:endParaRPr lang="en-US" sz="1200" dirty="0">
                        <a:solidFill>
                          <a:srgbClr val="002060"/>
                        </a:solidFill>
                      </a:endParaRPr>
                    </a:p>
                  </a:txBody>
                  <a:tcPr/>
                </a:tc>
                <a:extLst>
                  <a:ext uri="{0D108BD9-81ED-4DB2-BD59-A6C34878D82A}">
                    <a16:rowId xmlns:a16="http://schemas.microsoft.com/office/drawing/2014/main" val="1540820959"/>
                  </a:ext>
                </a:extLst>
              </a:tr>
              <a:tr h="361436">
                <a:tc>
                  <a:txBody>
                    <a:bodyPr/>
                    <a:lstStyle/>
                    <a:p>
                      <a:pPr algn="l"/>
                      <a:r>
                        <a:rPr lang="en-US" sz="1200" dirty="0" smtClean="0">
                          <a:solidFill>
                            <a:srgbClr val="002060"/>
                          </a:solidFill>
                        </a:rPr>
                        <a:t>Maintainability</a:t>
                      </a:r>
                      <a:endParaRPr lang="en-US" sz="1200" dirty="0">
                        <a:solidFill>
                          <a:srgbClr val="002060"/>
                        </a:solidFill>
                      </a:endParaRP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smtClean="0">
                          <a:solidFill>
                            <a:srgbClr val="002060"/>
                          </a:solidFill>
                        </a:rPr>
                        <a:t>Microservices</a:t>
                      </a:r>
                      <a:r>
                        <a:rPr lang="en-US" sz="1200" dirty="0" smtClean="0">
                          <a:solidFill>
                            <a:srgbClr val="002060"/>
                          </a:solidFill>
                        </a:rPr>
                        <a:t> and layered implementation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smtClean="0">
                          <a:solidFill>
                            <a:srgbClr val="002060"/>
                          </a:solidFill>
                        </a:rPr>
                        <a:t>Leverage tools like CAST for PQM analysis and hence for code maintainability related refactoring</a:t>
                      </a:r>
                    </a:p>
                  </a:txBody>
                  <a:tcPr/>
                </a:tc>
                <a:extLst>
                  <a:ext uri="{0D108BD9-81ED-4DB2-BD59-A6C34878D82A}">
                    <a16:rowId xmlns:a16="http://schemas.microsoft.com/office/drawing/2014/main" val="3468860657"/>
                  </a:ext>
                </a:extLst>
              </a:tr>
              <a:tr h="361436">
                <a:tc>
                  <a:txBody>
                    <a:bodyPr/>
                    <a:lstStyle/>
                    <a:p>
                      <a:pPr algn="l"/>
                      <a:r>
                        <a:rPr lang="en-US" sz="1200" dirty="0" smtClean="0">
                          <a:solidFill>
                            <a:srgbClr val="002060"/>
                          </a:solidFill>
                        </a:rPr>
                        <a:t>Operations efficiency</a:t>
                      </a:r>
                      <a:endParaRPr lang="en-US" sz="1200" dirty="0">
                        <a:solidFill>
                          <a:srgbClr val="002060"/>
                        </a:solidFill>
                      </a:endParaRP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Team has identified monitoring for scripts and VMs </a:t>
                      </a:r>
                      <a:r>
                        <a:rPr lang="en-US" sz="1200" dirty="0" err="1" smtClean="0">
                          <a:solidFill>
                            <a:srgbClr val="002060"/>
                          </a:solidFill>
                        </a:rPr>
                        <a:t>etc</a:t>
                      </a:r>
                      <a:r>
                        <a:rPr lang="en-US" sz="1200" dirty="0" smtClean="0">
                          <a:solidFill>
                            <a:srgbClr val="002060"/>
                          </a:solidFill>
                        </a:rPr>
                        <a:t> to stabilize the system</a:t>
                      </a:r>
                    </a:p>
                  </a:txBody>
                  <a:tcPr/>
                </a:tc>
                <a:tc>
                  <a:txBody>
                    <a:bodyPr/>
                    <a:lstStyle/>
                    <a:p>
                      <a:pPr marL="0" indent="0">
                        <a:buFont typeface="Arial" panose="020B0604020202020204" pitchFamily="34" charset="0"/>
                        <a:buNone/>
                      </a:pPr>
                      <a:r>
                        <a:rPr lang="en-US" sz="1200" dirty="0" smtClean="0">
                          <a:solidFill>
                            <a:srgbClr val="002060"/>
                          </a:solidFill>
                        </a:rPr>
                        <a:t>Explore </a:t>
                      </a:r>
                      <a:r>
                        <a:rPr lang="en-US" sz="1200" dirty="0" err="1" smtClean="0">
                          <a:solidFill>
                            <a:srgbClr val="002060"/>
                          </a:solidFill>
                        </a:rPr>
                        <a:t>DevSecOps</a:t>
                      </a:r>
                      <a:r>
                        <a:rPr lang="en-US" sz="1200" dirty="0" smtClean="0">
                          <a:solidFill>
                            <a:srgbClr val="002060"/>
                          </a:solidFill>
                        </a:rPr>
                        <a:t>, Monitoring and SRE </a:t>
                      </a:r>
                      <a:endParaRPr lang="en-US" sz="1200" dirty="0">
                        <a:solidFill>
                          <a:srgbClr val="002060"/>
                        </a:solidFill>
                      </a:endParaRPr>
                    </a:p>
                  </a:txBody>
                  <a:tcPr/>
                </a:tc>
                <a:extLst>
                  <a:ext uri="{0D108BD9-81ED-4DB2-BD59-A6C34878D82A}">
                    <a16:rowId xmlns:a16="http://schemas.microsoft.com/office/drawing/2014/main" val="524599811"/>
                  </a:ext>
                </a:extLst>
              </a:tr>
              <a:tr h="361436">
                <a:tc>
                  <a:txBody>
                    <a:bodyPr/>
                    <a:lstStyle/>
                    <a:p>
                      <a:pPr algn="l"/>
                      <a:r>
                        <a:rPr lang="en-US" sz="1200" dirty="0" smtClean="0">
                          <a:solidFill>
                            <a:srgbClr val="002060"/>
                          </a:solidFill>
                        </a:rPr>
                        <a:t>Development process and Tools</a:t>
                      </a:r>
                      <a:endParaRPr lang="en-US" sz="1200" dirty="0">
                        <a:solidFill>
                          <a:srgbClr val="002060"/>
                        </a:solidFill>
                      </a:endParaRP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Development process</a:t>
                      </a:r>
                      <a:r>
                        <a:rPr lang="en-US" sz="1200" baseline="0" dirty="0" smtClean="0">
                          <a:solidFill>
                            <a:srgbClr val="002060"/>
                          </a:solidFill>
                        </a:rPr>
                        <a:t> and tools in dev, load testing </a:t>
                      </a:r>
                      <a:r>
                        <a:rPr lang="en-US" sz="1200" baseline="0" dirty="0" err="1" smtClean="0">
                          <a:solidFill>
                            <a:srgbClr val="002060"/>
                          </a:solidFill>
                        </a:rPr>
                        <a:t>etc</a:t>
                      </a:r>
                      <a:endParaRPr lang="en-US" sz="1200" dirty="0" smtClean="0">
                        <a:solidFill>
                          <a:srgbClr val="002060"/>
                        </a:solidFill>
                      </a:endParaRPr>
                    </a:p>
                  </a:txBody>
                  <a:tcPr/>
                </a:tc>
                <a:tc>
                  <a:txBody>
                    <a:bodyPr/>
                    <a:lstStyle/>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Define agreed process on User stories review and sign off</a:t>
                      </a:r>
                    </a:p>
                    <a:p>
                      <a:pPr marL="285750" indent="-285750" algn="l" defTabSz="914400" rtl="0" eaLnBrk="1" latinLnBrk="0" hangingPunct="1">
                        <a:buFont typeface="Arial" panose="020B0604020202020204" pitchFamily="34" charset="0"/>
                        <a:buChar char="•"/>
                      </a:pPr>
                      <a:r>
                        <a:rPr lang="en-US" sz="1200" kern="1200" dirty="0" smtClean="0">
                          <a:solidFill>
                            <a:srgbClr val="002060"/>
                          </a:solidFill>
                          <a:latin typeface="+mn-lt"/>
                          <a:ea typeface="+mn-ea"/>
                          <a:cs typeface="+mn-cs"/>
                        </a:rPr>
                        <a:t>UAT test scripts visibility at early LC stages of development</a:t>
                      </a:r>
                      <a:endParaRPr lang="en-US" sz="1200" dirty="0" smtClean="0">
                        <a:solidFill>
                          <a:srgbClr val="002060"/>
                        </a:solidFill>
                      </a:endParaRPr>
                    </a:p>
                  </a:txBody>
                  <a:tcPr/>
                </a:tc>
                <a:extLst>
                  <a:ext uri="{0D108BD9-81ED-4DB2-BD59-A6C34878D82A}">
                    <a16:rowId xmlns:a16="http://schemas.microsoft.com/office/drawing/2014/main" val="4039958168"/>
                  </a:ext>
                </a:extLst>
              </a:tr>
              <a:tr h="361436">
                <a:tc>
                  <a:txBody>
                    <a:bodyPr/>
                    <a:lstStyle/>
                    <a:p>
                      <a:pPr algn="l"/>
                      <a:endParaRPr lang="en-US" sz="1200" dirty="0">
                        <a:solidFill>
                          <a:srgbClr val="002060"/>
                        </a:solidFill>
                      </a:endParaRPr>
                    </a:p>
                  </a:txBody>
                  <a:tcPr/>
                </a:tc>
                <a:tc>
                  <a:txBody>
                    <a:bodyPr/>
                    <a:lstStyle/>
                    <a:p>
                      <a:endParaRPr lang="en-US" sz="1200"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002060"/>
                        </a:solidFill>
                      </a:endParaRPr>
                    </a:p>
                  </a:txBody>
                  <a:tcPr/>
                </a:tc>
                <a:tc>
                  <a:txBody>
                    <a:bodyPr/>
                    <a:lstStyle/>
                    <a:p>
                      <a:pPr marL="0" indent="0">
                        <a:buFont typeface="Arial" panose="020B0604020202020204" pitchFamily="34" charset="0"/>
                        <a:buNone/>
                      </a:pPr>
                      <a:endParaRPr lang="en-US" sz="1200" dirty="0">
                        <a:solidFill>
                          <a:srgbClr val="002060"/>
                        </a:solidFill>
                      </a:endParaRPr>
                    </a:p>
                  </a:txBody>
                  <a:tcPr/>
                </a:tc>
                <a:extLst>
                  <a:ext uri="{0D108BD9-81ED-4DB2-BD59-A6C34878D82A}">
                    <a16:rowId xmlns:a16="http://schemas.microsoft.com/office/drawing/2014/main" val="3505467667"/>
                  </a:ext>
                </a:extLst>
              </a:tr>
            </a:tbl>
          </a:graphicData>
        </a:graphic>
      </p:graphicFrame>
      <p:grpSp>
        <p:nvGrpSpPr>
          <p:cNvPr id="4" name="Group 3"/>
          <p:cNvGrpSpPr/>
          <p:nvPr/>
        </p:nvGrpSpPr>
        <p:grpSpPr>
          <a:xfrm>
            <a:off x="663435" y="6485733"/>
            <a:ext cx="3671979" cy="314230"/>
            <a:chOff x="663435" y="6485733"/>
            <a:chExt cx="3671979" cy="314230"/>
          </a:xfrm>
        </p:grpSpPr>
        <p:sp>
          <p:nvSpPr>
            <p:cNvPr id="24" name="TextBox 23">
              <a:extLst>
                <a:ext uri="{FF2B5EF4-FFF2-40B4-BE49-F238E27FC236}">
                  <a16:creationId xmlns:a16="http://schemas.microsoft.com/office/drawing/2014/main" id="{B6888186-D23F-48D1-AFD5-D8C035C3E5D6}"/>
                </a:ext>
              </a:extLst>
            </p:cNvPr>
            <p:cNvSpPr txBox="1"/>
            <p:nvPr/>
          </p:nvSpPr>
          <p:spPr>
            <a:xfrm>
              <a:off x="2133468"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Low</a:t>
              </a:r>
              <a:r>
                <a:rPr lang="en-US" sz="800" dirty="0">
                  <a:latin typeface="Segoe UI" panose="020B0502040204020203" pitchFamily="34" charset="0"/>
                  <a:cs typeface="Segoe UI" panose="020B0502040204020203" pitchFamily="34" charset="0"/>
                </a:rPr>
                <a:t> </a:t>
              </a:r>
            </a:p>
          </p:txBody>
        </p:sp>
        <p:sp>
          <p:nvSpPr>
            <p:cNvPr id="25" name="TextBox 24">
              <a:extLst>
                <a:ext uri="{FF2B5EF4-FFF2-40B4-BE49-F238E27FC236}">
                  <a16:creationId xmlns:a16="http://schemas.microsoft.com/office/drawing/2014/main" id="{FABAB6D8-1507-418A-BFF1-53D6297AFB9D}"/>
                </a:ext>
              </a:extLst>
            </p:cNvPr>
            <p:cNvSpPr txBox="1"/>
            <p:nvPr/>
          </p:nvSpPr>
          <p:spPr>
            <a:xfrm>
              <a:off x="3905153" y="6584519"/>
              <a:ext cx="430261" cy="215444"/>
            </a:xfrm>
            <a:prstGeom prst="rect">
              <a:avLst/>
            </a:prstGeom>
            <a:noFill/>
          </p:spPr>
          <p:txBody>
            <a:bodyPr wrap="square" rtlCol="0">
              <a:spAutoFit/>
            </a:bodyPr>
            <a:lstStyle/>
            <a:p>
              <a:r>
                <a:rPr lang="en-US" sz="800" b="1" dirty="0">
                  <a:latin typeface="Segoe UI" panose="020B0502040204020203" pitchFamily="34" charset="0"/>
                  <a:cs typeface="Segoe UI" panose="020B0502040204020203" pitchFamily="34" charset="0"/>
                </a:rPr>
                <a:t>High</a:t>
              </a:r>
              <a:endParaRPr lang="en-US" sz="800" dirty="0">
                <a:latin typeface="Segoe UI" panose="020B0502040204020203" pitchFamily="34" charset="0"/>
                <a:cs typeface="Segoe UI" panose="020B0502040204020203" pitchFamily="34" charset="0"/>
              </a:endParaRPr>
            </a:p>
          </p:txBody>
        </p:sp>
        <p:cxnSp>
          <p:nvCxnSpPr>
            <p:cNvPr id="26" name="Straight Arrow Connector 25">
              <a:extLst>
                <a:ext uri="{FF2B5EF4-FFF2-40B4-BE49-F238E27FC236}">
                  <a16:creationId xmlns:a16="http://schemas.microsoft.com/office/drawing/2014/main" id="{7EC2B485-D3F9-48BE-BE41-AB8CF236B78A}"/>
                </a:ext>
              </a:extLst>
            </p:cNvPr>
            <p:cNvCxnSpPr>
              <a:cxnSpLocks/>
              <a:endCxn id="25" idx="1"/>
            </p:cNvCxnSpPr>
            <p:nvPr/>
          </p:nvCxnSpPr>
          <p:spPr>
            <a:xfrm flipV="1">
              <a:off x="2455846" y="6692241"/>
              <a:ext cx="1449307" cy="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DB0BEBF-3948-4A0F-8A6D-E384F69C80BD}"/>
                </a:ext>
              </a:extLst>
            </p:cNvPr>
            <p:cNvSpPr/>
            <p:nvPr/>
          </p:nvSpPr>
          <p:spPr>
            <a:xfrm>
              <a:off x="2451340" y="6489620"/>
              <a:ext cx="152316" cy="148560"/>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43BB29C-58C7-49CF-8F32-0B57F77E1BB1}"/>
                </a:ext>
              </a:extLst>
            </p:cNvPr>
            <p:cNvSpPr/>
            <p:nvPr/>
          </p:nvSpPr>
          <p:spPr>
            <a:xfrm>
              <a:off x="3111061" y="6487752"/>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890A3C6-50E3-4443-806B-FF555556AC9F}"/>
                </a:ext>
              </a:extLst>
            </p:cNvPr>
            <p:cNvSpPr/>
            <p:nvPr/>
          </p:nvSpPr>
          <p:spPr>
            <a:xfrm>
              <a:off x="3733751" y="6489620"/>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0134A6A-004F-47A6-B79D-C11E1979546F}"/>
                </a:ext>
              </a:extLst>
            </p:cNvPr>
            <p:cNvSpPr txBox="1"/>
            <p:nvPr/>
          </p:nvSpPr>
          <p:spPr>
            <a:xfrm>
              <a:off x="663435" y="6485733"/>
              <a:ext cx="1449307"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Maturity Level Status</a:t>
              </a:r>
            </a:p>
          </p:txBody>
        </p:sp>
      </p:grpSp>
      <p:sp>
        <p:nvSpPr>
          <p:cNvPr id="33" name="Oval 32">
            <a:extLst>
              <a:ext uri="{FF2B5EF4-FFF2-40B4-BE49-F238E27FC236}">
                <a16:creationId xmlns:a16="http://schemas.microsoft.com/office/drawing/2014/main" id="{3262E487-2666-493B-ABB0-B42DC5F3C903}"/>
              </a:ext>
            </a:extLst>
          </p:cNvPr>
          <p:cNvSpPr/>
          <p:nvPr/>
        </p:nvSpPr>
        <p:spPr>
          <a:xfrm>
            <a:off x="1918861" y="1355654"/>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1683005" y="61807"/>
            <a:ext cx="418150" cy="308397"/>
          </a:xfrm>
          <a:prstGeom prst="ellipse">
            <a:avLst/>
          </a:prstGeom>
          <a:solidFill>
            <a:srgbClr val="00206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r>
              <a:rPr lang="en-US" dirty="0">
                <a:solidFill>
                  <a:schemeClr val="bg1"/>
                </a:solidFill>
                <a:sym typeface="Calibri"/>
              </a:rPr>
              <a:t> 1</a:t>
            </a:r>
          </a:p>
        </p:txBody>
      </p:sp>
      <p:sp>
        <p:nvSpPr>
          <p:cNvPr id="16" name="Oval 15">
            <a:extLst>
              <a:ext uri="{FF2B5EF4-FFF2-40B4-BE49-F238E27FC236}">
                <a16:creationId xmlns:a16="http://schemas.microsoft.com/office/drawing/2014/main" id="{3262E487-2666-493B-ABB0-B42DC5F3C903}"/>
              </a:ext>
            </a:extLst>
          </p:cNvPr>
          <p:cNvSpPr/>
          <p:nvPr/>
        </p:nvSpPr>
        <p:spPr>
          <a:xfrm>
            <a:off x="1905008" y="1383359"/>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262E487-2666-493B-ABB0-B42DC5F3C903}"/>
              </a:ext>
            </a:extLst>
          </p:cNvPr>
          <p:cNvSpPr/>
          <p:nvPr/>
        </p:nvSpPr>
        <p:spPr>
          <a:xfrm>
            <a:off x="1932716" y="2103798"/>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262E487-2666-493B-ABB0-B42DC5F3C903}"/>
              </a:ext>
            </a:extLst>
          </p:cNvPr>
          <p:cNvSpPr/>
          <p:nvPr/>
        </p:nvSpPr>
        <p:spPr>
          <a:xfrm>
            <a:off x="1918860" y="5040965"/>
            <a:ext cx="152316" cy="15042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890A3C6-50E3-4443-806B-FF555556AC9F}"/>
              </a:ext>
            </a:extLst>
          </p:cNvPr>
          <p:cNvSpPr/>
          <p:nvPr/>
        </p:nvSpPr>
        <p:spPr>
          <a:xfrm>
            <a:off x="1918808" y="2956715"/>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890A3C6-50E3-4443-806B-FF555556AC9F}"/>
              </a:ext>
            </a:extLst>
          </p:cNvPr>
          <p:cNvSpPr/>
          <p:nvPr/>
        </p:nvSpPr>
        <p:spPr>
          <a:xfrm>
            <a:off x="1932656" y="3552462"/>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890A3C6-50E3-4443-806B-FF555556AC9F}"/>
              </a:ext>
            </a:extLst>
          </p:cNvPr>
          <p:cNvSpPr/>
          <p:nvPr/>
        </p:nvSpPr>
        <p:spPr>
          <a:xfrm>
            <a:off x="1946516" y="4065079"/>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890A3C6-50E3-4443-806B-FF555556AC9F}"/>
              </a:ext>
            </a:extLst>
          </p:cNvPr>
          <p:cNvSpPr/>
          <p:nvPr/>
        </p:nvSpPr>
        <p:spPr>
          <a:xfrm>
            <a:off x="1946509" y="4591538"/>
            <a:ext cx="152316" cy="148560"/>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409177"/>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2646</TotalTime>
  <Words>2094</Words>
  <Application>Microsoft Office PowerPoint</Application>
  <PresentationFormat>Widescreen</PresentationFormat>
  <Paragraphs>279</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Segoe UI</vt:lpstr>
      <vt:lpstr>Times New Roman</vt:lpstr>
      <vt:lpstr>Office Theme</vt:lpstr>
      <vt:lpstr>SpecReader Architecture Review</vt:lpstr>
      <vt:lpstr>Scope of Assessment</vt:lpstr>
      <vt:lpstr>Executive Summary – Observations and recommendations</vt:lpstr>
      <vt:lpstr>Analysis Details and Recommendations</vt:lpstr>
      <vt:lpstr>Architecture/Design and Technology - Key Findings</vt:lpstr>
      <vt:lpstr>Architecture/Design and Technology - Key Findings</vt:lpstr>
      <vt:lpstr>Development methodology, and Strategy - Key Findings</vt:lpstr>
      <vt:lpstr>Architecture/Design and Development - Recommendation </vt:lpstr>
      <vt:lpstr>Thank you!</vt:lpstr>
      <vt:lpstr>Architecture/Design and Technology - Key Findings </vt:lpstr>
      <vt:lpstr>Architecture/Design and Technology - Key Findings</vt:lpstr>
    </vt:vector>
  </TitlesOfParts>
  <Company>Infosys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Davinci Architecture Review</dc:title>
  <dc:creator>Krishna Markande</dc:creator>
  <cp:lastModifiedBy>Krishna Markande</cp:lastModifiedBy>
  <cp:revision>98</cp:revision>
  <dcterms:created xsi:type="dcterms:W3CDTF">2020-12-12T16:48:22Z</dcterms:created>
  <dcterms:modified xsi:type="dcterms:W3CDTF">2020-12-17T17:18:57Z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Krishna_Markande@ad.infosys.com</vt:lpwstr>
  </property>
  <property fmtid="{D5CDD505-2E9C-101B-9397-08002B2CF9AE}" pid="5" name="MSIP_Label_be4b3411-284d-4d31-bd4f-bc13ef7f1fd6_SetDate">
    <vt:lpwstr>2020-12-12T16:48:45.2325189Z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ActionId">
    <vt:lpwstr>4e09705b-c94a-4bc2-973a-cfe3de9cfdee</vt:lpwstr>
  </property>
  <property fmtid="{D5CDD505-2E9C-101B-9397-08002B2CF9AE}" pid="9" name="MSIP_Label_be4b3411-284d-4d31-bd4f-bc13ef7f1fd6_Extended_MSFT_Method">
    <vt:lpwstr>Automatic</vt:lpwstr>
  </property>
  <property fmtid="{D5CDD505-2E9C-101B-9397-08002B2CF9AE}" pid="10" name="MSIP_Label_a0819fa7-4367-4500-ba88-dd630d977609_Enabled">
    <vt:lpwstr>True</vt:lpwstr>
  </property>
  <property fmtid="{D5CDD505-2E9C-101B-9397-08002B2CF9AE}" pid="11" name="MSIP_Label_a0819fa7-4367-4500-ba88-dd630d977609_SiteId">
    <vt:lpwstr>63ce7d59-2f3e-42cd-a8cc-be764cff5eb6</vt:lpwstr>
  </property>
  <property fmtid="{D5CDD505-2E9C-101B-9397-08002B2CF9AE}" pid="12" name="MSIP_Label_a0819fa7-4367-4500-ba88-dd630d977609_Owner">
    <vt:lpwstr>Krishna_Markande@ad.infosys.com</vt:lpwstr>
  </property>
  <property fmtid="{D5CDD505-2E9C-101B-9397-08002B2CF9AE}" pid="13" name="MSIP_Label_a0819fa7-4367-4500-ba88-dd630d977609_SetDate">
    <vt:lpwstr>2020-12-12T16:48:45.2325189Z</vt:lpwstr>
  </property>
  <property fmtid="{D5CDD505-2E9C-101B-9397-08002B2CF9AE}" pid="14" name="MSIP_Label_a0819fa7-4367-4500-ba88-dd630d977609_Name">
    <vt:lpwstr>Companywide usage</vt:lpwstr>
  </property>
  <property fmtid="{D5CDD505-2E9C-101B-9397-08002B2CF9AE}" pid="15" name="MSIP_Label_a0819fa7-4367-4500-ba88-dd630d977609_Application">
    <vt:lpwstr>Microsoft Azure Information Protection</vt:lpwstr>
  </property>
  <property fmtid="{D5CDD505-2E9C-101B-9397-08002B2CF9AE}" pid="16" name="MSIP_Label_a0819fa7-4367-4500-ba88-dd630d977609_ActionId">
    <vt:lpwstr>4e09705b-c94a-4bc2-973a-cfe3de9cfdee</vt:lpwstr>
  </property>
  <property fmtid="{D5CDD505-2E9C-101B-9397-08002B2CF9AE}" pid="17" name="MSIP_Label_a0819fa7-4367-4500-ba88-dd630d977609_Parent">
    <vt:lpwstr>be4b3411-284d-4d31-bd4f-bc13ef7f1fd6</vt:lpwstr>
  </property>
  <property fmtid="{D5CDD505-2E9C-101B-9397-08002B2CF9AE}" pid="18" name="MSIP_Label_a0819fa7-4367-4500-ba88-dd630d977609_Extended_MSFT_Method">
    <vt:lpwstr>Automatic</vt:lpwstr>
  </property>
  <property fmtid="{D5CDD505-2E9C-101B-9397-08002B2CF9AE}" pid="19" name="Sensitivity">
    <vt:lpwstr>Internal Companywide usage</vt:lpwstr>
  </property>
</Properties>
</file>